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fb52696ac334993" /><Relationship Type="http://schemas.openxmlformats.org/officeDocument/2006/relationships/extended-properties" Target="/docProps/app.xml" Id="R168311a2180b427a" /><Relationship Type="http://schemas.openxmlformats.org/officeDocument/2006/relationships/officeDocument" Target="/ppt/presentation.xml" Id="R046786d5c7fb4b43" /></Relationships>
</file>

<file path=ppt/presentation.xml><?xml version="1.0" encoding="utf-8"?>
<p:presentation xmlns:p="http://schemas.openxmlformats.org/presentationml/2006/main">
  <p:sldMasterIdLst>
    <p:sldMasterId xmlns:r="http://schemas.openxmlformats.org/officeDocument/2006/relationships" id="2147483648" r:id="R6f5ba2ff115c498b"/>
  </p:sldMasterIdLst>
  <p:notesMasterIdLst>
    <p:notesMasterId xmlns:r="http://schemas.openxmlformats.org/officeDocument/2006/relationships" r:id="Rd4d3a293e4214cf4"/>
  </p:notesMasterIdLst>
  <p:sldIdLst>
    <p:sldId xmlns:r="http://schemas.openxmlformats.org/officeDocument/2006/relationships" id="256" r:id="R393bfbf07e9047dd"/>
    <p:sldId xmlns:r="http://schemas.openxmlformats.org/officeDocument/2006/relationships" id="257" r:id="R42cbd42e33b04140"/>
    <p:sldId xmlns:r="http://schemas.openxmlformats.org/officeDocument/2006/relationships" id="258" r:id="Re81c85ca822d4722"/>
    <p:sldId xmlns:r="http://schemas.openxmlformats.org/officeDocument/2006/relationships" id="259" r:id="R105194938fda4815"/>
    <p:sldId xmlns:r="http://schemas.openxmlformats.org/officeDocument/2006/relationships" id="260" r:id="Rcfcfd0661d974745"/>
    <p:sldId xmlns:r="http://schemas.openxmlformats.org/officeDocument/2006/relationships" id="261" r:id="R05791fc1254e41d2"/>
    <p:sldId xmlns:r="http://schemas.openxmlformats.org/officeDocument/2006/relationships" id="262" r:id="R4a299c8e05104aa8"/>
    <p:sldId xmlns:r="http://schemas.openxmlformats.org/officeDocument/2006/relationships" id="263" r:id="Rc0eb5fd8026747c0"/>
    <p:sldId xmlns:r="http://schemas.openxmlformats.org/officeDocument/2006/relationships" id="264" r:id="Rb06eddcbea45433a"/>
    <p:sldId xmlns:r="http://schemas.openxmlformats.org/officeDocument/2006/relationships" id="265" r:id="Rff9459d6fa324ecb"/>
    <p:sldId xmlns:r="http://schemas.openxmlformats.org/officeDocument/2006/relationships" id="266" r:id="R64a807b4eddf4d79"/>
    <p:sldId xmlns:r="http://schemas.openxmlformats.org/officeDocument/2006/relationships" id="267" r:id="Rf5bacbda8c6c48d5"/>
    <p:sldId xmlns:r="http://schemas.openxmlformats.org/officeDocument/2006/relationships" id="268" r:id="R5e759d0c38f049a5"/>
    <p:sldId xmlns:r="http://schemas.openxmlformats.org/officeDocument/2006/relationships" id="269" r:id="R51abbb456b7047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5c00856f23442a" /><Relationship Type="http://schemas.openxmlformats.org/officeDocument/2006/relationships/slideMaster" Target="/ppt/slideMasters/slideMaster1.xml" Id="R6f5ba2ff115c498b" /><Relationship Type="http://schemas.openxmlformats.org/officeDocument/2006/relationships/notesMaster" Target="/ppt/notesMasters/notesMaster1.xml" Id="Rd4d3a293e4214cf4" /><Relationship Type="http://schemas.openxmlformats.org/officeDocument/2006/relationships/presProps" Target="/ppt/presProps.xml" Id="R9e97016adb02421b" /><Relationship Type="http://schemas.openxmlformats.org/officeDocument/2006/relationships/tableStyles" Target="/ppt/tableStyles.xml" Id="R808ca0c7cf594b17" /><Relationship Type="http://schemas.openxmlformats.org/officeDocument/2006/relationships/slide" Target="/ppt/slides/slide1.xml" Id="R393bfbf07e9047dd" /><Relationship Type="http://schemas.openxmlformats.org/officeDocument/2006/relationships/slide" Target="/ppt/slides/slide2.xml" Id="R42cbd42e33b04140" /><Relationship Type="http://schemas.openxmlformats.org/officeDocument/2006/relationships/slide" Target="/ppt/slides/slide3.xml" Id="Re81c85ca822d4722" /><Relationship Type="http://schemas.openxmlformats.org/officeDocument/2006/relationships/slide" Target="/ppt/slides/slide4.xml" Id="R105194938fda4815" /><Relationship Type="http://schemas.openxmlformats.org/officeDocument/2006/relationships/slide" Target="/ppt/slides/slide5.xml" Id="Rcfcfd0661d974745" /><Relationship Type="http://schemas.openxmlformats.org/officeDocument/2006/relationships/slide" Target="/ppt/slides/slide6.xml" Id="R05791fc1254e41d2" /><Relationship Type="http://schemas.openxmlformats.org/officeDocument/2006/relationships/slide" Target="/ppt/slides/slide7.xml" Id="R4a299c8e05104aa8" /><Relationship Type="http://schemas.openxmlformats.org/officeDocument/2006/relationships/slide" Target="/ppt/slides/slide8.xml" Id="Rc0eb5fd8026747c0" /><Relationship Type="http://schemas.openxmlformats.org/officeDocument/2006/relationships/slide" Target="/ppt/slides/slide9.xml" Id="Rb06eddcbea45433a" /><Relationship Type="http://schemas.openxmlformats.org/officeDocument/2006/relationships/slide" Target="/ppt/slides/slide10.xml" Id="Rff9459d6fa324ecb" /><Relationship Type="http://schemas.openxmlformats.org/officeDocument/2006/relationships/slide" Target="/ppt/slides/slide11.xml" Id="R64a807b4eddf4d79" /><Relationship Type="http://schemas.openxmlformats.org/officeDocument/2006/relationships/slide" Target="/ppt/slides/slide12.xml" Id="Rf5bacbda8c6c48d5" /><Relationship Type="http://schemas.openxmlformats.org/officeDocument/2006/relationships/slide" Target="/ppt/slides/slide13.xml" Id="R5e759d0c38f049a5" /><Relationship Type="http://schemas.openxmlformats.org/officeDocument/2006/relationships/slide" Target="/ppt/slides/slide14.xml" Id="R51abbb456b7047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669f7e01bb4a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49eb15668b4887" /><Relationship Type="http://schemas.openxmlformats.org/officeDocument/2006/relationships/notesMaster" Target="/ppt/notesMasters/notesMaster1.xml" Id="Rbceb7fb5f15046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569362dca6430a" /><Relationship Type="http://schemas.openxmlformats.org/officeDocument/2006/relationships/notesMaster" Target="/ppt/notesMasters/notesMaster1.xml" Id="R720d4c62894647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157804b2444a05" /><Relationship Type="http://schemas.openxmlformats.org/officeDocument/2006/relationships/notesMaster" Target="/ppt/notesMasters/notesMaster1.xml" Id="R16c6ff3a8aaa4c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6a14f038fa4385" /><Relationship Type="http://schemas.openxmlformats.org/officeDocument/2006/relationships/notesMaster" Target="/ppt/notesMasters/notesMaster1.xml" Id="R77925ea528904b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0d987226ff4568" /><Relationship Type="http://schemas.openxmlformats.org/officeDocument/2006/relationships/notesMaster" Target="/ppt/notesMasters/notesMaster1.xml" Id="R9be52c9e33ce4f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4c5df720da446d" /><Relationship Type="http://schemas.openxmlformats.org/officeDocument/2006/relationships/notesMaster" Target="/ppt/notesMasters/notesMaster1.xml" Id="Rdbd1fab9b8da48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9910c2e3e640f8" /><Relationship Type="http://schemas.openxmlformats.org/officeDocument/2006/relationships/notesMaster" Target="/ppt/notesMasters/notesMaster1.xml" Id="Rc234a7a0b4bc41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ad9ebb46234ecb" /><Relationship Type="http://schemas.openxmlformats.org/officeDocument/2006/relationships/notesMaster" Target="/ppt/notesMasters/notesMaster1.xml" Id="R065fee38bcf74e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23516fa0a44ae4" /><Relationship Type="http://schemas.openxmlformats.org/officeDocument/2006/relationships/notesMaster" Target="/ppt/notesMasters/notesMaster1.xml" Id="Raf47a683d9444e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b6b4aa72ec4201" /><Relationship Type="http://schemas.openxmlformats.org/officeDocument/2006/relationships/notesMaster" Target="/ppt/notesMasters/notesMaster1.xml" Id="Re5103f3961cd49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e7f51235384aaa" /><Relationship Type="http://schemas.openxmlformats.org/officeDocument/2006/relationships/notesMaster" Target="/ppt/notesMasters/notesMaster1.xml" Id="Re330eeea01154e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3deac26be24f05" /><Relationship Type="http://schemas.openxmlformats.org/officeDocument/2006/relationships/notesMaster" Target="/ppt/notesMasters/notesMaster1.xml" Id="R41b90f77511941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85b64eeb4e4306" /><Relationship Type="http://schemas.openxmlformats.org/officeDocument/2006/relationships/notesMaster" Target="/ppt/notesMasters/notesMaster1.xml" Id="R930819c140ff443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2ea2a82eb54acd" /><Relationship Type="http://schemas.openxmlformats.org/officeDocument/2006/relationships/notesMaster" Target="/ppt/notesMasters/notesMaster1.xml" Id="R8ed8ed746d8b44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slide. Implementation target: 22 nm ASIC. No fabrication. Supervisor Professor Mohamed Radwan. The conceptual cover art is from the previous deck and is not a fabricated chip.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Agenda unchanged: 0–2 idea, 2–5 method/team, 5–17 system progress, 17–22 execution plan, 22–30 discussion. Presentation ends by minute 22. Eight minutes remain for Professor Radwan. The token follows meeting order; its animation duration is illustrative.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idea in plain language before details. A receiver does not necessarily need its most expensive DFE configuration under every channel condition. We propose a controller that chooses among validated configurations using channel quality, supply status and an error-rate constraint. DFE means decision feedback equalization. Supply awareness could restrict safe operating modes or request supported operating changes. It does not mean an unvalidated voltage-droop response may lower throughput arbitrarily. Energy-proportional operation is a hypothesis, not an achieved property. Novelty requires literature review against energy-proportional equalizers and power-aware receivers. Source: user-provided Idea C screenshots and presentations/First meeting/Graduation_Project_Proposal_Three_Ideas.pdf, Idea C pages 6–8. Current user instructions and the updated named team table supersede the older seven-person allocation and 400G-first framing. Use the supervisor name exactly as supplied: Professor Mohamed Radwan. DFE background: https://www.mathworks.com/help/comm/ref/decisionfeedbackequalizer.html . A decision feedback equalizer uses earlier symbol decisions to cancel modeled postcursor intersymbol interference. The supply-aware controller proposed here and any energy improvement require separate validation. Build this architecture from the signal source to the receiver, then reveal the controller and supply model. The source and channel are external verification models unless the final chip boundary explicitly includes the transmitter. The DFE consumes the new PAM-N receiver samples and previous symbol decisions. Channel quality, supply indicators and error estimates feed a slower supervisory controller. Select among already characterized modes. Training or decision-directed error can provide a runtime quality proxy, while true BER uses known data in the verification environment. Choose an observable quality metric instead of assuming the chip has ground-truth bits in normal operation. Supply coupling must come from supported models, such as converter accuracy, jitter or digital timing limits. Source: user-provided Idea C screenshots and presentations/First meeting/Graduation_Project_Proposal_Three_Ideas.pdf, Idea C pages 6–8. Current user instructions and the updated named team table supersede the older seven-person allocation and 400G-first framing. Use the supervisor name exactly as supplied: Professor Mohamed Radwan. DFE background: https://www.mathworks.com/help/comm/ref/decisionfeedbackequalizer.html . A decision feedback equalizer uses earlier symbol decisions to cancel modeled postcursor intersymbol interference. The supply-aware controller proposed here and any energy improvement require separate validation.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comparison must use the same PAM-N rate, channel realizations, supply disturbances, input data, training overhead and energy boundary. A: fixed DFE and fixed operating point. B: DFE configuration adaptation at a fixed operating point. C: fixed DFE with supply-aware control. D: joint adaptation. Compare D against each appropriate baseline, not only the weakest A. Include controller, monitor and switching overhead in energy. Report net accepted data and error statistics, latency/recovery and throughput. Reducing data rate does not count as meeting a fixed 224G throughput target. Frame operating-point changes as candidate supported controls pending circuit and timing evidence. Source: user-provided Idea C screenshots and presentations/First meeting/Graduation_Project_Proposal_Three_Ideas.pdf, Idea C pages 6–8. Current user instructions and the updated named team table supersede the older seven-person allocation and 400G-first framing. Use the supervisor name exactly as supplied: Professor Mohamed Radwan. This slide answers Basel’s request for advanced options. Complexity adaptation is the main architectural lever: choose the number of active taps, stages and supported speculation structures. Supply awareness coordinates mode validity and supported operating points. Mixed or adaptive precision is an optional additional arithmetic dimension only if the primary comparison is stable. Floating-point or a more elaborate format is not automatically superior for this ASIC and is not a novelty claim. Full floating-point should remain a reference option unless area/timing/energy results justify it. Keep the feedback path fast and the supervisor controller slower. Add hysteresis, minimum dwell time, safe state switching, fallback modes, and retraining behavior where needed. Avoid promising savings. A useful outcome is a rigorous tradeoff boundary even if joint control does not improve energy. Source: user-provided Idea C screenshots and presentations/First meeting/Graduation_Project_Proposal_Three_Ideas.pdf, Idea C pages 6–8. Current user instructions and the updated named team table supersede the older seven-person allocation and 400G-first framing. Use the supervisor name exactly as supplied: Professor Mohamed Radwan.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eight named team members in the updated photo, not the old seven-person generic table. Basel leads integration, owns the master MATLAB reference/configuration, specification and ASIC-flow coordination. Omar develops the communication/DSP model and arithmetic specification with Basel. Mohamed Ali and Nourhan own RTL and implementation. Islam owns independent tests, regressions and coverage. Fahd, Kareem Khalifa and Menna own analog/power behavioral and circuit work. Choose detailed sub-block owners in Week 1. All interface and algorithm changes require reviewed reference versions. Each work item has one accountable owner and a reviewer. Source: user-provided Idea C screenshots and presentations/First meeting/Graduation_Project_Proposal_Three_Ideas.pdf, Idea C pages 6–8. Current user instructions and the updated named team table supersede the older seven-person allocation and 400G-first framing. Use the supervisor name exactly as supplied: Professor Mohamed Radwan.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Progress section, 5–17 minutes, presented by Basel with Mohamed Ali supporting the digital implementation discussion. Allocate approximately 7 minutes to the existing MATLAB signal flow, test purposes, saved results and channel/noise assumptions. Allocate the remaining 5 minutes across the next-model distinction and verification evidence. Open the actual main script or saved results if useful, without starting a long simulation. Show what exists and how the test results support it. The code implements a 64-QAM MIMO-OFDM reference, known-channel checks, channel estimation and modeled quantization/noise/jitter. It is not a PAM-N DFE implementation. Pooled BER is 1.238623303e-5 from the saved L=1000 experiment over three seeds. The paper comparison is 2.4e-6 and the observed gap is about 5.16 times. Imported FEXT is weaker and noise reference differs, so the project cannot claim exact reproduction or superiority to the paper. The old proposal contains a better-than-paper SER statement, which the current saved data does not support. Do not repeat that claim. Source: results/224G/paper_clipping_confirmation.csv, config/224G_paper_specs.md and docs/validation.md, reviewed 24 October 2026. The L=1000 CSV gives 1276 errors across 103017600 bits, pooled BER 1.238623303e-5. The modeled channel and noise plane differ from the reference paper. These results do not establish circuit performance or exact paper reproduction.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Progress section, 5–17 minutes, presented by Basel with Mohamed Ali supporting the digital implementation discussion. Allocate approximately 7 minutes to the existing MATLAB signal flow, test purposes, saved results and channel/noise assumptions. Allocate the remaining 5 minutes across the next-model distinction and verification evidence. Open the actual main script or saved results if useful, without starting a long simulation. Show what exists and how the test results support it. The code implements a 64-QAM MIMO-OFDM reference, known-channel checks, channel estimation and modeled quantization/noise/jitter. It is not a PAM-N DFE implementation. Pooled BER is 1.238623303e-5 from the saved L=1000 experiment over three seeds. The paper comparison is 2.4e-6 and the observed gap is about 5.16 times. Imported FEXT is weaker and noise reference differs, so the project cannot claim exact reproduction or superiority to the paper. The old proposal contains a better-than-paper SER statement, which the current saved data does not support. Do not repeat that claim. Source: results/224G/paper_clipping_confirmation.csv, config/224G_paper_specs.md and docs/validation.md, reviewed 24 October 2026. The L=1000 CSV gives 1276 errors across 103017600 bits, pooled BER 1.238623303e-5. The modeled channel and noise plane differ from the reference paper. These results do not establish circuit performance or exact paper reproduction. Test 1 checks ideal QAM against AWGN theory. Tests 2–4 isolate main channel, FEXT and cancellation with known channels and without full impairments. Tests 5–6 add channel estimation and modeled impairments. Zero observed errors in idealized tests are finite-run results.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Progress section, 5–17 minutes, presented by Basel with Mohamed Ali supporting the digital implementation discussion. Allocate approximately 7 minutes to the existing MATLAB signal flow, test purposes, saved results and channel/noise assumptions. Allocate the remaining 5 minutes across the next-model distinction and verification evidence. Open the actual main script or saved results if useful, without starting a long simulation. Show what exists and how the test results support it. The code implements a 64-QAM MIMO-OFDM reference, known-channel checks, channel estimation and modeled quantization/noise/jitter. It is not a PAM-N DFE implementation. Pooled BER is 1.238623303e-5 from the saved L=1000 experiment over three seeds. The paper comparison is 2.4e-6 and the observed gap is about 5.16 times. Imported FEXT is weaker and noise reference differs, so the project cannot claim exact reproduction or superiority to the paper. The old proposal contains a better-than-paper SER statement, which the current saved data does not support. Do not repeat that claim. Source: results/224G/paper_clipping_confirmation.csv, config/224G_paper_specs.md and docs/validation.md, reviewed 24 October 2026. The L=1000 CSV gives 1276 errors across 103017600 bits, pooled BER 1.238623303e-5. The modeled channel and noise plane differ from the reference paper. These results do not establish circuit performance or exact paper reproduction. This slide is a deliberately simplified concept illustration, not stored experiment data. Eight representative received symbol locations move toward their associated ideal decision points. The motion shows the goal of correction; it does not claim perfect equalization or zero errors. The next slide gives the actual stored result.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Progress section, 5–17 minutes, presented by Basel with Mohamed Ali supporting the digital implementation discussion. Allocate approximately 7 minutes to the existing MATLAB signal flow, test purposes, saved results and channel/noise assumptions. Allocate the remaining 5 minutes across the next-model distinction and verification evidence. Open the actual main script or saved results if useful, without starting a long simulation. Show what exists and how the test results support it. The code implements a 64-QAM MIMO-OFDM reference, known-channel checks, channel estimation and modeled quantization/noise/jitter. It is not a PAM-N DFE implementation. Pooled BER is 1.238623303e-5 from the saved L=1000 experiment over three seeds. The paper comparison is 2.4e-6 and the observed gap is about 5.16 times. Imported FEXT is weaker and noise reference differs, so the project cannot claim exact reproduction or superiority to the paper. The old proposal contains a better-than-paper SER statement, which the current saved data does not support. Do not repeat that claim. Source: results/224G/paper_clipping_confirmation.csv, config/224G_paper_specs.md and docs/validation.md, reviewed 24 October 2026. The L=1000 CSV gives 1276 errors across 103017600 bits, pooled BER 1.238623303e-5. The modeled channel and noise plane differ from the reference paper. These results do not establish circuit performance or exact paper reproduction. Exact bar values in units of 10^-6 are 12.38623303 and 2.4. Current pooled BER 1276/103017600 from seeds 31,53,79. The reference comparison uses another channel/noise setup and is not exact reproduction. No improvement or hardware success is asserted.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the 12-minute system-progress review. Basel explains the working OFDM model and proposed PAM-N branch. Mohamed Ali connects the remaining work to digital implementation requirements. This distinction is essential. The working reference uses 64-QAM on OFDM tones and frequency-domain 2×2 MIMO equalization. A PAM-N time-domain DFE is a new architecture and must have its own baseline and rate budget. It is not a drop-in rename of the OFDM equalizer. Current OFDM gross rate is 223.5625 Gb/s per lane before extra training, FEC and protocol overhead. For example, uncoded PAM4 at 224 Gb/s needs 112 GBd, which does not inherit the current 75.25 GS/s sampling assumption. Decide PAM order, samples per symbol, ADC bandwidth, channel treatment and FEXT handling in Month 1. Compare adaptation modes within the same PAM-N model. Do not attribute an OFDM-to-PAM architecture change to the controller. Source: results/224G/paper_clipping_confirmation.csv, config/224G_paper_specs.md and docs/validation.md, reviewed 24 October 2026. The L=1000 CSV gives 1276 errors across 103017600 bits, pooled BER 1.238623303e-5. The modeled channel and noise plane differ from the reference paper. These results do not establish circuit performance or exact paper reproduction. Source: user-provided Idea C screenshots and presentations/First meeting/Graduation_Project_Proposal_Three_Ideas.pdf, Idea C pages 6–8. Current user instructions and the updated named team table supersede the older seven-person allocation and 400G-first framing. Use the supervisor name exactly as supplied: Professor Mohamed Radwan.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part of the system-progress review: Mohamed Ali explains which evidence is still needed to turn the model into an implementation, and how RTL verification and physical checks will address the gaps. Islam maintains the verification matrix. Basel and Omar freeze the reference used by RTL scoreboards. Separate true BER using known verification data from an internal error proxy used by the controller. Test startup, training, error propagation, channel changes, supply steps, safe mode changes and worst-case throughput. Use multiple seeds, per-lane/error-count reports and confidence intervals, with correlated errors acknowledged. Circuit-derived analog models support long BER runs; representative transistor/PEX simulations validate their assumptions. Use timing and activity-informed power estimates with consistent voltage and switching assumptions. Actual silicon power is unavailable because there is no fabrication. Required checks for a core include equivalence/scoreboards, constraints, STA, CDC/RDC, DFT strategy and physical rules appropriate to the boundary. Workflow references: https://www.cadence.com/en_US/home/solutions/mixed-signal-solutions.html and https://www.mathworks.com/help/hdlcoder/gs/generate-hdl-code-from-matlab-algorithms.html . Actual PDK, cell libraries, qualified signoff tools and licenses remain unconfirmed. Under the recommended option, deliver a reproducible new PAM-N baseline alongside the existing OFDM model, verified configurable DFE/controller RTL, supply/AFE models, a physically implemented digital core and a selected analog block with the agreed circuit evidence. Document any revised scope honestly. Deliver design sources, constraints, version/tool manifests, reports and a manuscript draft. A standalone physical core with one analog block is not a complete manufacturing-ready transceiver. Complete TX/RX integration requires Option A’s separate scope and foundry signoff access. 400G remains optional, with its own channel/rate/sampling budget, and should produce requirements or feasibility evidence before implementation claims. No fabrication. International research submission depends on supervisor review, novelty/evidence and disclosure permission. Source: user-provided Idea C screenshots and presentations/First meeting/Graduation_Project_Proposal_Three_Ideas.pdf, Idea C pages 6–8. Current user instructions and the updated named team table supersede the older seven-person allocation and 400G-first framing. Use the supervisor name exactly as supplied: Professor Mohamed Radwan. Workflow references: https://www.cadence.com/en_US/home/solutions/mixed-signal-solutions.html and https://www.mathworks.com/help/hdlcoder/gs/generate-hdl-code-from-matlab-algorithms.html . Actual PDK, cell libraries, qualified signoff tools and licenses remain unconfirmed.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Month numbers start at approved kickoff. This plan updates the older proposal to include a deliberate PAM-N baseline and early physical-flow/throughput evidence. M1–2: reproduce the existing OFDM evidence, build the new fixed PAM-N baseline, do literature review, confirm PDK/tools, synthesize the critical DFE feedback path and choose an analog block. Gate: accept rate/channel/BER/power/area budgets and scope. M3–4: characterize selectable DFE modes, supply coupling and candidate circuit; start RTL and verification early. Gate: matched behavior and a credible circuit budget. M5–6: integrate controller and RTL; floorplan, initial P&amp;R and analog layout. Gate: matched system regression and initial timing. M7–8: close routed timing/area/power, analog PEX and four-mode experiments. Gate: evidence supports claims. M9–10: contingency for fixes, final regression, release, thesis and manuscript. The full TX/RX option requires a revised detailed analog schedule and approved staffing/resources at M2. 400G cannot displace mandatory fixes. Source: user-provided Idea C screenshots and presentations/First meeting/Graduation_Project_Proposal_Three_Ideas.pdf, Idea C pages 6–8. Current user instructions and the updated named team table supersede the older seven-person allocation and 400G-first framing. Use the supervisor name exactly as supplied: Professor Mohamed Radwan. Potential novelty must survive literature review before claiming a new architecture or control method. Supply disturbances must have a calibrated path into receiver behavior; avoid injecting arbitrary noise simply to create an advantage. The DFE feedback dependency is a timing risk at the target baud rate and may require speculation, unrolling or parallel processing whose area and power overhead must be counted. Confirm one realistic analog block, such as a droop monitor or a tractable AFE block, rather than promising a complete 75+ GS/s ADC. An LDO must have a justified load/bandwidth specification before becoming a circuit deliverable. Show failure cases, controller overhead and a fair comparison. A paper-ready report is under team control; acceptance is not. Source: user-provided Idea C screenshots and presentations/First meeting/Graduation_Project_Proposal_Three_Ideas.pdf, Idea C pages 6–8. Current user instructions and the updated named team table supersede the older seven-person allocation and 400G-first framing. Use the supervisor name exactly as supplied: Professor Mohamed Radwan.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 asked for all scope options and the best recommendation. Recommend Option B as a project planning judgment, not a demonstrated feasibility result. A complete mixed-signal TX/RX at this rate carries the largest converter/clock/IO/signoff burden and requires an early evidence-based go/no-go decision. B targets a verified DFE/controller ASIC core through physical design plus a carefully chosen analog monitor or AFE block, with a circuit-correlated full-system model. Digital 224G throughput must be proven using appropriate parallel/speculative architectures and cannot be inferred from MATLAB runtime. C is a fallback if physical implementation access fails, clearly labeled as simulation/synthesis evidence. Exact foundry and standard-cell libraries remain unconfirmed. Full manufacturing-readiness wording is reserved for a complete foundry-qualified package. B is a core/macro release, not a complete transceiver tapeout. All paths exclude fabrication. Workflow references: https://www.cadence.com/en_US/home/solutions/mixed-signal-solutions.html and https://www.mathworks.com/help/hdlcoder/gs/generate-hdl-code-from-matlab-algorithms.html . Actual PDK, cell libraries, qualified signoff tools and licenses remain unconfirmed. Under the recommended option, deliver a reproducible new PAM-N baseline alongside the existing OFDM model, verified configurable DFE/controller RTL, supply/AFE models, a physically implemented digital core and a selected analog block with the agreed circuit evidence. Document any revised scope honestly. Deliver design sources, constraints, version/tool manifests, reports and a manuscript draft. A standalone physical core with one analog block is not a complete manufacturing-ready transceiver. Complete TX/RX integration requires Option A’s separate scope and foundry signoff access. 400G remains optional, with its own channel/rate/sampling budget, and should produce requirements or feasibility evidence before implementation claims. No fabrication. International research submission depends on supervisor review, novelty/evidence and disclosure permission. Source: user-provided Idea C screenshots and presentations/First meeting/Graduation_Project_Proposal_Three_Ideas.pdf, Idea C pages 6–8. Current user instructions and the updated named team table supersede the older seven-person allocation and 400G-first framing. Use the supervisor name exactly as supplied: Professor Mohamed Radwan. Workflow references: https://www.cadence.com/en_US/home/solutions/mixed-signal-solutions.html and https://www.mathworks.com/help/hdlcoder/gs/generate-hdl-code-from-matlab-algorithms.html . Actual PDK, cell libraries, qualified signoff tools and licenses remain unconfirmed.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Stop presenting by minute 22. Use the remaining 8 minutes for feedback. Ask which precise contribution is defensible, which DFE configurations and supply mechanisms deserve priority, whether the recommended digital core plus selected analog block is the right scope, and which tools/cell libraries are actually available. Propose a short next deliverable: a reproducible status pack, targeted literature matrix, rate/throughput budget and PDK/tool access manifest within two weeks. Record a named owner and date for each action. Basel and Mohamed Ali lead the discussion. The named workstream owners describe project responsibilities, not additional presenters. No follow-up date is invented in this deck. Source: user-provided Idea C screenshots and presentations/First meeting/Graduation_Project_Proposal_Three_Ideas.pdf, Idea C pages 6–8. Current user instructions and the updated named team table supersede the older seven-person allocation and 400G-first framing. Use the supervisor name exactly as supplied: Professor Mohamed Radwan. Presenters are Basel and Mohamed Ali. Native diagrams and moving tokens illustrate signal flow or review steps, not measured propagation speed. Motion-path reference: https://learn.microsoft.com/en-us/openspecs/office_standards/ms-oe376/20acd8bd-6ba0-461d-ae9f-f7e0f90e1ff7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b9e1ca09e44d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d9f77a509745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0fc6cc77934e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324f03edc64c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5e5f56285440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c067c7679e43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16F7F8-4065-440B-892A-7990661E7C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98BAD0-6012-404E-B9B3-321C7A7E615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F45A0D-93FF-4A3A-AC53-DE6C01C0EAE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5503C2-15C3-4FA6-A282-A2A07A1003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30C363-0690-47CD-8329-3AF51BBA467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DEFAAD-CE26-4381-9E15-C00322A42F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3A4AA1-2003-4AED-B64C-3C1FE34F24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826B273-7A01-48F7-BEF8-32F412D4B0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7D9A8F-E1D4-4FFB-AA82-7AC5A6F43F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21F5BA-CB9B-4027-9906-23681B2311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eea7dfa1f14bf5" /><Relationship Type="http://schemas.openxmlformats.org/officeDocument/2006/relationships/slideLayout" Target="/ppt/slideLayouts/slideLayout1.xml" Id="R907878cca0924b0b" /><Relationship Type="http://schemas.openxmlformats.org/officeDocument/2006/relationships/slideLayout" Target="/ppt/slideLayouts/slideLayout2.xml" Id="Rfe37b27f171c4200" /><Relationship Type="http://schemas.openxmlformats.org/officeDocument/2006/relationships/slideLayout" Target="/ppt/slideLayouts/slideLayout3.xml" Id="R24c2415c6fa44597" /><Relationship Type="http://schemas.openxmlformats.org/officeDocument/2006/relationships/slideLayout" Target="/ppt/slideLayouts/slideLayout4.xml" Id="Re9f87100ee1b4709" /><Relationship Type="http://schemas.openxmlformats.org/officeDocument/2006/relationships/slideLayout" Target="/ppt/slideLayouts/slideLayout5.xml" Id="Rf1e91e8184a34410" /><Relationship Type="http://schemas.openxmlformats.org/officeDocument/2006/relationships/slideLayout" Target="/ppt/slideLayouts/slideLayout6.xml" Id="Rf9d7ab97cb3945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7878cca0924b0b"/>
    <p:sldLayoutId xmlns:r="http://schemas.openxmlformats.org/officeDocument/2006/relationships" id="2147483650" r:id="Rfe37b27f171c4200"/>
    <p:sldLayoutId xmlns:r="http://schemas.openxmlformats.org/officeDocument/2006/relationships" id="2147483651" r:id="R24c2415c6fa44597"/>
    <p:sldLayoutId xmlns:r="http://schemas.openxmlformats.org/officeDocument/2006/relationships" id="2147483652" r:id="Re9f87100ee1b4709"/>
    <p:sldLayoutId xmlns:r="http://schemas.openxmlformats.org/officeDocument/2006/relationships" id="2147483653" r:id="Rf1e91e8184a34410"/>
    <p:sldLayoutId xmlns:r="http://schemas.openxmlformats.org/officeDocument/2006/relationships" id="2147483654" r:id="Rf9d7ab97cb3945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34a1f584c9b4c55" /><Relationship Type="http://schemas.openxmlformats.org/officeDocument/2006/relationships/image" Target="/ppt/media/image.png" Id="R8c81ebe3127c4a1a" /><Relationship Type="http://schemas.openxmlformats.org/officeDocument/2006/relationships/notesSlide" Target="/ppt/notesSlides/notesSlide1.xml" Id="R3a18f8be430140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c74139dc2eb4ea5" /><Relationship Type="http://schemas.openxmlformats.org/officeDocument/2006/relationships/notesSlide" Target="/ppt/notesSlides/notesSlide2.xml" Id="R148964c55a6c4f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21aa69a236423e" /><Relationship Type="http://schemas.openxmlformats.org/officeDocument/2006/relationships/notesSlide" Target="/ppt/notesSlides/notesSlide3.xml" Id="Rdc2b6f47a8bc42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e50e24e27f541b4" /><Relationship Type="http://schemas.openxmlformats.org/officeDocument/2006/relationships/notesSlide" Target="/ppt/notesSlides/notesSlide4.xml" Id="Rbd83046a2a754f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bd01a3a2a994ae3" /><Relationship Type="http://schemas.openxmlformats.org/officeDocument/2006/relationships/notesSlide" Target="/ppt/notesSlides/notesSlide5.xml" Id="R5e27d448bf7f4c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59442f18cd4ac5" /><Relationship Type="http://schemas.openxmlformats.org/officeDocument/2006/relationships/notesSlide" Target="/ppt/notesSlides/notesSlide6.xml" Id="R4e1ea1d40fda4c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7f5129475364373" /><Relationship Type="http://schemas.openxmlformats.org/officeDocument/2006/relationships/notesSlide" Target="/ppt/notesSlides/notesSlide7.xml" Id="R66ec7c363dcc40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7b47c4664a546f9" /><Relationship Type="http://schemas.openxmlformats.org/officeDocument/2006/relationships/notesSlide" Target="/ppt/notesSlides/notesSlide8.xml" Id="R0b0953f242334b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889a8d659c44b3" /><Relationship Type="http://schemas.openxmlformats.org/officeDocument/2006/relationships/chart" Target="/ppt/slides/charts/chart1.xml" Id="R49ae8e33307c42fa" /><Relationship Type="http://schemas.openxmlformats.org/officeDocument/2006/relationships/notesSlide" Target="/ppt/notesSlides/notesSlide9.xml" Id="R03660e95017f48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ce3b37453b3407f" /><Relationship Type="http://schemas.openxmlformats.org/officeDocument/2006/relationships/notesSlide" Target="/ppt/notesSlides/notesSlide10.xml" Id="Rb59c1b3213164f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b1f79b27994fdb" /><Relationship Type="http://schemas.openxmlformats.org/officeDocument/2006/relationships/notesSlide" Target="/ppt/notesSlides/notesSlide11.xml" Id="Rca293e8c996f4f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5615446ecdf42c4" /><Relationship Type="http://schemas.openxmlformats.org/officeDocument/2006/relationships/notesSlide" Target="/ppt/notesSlides/notesSlide12.xml" Id="R6f7cef51d7084d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c534f6c3fca410b" /><Relationship Type="http://schemas.openxmlformats.org/officeDocument/2006/relationships/notesSlide" Target="/ppt/notesSlides/notesSlide13.xml" Id="R5d4dd5b4a58642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deb4bec65fa4c7d" /><Relationship Type="http://schemas.openxmlformats.org/officeDocument/2006/relationships/notesSlide" Target="/ppt/notesSlides/notesSlide14.xml" Id="R1e326b0551144b0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163B46"/>
                </a:solidFill>
                <a:latin typeface="Arial"/>
                <a:ea typeface="Arial"/>
                <a:cs typeface="Arial"/>
              </a:rPr>
              <a:t>BER (×10⁻⁶)</a:t>
            </a:r>
          </a:p>
        </c:rich>
      </c:tx>
      <c:overlay val="0"/>
      <c:txPr>
        <a:bodyPr xmlns:a="http://schemas.openxmlformats.org/drawingml/2006/main" anchorCtr="1"/>
        <a:lstStyle xmlns:a="http://schemas.openxmlformats.org/drawingml/2006/main"/>
        <a:p xmlns:a="http://schemas.openxmlformats.org/drawingml/2006/main">
          <a:pPr>
            <a:defRPr sz="2100" b="1">
              <a:solidFill>
                <a:srgbClr val="163B46"/>
              </a:solidFill>
              <a:latin typeface="Arial"/>
              <a:ea typeface="Arial"/>
              <a:cs typeface="Arial"/>
            </a:defRPr>
          </a:pPr>
        </a:p>
      </c:txPr>
    </c:title>
    <c:plotArea>
      <c:barChart>
        <c:barDir val="col"/>
        <c:grouping val="clustered"/>
        <c:varyColors val="0"/>
        <c:ser>
          <c:idx val="0"/>
          <c:order val="0"/>
          <c:tx>
            <c:v>BER ×10^-6</c:v>
          </c:tx>
          <c:spPr>
            <a:solidFill xmlns:a="http://schemas.openxmlformats.org/drawingml/2006/main">
              <a:srgbClr val="007E87"/>
            </a:solidFill>
          </c:spPr>
          <c:invertIfNegative val="0"/>
          <c:dPt>
            <c:idx val="1"/>
            <c:invertIfNegative val="0"/>
            <c:spPr>
              <a:solidFill xmlns:a="http://schemas.openxmlformats.org/drawingml/2006/main">
                <a:srgbClr val="E6ECEF"/>
              </a:solidFill>
            </c:spPr>
          </c:dPt>
          <c:cat>
            <c:strRef>
              <c:f>'Chart Data'!$A$2:$A$3</c:f>
              <c:strCache>
                <c:ptCount val="2"/>
                <c:pt idx="0">
                  <c:v>Current model</c:v>
                </c:pt>
                <c:pt idx="1">
                  <c:v>Paper comparison</c:v>
                </c:pt>
              </c:strCache>
            </c:strRef>
          </c:cat>
          <c:val>
            <c:numRef>
              <c:f>'Chart Data'!$B$2:$B$3</c:f>
              <c:numCache>
                <c:formatCode>General</c:formatCode>
                <c:ptCount val="2"/>
                <c:pt idx="0">
                  <c:v>12.38623303</c:v>
                </c:pt>
                <c:pt idx="1">
                  <c:v>2.4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63B46"/>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D6DB"/>
            </a:solidFill>
          </a:ln>
        </c:spPr>
        <c:txPr>
          <a:bodyPr xmlns:a="http://schemas.openxmlformats.org/drawingml/2006/main" anchorCtr="1"/>
          <a:lstStyle xmlns:a="http://schemas.openxmlformats.org/drawingml/2006/main"/>
          <a:p xmlns:a="http://schemas.openxmlformats.org/drawingml/2006/main">
            <a:pPr>
              <a:defRPr sz="1725">
                <a:solidFill>
                  <a:srgbClr val="163B46"/>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C7D6D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717B"/>
                </a:solidFill>
                <a:latin typeface="Arial"/>
                <a:ea typeface="Arial"/>
                <a:cs typeface="Arial"/>
              </a:defRPr>
            </a:pPr>
          </a:p>
        </c:txPr>
        <c:crossAx val="48650112"/>
        <c:crossBetween val="between"/>
        <c:majorUnit val="5"/>
      </c:valAx>
      <c:spPr>
        <a:solidFill xmlns:a="http://schemas.openxmlformats.org/drawingml/2006/main">
          <a:srgbClr val="FCFDFD"/>
        </a:solidFill>
      </c:spPr>
    </c:plotArea>
    <c:plotVisOnly val="1"/>
  </c:chart>
  <c:spPr>
    <a:solidFill xmlns:a="http://schemas.openxmlformats.org/drawingml/2006/main">
      <a:srgbClr val="FCFDFD"/>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2171C88-D282-42A8-9770-4765B8FC95EA}"/>
              </a:ext>
            </a:extLst>
          </p:cNvPr>
          <p:cNvSpPr>
            <a:spLocks xmlns:a="http://schemas.openxmlformats.org/drawingml/2006/main" noGrp="1"/>
          </p:cNvSpPr>
          <p:nvPr/>
        </p:nvSpPr>
        <p:spPr>
          <a:xfrm xmlns:a="http://schemas.openxmlformats.org/drawingml/2006/main">
            <a:off x="609600" y="1381125"/>
            <a:ext cx="7905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125" b="1">
                <a:solidFill>
                  <a:srgbClr val="163B46"/>
                </a:solidFill>
              </a:defRPr>
            </a:defPPr>
            <a:lvl1pPr>
              <a:defRPr sz="4125" b="1">
                <a:solidFill>
                  <a:srgbClr val="163B46"/>
                </a:solidFill>
              </a:defRPr>
            </a:lvl1pPr>
            <a:lvl2pPr>
              <a:defRPr sz="4125" b="1">
                <a:solidFill>
                  <a:srgbClr val="163B46"/>
                </a:solidFill>
              </a:defRPr>
            </a:lvl2pPr>
            <a:lvl3pPr>
              <a:defRPr sz="4125" b="1">
                <a:solidFill>
                  <a:srgbClr val="163B46"/>
                </a:solidFill>
              </a:defRPr>
            </a:lvl3pPr>
            <a:lvl4pPr>
              <a:defRPr sz="4125" b="1">
                <a:solidFill>
                  <a:srgbClr val="163B46"/>
                </a:solidFill>
              </a:defRPr>
            </a:lvl4pPr>
            <a:lvl5pPr>
              <a:defRPr sz="4125" b="1">
                <a:solidFill>
                  <a:srgbClr val="163B46"/>
                </a:solidFill>
              </a:defRPr>
            </a:lvl5pPr>
            <a:lvl6pPr>
              <a:defRPr sz="4125" b="1">
                <a:solidFill>
                  <a:srgbClr val="163B46"/>
                </a:solidFill>
              </a:defRPr>
            </a:lvl6pPr>
            <a:lvl7pPr>
              <a:defRPr sz="4125" b="1">
                <a:solidFill>
                  <a:srgbClr val="163B46"/>
                </a:solidFill>
              </a:defRPr>
            </a:lvl7pPr>
            <a:lvl8pPr>
              <a:defRPr sz="4125" b="1">
                <a:solidFill>
                  <a:srgbClr val="163B46"/>
                </a:solidFill>
              </a:defRPr>
            </a:lvl8pPr>
            <a:lvl9pPr>
              <a:defRPr sz="4125" b="1">
                <a:solidFill>
                  <a:srgbClr val="163B46"/>
                </a:solidFill>
              </a:defRPr>
            </a:lvl9pPr>
          </a:lstStyle>
          <a:p xmlns:a="http://schemas.openxmlformats.org/drawingml/2006/main">
            <a:pPr>
              <a:defRPr sz="3450" b="1">
                <a:solidFill>
                  <a:srgbClr val="163B46"/>
                </a:solidFill>
              </a:defRPr>
            </a:pPr>
            <a:r>
              <a:rPr sz="4125" b="1">
                <a:solidFill>
                  <a:srgbClr val="163B46"/>
                </a:solidFill>
              </a:rPr>
              <a:t>224 Gb/s ADC-Based</a:t>
            </a:r>
          </a:p>
          <a:p xmlns:a="http://schemas.openxmlformats.org/drawingml/2006/main">
            <a:pPr>
              <a:defRPr sz="3450" b="1">
                <a:solidFill>
                  <a:srgbClr val="163B46"/>
                </a:solidFill>
              </a:defRPr>
            </a:pPr>
            <a:r>
              <a:rPr sz="4125" b="1">
                <a:solidFill>
                  <a:srgbClr val="163B46"/>
                </a:solidFill>
              </a:rPr>
              <a:t>Wireline Transceiver</a:t>
            </a:r>
          </a:p>
        </p:txBody>
      </p:sp>
      <p:sp>
        <p:nvSpPr>
          <p:cNvPr id="3" name="page">
            <a:extLst xmlns:a="http://schemas.openxmlformats.org/drawingml/2006/main">
              <a:ext uri="{FF2B5EF4-FFF2-40B4-BE49-F238E27FC236}">
                <a16:creationId xmlns:a16="http://schemas.microsoft.com/office/drawing/2014/main" id="{A20B133D-C5B7-4955-BF5E-E82AA7718DAE}"/>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01</a:t>
            </a:r>
          </a:p>
        </p:txBody>
      </p:sp>
      <p:pic>
        <p:nvPicPr>
          <p:cNvPr id="4" name="">
            <a:extLst xmlns:a="http://schemas.openxmlformats.org/drawingml/2006/main">
              <a:ext uri="{FF2B5EF4-FFF2-40B4-BE49-F238E27FC236}">
                <a16:creationId xmlns:a16="http://schemas.microsoft.com/office/drawing/2014/main" id="{530FD9A7-8BD1-4553-A720-FB51F703B2C5}"/>
              </a:ext>
            </a:extLst>
          </p:cNvPr>
          <p:cNvPicPr>
            <a:picLocks xmlns:a="http://schemas.openxmlformats.org/drawingml/2006/main" noChangeAspect="1"/>
          </p:cNvPicPr>
          <p:nvPr/>
        </p:nvPicPr>
        <p:blipFill>
          <a:blip xmlns:r="http://schemas.openxmlformats.org/officeDocument/2006/relationships" xmlns:a="http://schemas.openxmlformats.org/drawingml/2006/main" r:embed="R8c81ebe3127c4a1a"/>
          <a:srcRect xmlns:a="http://schemas.openxmlformats.org/drawingml/2006/main" l="28177" t="0" r="28177" b="0"/>
          <a:stretch xmlns:a="http://schemas.openxmlformats.org/drawingml/2006/main">
            <a:fillRect l="0" t="0" r="0" b="0"/>
          </a:stretch>
        </p:blipFill>
        <p:spPr>
          <a:xfrm xmlns:a="http://schemas.openxmlformats.org/drawingml/2006/main">
            <a:off x="8572500" y="1181100"/>
            <a:ext cx="3619500" cy="4667250"/>
          </a:xfrm>
          <a:prstGeom xmlns:a="http://schemas.openxmlformats.org/drawingml/2006/main" prst="rect">
            <a:avLst/>
          </a:prstGeom>
        </p:spPr>
      </p:pic>
      <p:sp>
        <p:nvSpPr>
          <p:cNvPr id="5" name="label-1">
            <a:extLst xmlns:a="http://schemas.openxmlformats.org/drawingml/2006/main">
              <a:ext uri="{FF2B5EF4-FFF2-40B4-BE49-F238E27FC236}">
                <a16:creationId xmlns:a16="http://schemas.microsoft.com/office/drawing/2014/main" id="{76609D19-8792-496F-BC3C-BF7F07644C85}"/>
              </a:ext>
            </a:extLst>
          </p:cNvPr>
          <p:cNvSpPr>
            <a:spLocks xmlns:a="http://schemas.openxmlformats.org/drawingml/2006/main" noGrp="1"/>
          </p:cNvSpPr>
          <p:nvPr/>
        </p:nvSpPr>
        <p:spPr>
          <a:xfrm xmlns:a="http://schemas.openxmlformats.org/drawingml/2006/main">
            <a:off x="609600" y="3590925"/>
            <a:ext cx="781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0">
                <a:solidFill>
                  <a:srgbClr val="007E87"/>
                </a:solidFill>
              </a:defRPr>
            </a:defPPr>
            <a:lvl1pPr>
              <a:defRPr sz="2475" b="0">
                <a:solidFill>
                  <a:srgbClr val="007E87"/>
                </a:solidFill>
              </a:defRPr>
            </a:lvl1pPr>
            <a:lvl2pPr>
              <a:defRPr sz="2475" b="0">
                <a:solidFill>
                  <a:srgbClr val="007E87"/>
                </a:solidFill>
              </a:defRPr>
            </a:lvl2pPr>
            <a:lvl3pPr>
              <a:defRPr sz="2475" b="0">
                <a:solidFill>
                  <a:srgbClr val="007E87"/>
                </a:solidFill>
              </a:defRPr>
            </a:lvl3pPr>
            <a:lvl4pPr>
              <a:defRPr sz="2475" b="0">
                <a:solidFill>
                  <a:srgbClr val="007E87"/>
                </a:solidFill>
              </a:defRPr>
            </a:lvl4pPr>
            <a:lvl5pPr>
              <a:defRPr sz="2475" b="0">
                <a:solidFill>
                  <a:srgbClr val="007E87"/>
                </a:solidFill>
              </a:defRPr>
            </a:lvl5pPr>
            <a:lvl6pPr>
              <a:defRPr sz="2475" b="0">
                <a:solidFill>
                  <a:srgbClr val="007E87"/>
                </a:solidFill>
              </a:defRPr>
            </a:lvl6pPr>
            <a:lvl7pPr>
              <a:defRPr sz="2475" b="0">
                <a:solidFill>
                  <a:srgbClr val="007E87"/>
                </a:solidFill>
              </a:defRPr>
            </a:lvl7pPr>
            <a:lvl8pPr>
              <a:defRPr sz="2475" b="0">
                <a:solidFill>
                  <a:srgbClr val="007E87"/>
                </a:solidFill>
              </a:defRPr>
            </a:lvl8pPr>
            <a:lvl9pPr>
              <a:defRPr sz="2475" b="0">
                <a:solidFill>
                  <a:srgbClr val="007E87"/>
                </a:solidFill>
              </a:defRPr>
            </a:lvl9pPr>
          </a:lstStyle>
          <a:p xmlns:a="http://schemas.openxmlformats.org/drawingml/2006/main">
            <a:pPr>
              <a:defRPr sz="2475" b="0">
                <a:solidFill>
                  <a:srgbClr val="007E87"/>
                </a:solidFill>
              </a:defRPr>
            </a:pPr>
            <a:r>
              <a:rPr sz="2475" b="0">
                <a:solidFill>
                  <a:srgbClr val="007E87"/>
                </a:solidFill>
              </a:rPr>
              <a:t>22 nm ASIC Implementation</a:t>
            </a:r>
          </a:p>
        </p:txBody>
      </p:sp>
      <p:sp>
        <p:nvSpPr>
          <p:cNvPr id="6" name="label-2">
            <a:extLst xmlns:a="http://schemas.openxmlformats.org/drawingml/2006/main">
              <a:ext uri="{FF2B5EF4-FFF2-40B4-BE49-F238E27FC236}">
                <a16:creationId xmlns:a16="http://schemas.microsoft.com/office/drawing/2014/main" id="{08B3C53F-FD02-449E-B6AA-E13DE0C0E620}"/>
              </a:ext>
            </a:extLst>
          </p:cNvPr>
          <p:cNvSpPr>
            <a:spLocks xmlns:a="http://schemas.openxmlformats.org/drawingml/2006/main" noGrp="1"/>
          </p:cNvSpPr>
          <p:nvPr/>
        </p:nvSpPr>
        <p:spPr>
          <a:xfrm xmlns:a="http://schemas.openxmlformats.org/drawingml/2006/main">
            <a:off x="609600" y="453390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B46"/>
                </a:solidFill>
              </a:defRPr>
            </a:defPPr>
            <a:lvl1pPr>
              <a:defRPr sz="2175" b="1">
                <a:solidFill>
                  <a:srgbClr val="163B46"/>
                </a:solidFill>
              </a:defRPr>
            </a:lvl1pPr>
            <a:lvl2pPr>
              <a:defRPr sz="2175" b="1">
                <a:solidFill>
                  <a:srgbClr val="163B46"/>
                </a:solidFill>
              </a:defRPr>
            </a:lvl2pPr>
            <a:lvl3pPr>
              <a:defRPr sz="2175" b="1">
                <a:solidFill>
                  <a:srgbClr val="163B46"/>
                </a:solidFill>
              </a:defRPr>
            </a:lvl3pPr>
            <a:lvl4pPr>
              <a:defRPr sz="2175" b="1">
                <a:solidFill>
                  <a:srgbClr val="163B46"/>
                </a:solidFill>
              </a:defRPr>
            </a:lvl4pPr>
            <a:lvl5pPr>
              <a:defRPr sz="2175" b="1">
                <a:solidFill>
                  <a:srgbClr val="163B46"/>
                </a:solidFill>
              </a:defRPr>
            </a:lvl5pPr>
            <a:lvl6pPr>
              <a:defRPr sz="2175" b="1">
                <a:solidFill>
                  <a:srgbClr val="163B46"/>
                </a:solidFill>
              </a:defRPr>
            </a:lvl6pPr>
            <a:lvl7pPr>
              <a:defRPr sz="2175" b="1">
                <a:solidFill>
                  <a:srgbClr val="163B46"/>
                </a:solidFill>
              </a:defRPr>
            </a:lvl7pPr>
            <a:lvl8pPr>
              <a:defRPr sz="2175" b="1">
                <a:solidFill>
                  <a:srgbClr val="163B46"/>
                </a:solidFill>
              </a:defRPr>
            </a:lvl8pPr>
            <a:lvl9pPr>
              <a:defRPr sz="2175" b="1">
                <a:solidFill>
                  <a:srgbClr val="163B46"/>
                </a:solidFill>
              </a:defRPr>
            </a:lvl9pPr>
          </a:lstStyle>
          <a:p xmlns:a="http://schemas.openxmlformats.org/drawingml/2006/main">
            <a:pPr>
              <a:defRPr sz="2175" b="1">
                <a:solidFill>
                  <a:srgbClr val="163B46"/>
                </a:solidFill>
              </a:defRPr>
            </a:pPr>
            <a:r>
              <a:rPr sz="2175" b="1">
                <a:solidFill>
                  <a:srgbClr val="163B46"/>
                </a:solidFill>
              </a:rPr>
              <a:t>Professor Mohamed Radwan</a:t>
            </a:r>
          </a:p>
        </p:txBody>
      </p:sp>
      <p:sp>
        <p:nvSpPr>
          <p:cNvPr id="7" name="label-3">
            <a:extLst xmlns:a="http://schemas.openxmlformats.org/drawingml/2006/main">
              <a:ext uri="{FF2B5EF4-FFF2-40B4-BE49-F238E27FC236}">
                <a16:creationId xmlns:a16="http://schemas.microsoft.com/office/drawing/2014/main" id="{6F2C653F-0C71-4B0C-994C-4D0224BB1AC6}"/>
              </a:ext>
            </a:extLst>
          </p:cNvPr>
          <p:cNvSpPr>
            <a:spLocks xmlns:a="http://schemas.openxmlformats.org/drawingml/2006/main" noGrp="1"/>
          </p:cNvSpPr>
          <p:nvPr/>
        </p:nvSpPr>
        <p:spPr>
          <a:xfrm xmlns:a="http://schemas.openxmlformats.org/drawingml/2006/main">
            <a:off x="609600" y="51530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8717B"/>
                </a:solidFill>
              </a:defRPr>
            </a:defPPr>
            <a:lvl1pPr>
              <a:defRPr sz="1950" b="0">
                <a:solidFill>
                  <a:srgbClr val="58717B"/>
                </a:solidFill>
              </a:defRPr>
            </a:lvl1pPr>
            <a:lvl2pPr>
              <a:defRPr sz="1950" b="0">
                <a:solidFill>
                  <a:srgbClr val="58717B"/>
                </a:solidFill>
              </a:defRPr>
            </a:lvl2pPr>
            <a:lvl3pPr>
              <a:defRPr sz="1950" b="0">
                <a:solidFill>
                  <a:srgbClr val="58717B"/>
                </a:solidFill>
              </a:defRPr>
            </a:lvl3pPr>
            <a:lvl4pPr>
              <a:defRPr sz="1950" b="0">
                <a:solidFill>
                  <a:srgbClr val="58717B"/>
                </a:solidFill>
              </a:defRPr>
            </a:lvl4pPr>
            <a:lvl5pPr>
              <a:defRPr sz="1950" b="0">
                <a:solidFill>
                  <a:srgbClr val="58717B"/>
                </a:solidFill>
              </a:defRPr>
            </a:lvl5pPr>
            <a:lvl6pPr>
              <a:defRPr sz="1950" b="0">
                <a:solidFill>
                  <a:srgbClr val="58717B"/>
                </a:solidFill>
              </a:defRPr>
            </a:lvl6pPr>
            <a:lvl7pPr>
              <a:defRPr sz="1950" b="0">
                <a:solidFill>
                  <a:srgbClr val="58717B"/>
                </a:solidFill>
              </a:defRPr>
            </a:lvl7pPr>
            <a:lvl8pPr>
              <a:defRPr sz="1950" b="0">
                <a:solidFill>
                  <a:srgbClr val="58717B"/>
                </a:solidFill>
              </a:defRPr>
            </a:lvl8pPr>
            <a:lvl9pPr>
              <a:defRPr sz="1950" b="0">
                <a:solidFill>
                  <a:srgbClr val="58717B"/>
                </a:solidFill>
              </a:defRPr>
            </a:lvl9pPr>
          </a:lstStyle>
          <a:p xmlns:a="http://schemas.openxmlformats.org/drawingml/2006/main">
            <a:pPr>
              <a:defRPr sz="1950" b="0">
                <a:solidFill>
                  <a:srgbClr val="58717B"/>
                </a:solidFill>
              </a:defRPr>
            </a:pPr>
            <a:r>
              <a:rPr sz="1950" b="0">
                <a:solidFill>
                  <a:srgbClr val="58717B"/>
                </a:solidFill>
              </a:rPr>
              <a:t>Basel and Mohamed Ali</a:t>
            </a:r>
          </a:p>
        </p:txBody>
      </p:sp>
      <p:sp>
        <p:nvSpPr>
          <p:cNvPr id="8" name="line-4">
            <a:extLst xmlns:a="http://schemas.openxmlformats.org/drawingml/2006/main">
              <a:ext uri="{FF2B5EF4-FFF2-40B4-BE49-F238E27FC236}">
                <a16:creationId xmlns:a16="http://schemas.microsoft.com/office/drawing/2014/main" id="{E64A9FF1-91E6-42E9-A5EE-9ABB6120B783}"/>
              </a:ext>
            </a:extLst>
          </p:cNvPr>
          <p:cNvSpPr>
            <a:spLocks xmlns:a="http://schemas.openxmlformats.org/drawingml/2006/main" noGrp="1"/>
          </p:cNvSpPr>
          <p:nvPr/>
        </p:nvSpPr>
        <p:spPr>
          <a:xfrm xmlns:a="http://schemas.openxmlformats.org/drawingml/2006/main">
            <a:off x="609600" y="6134100"/>
            <a:ext cx="7029450" cy="19050"/>
          </a:xfrm>
          <a:prstGeom xmlns:a="http://schemas.openxmlformats.org/drawingml/2006/main" prst="rect">
            <a:avLst/>
          </a:prstGeom>
          <a:solidFill xmlns:a="http://schemas.openxmlformats.org/drawingml/2006/main">
            <a:srgbClr val="C7D6DB"/>
          </a:solidFill>
          <a:ln xmlns:a="http://schemas.openxmlformats.org/drawingml/2006/main" w="19050">
            <a:solidFill>
              <a:srgbClr val="C7D6DB"/>
            </a:solidFill>
          </a:ln>
        </p:spPr>
      </p:sp>
      <p:sp>
        <p:nvSpPr>
          <p:cNvPr id="9" name="cover-packet">
            <a:extLst xmlns:a="http://schemas.openxmlformats.org/drawingml/2006/main">
              <a:ext uri="{FF2B5EF4-FFF2-40B4-BE49-F238E27FC236}">
                <a16:creationId xmlns:a16="http://schemas.microsoft.com/office/drawing/2014/main" id="{9654DD14-0CCC-4BED-B2EF-935AD4FEB6DC}"/>
              </a:ext>
            </a:extLst>
          </p:cNvPr>
          <p:cNvSpPr>
            <a:spLocks xmlns:a="http://schemas.openxmlformats.org/drawingml/2006/main" noGrp="1"/>
          </p:cNvSpPr>
          <p:nvPr/>
        </p:nvSpPr>
        <p:spPr>
          <a:xfrm xmlns:a="http://schemas.openxmlformats.org/drawingml/2006/main">
            <a:off x="609600" y="6029325"/>
            <a:ext cx="304800" cy="209550"/>
          </a:xfrm>
          <a:prstGeom xmlns:a="http://schemas.openxmlformats.org/drawingml/2006/main" prst="roundRect">
            <a:avLst>
              <a:gd name="adj" fmla="val 36364"/>
            </a:avLst>
          </a:prstGeom>
          <a:solidFill xmlns:a="http://schemas.openxmlformats.org/drawingml/2006/main">
            <a:srgbClr val="CB6A32"/>
          </a:solidFill>
          <a:ln xmlns:a="http://schemas.openxmlformats.org/drawingml/2006/main" w="19050">
            <a:solidFill>
              <a:srgbClr val="CB6A32"/>
            </a:solidFill>
          </a:ln>
        </p:spPr>
      </p:sp>
    </p:spTree>
    <p:extLst>
      <p:ext uri="{BB962C8B-B14F-4D97-AF65-F5344CB8AC3E}">
        <p14:creationId xmlns:p14="http://schemas.microsoft.com/office/powerpoint/2010/main" val="743254099"/>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539062 0.000000 E" pathEditMode="relative" rAng="0">
                                      <p:cBhvr additive="base">
                                        <p:cTn id="6" dur="1550" fill="hold" accel="12000" decel="12000"/>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8D4691D-7822-49B0-87E7-1BC97263AEDE}"/>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63B46"/>
                </a:solidFill>
              </a:defRPr>
            </a:defPPr>
            <a:lvl1pPr>
              <a:defRPr sz="3450" b="1">
                <a:solidFill>
                  <a:srgbClr val="163B46"/>
                </a:solidFill>
              </a:defRPr>
            </a:lvl1pPr>
            <a:lvl2pPr>
              <a:defRPr sz="3450" b="1">
                <a:solidFill>
                  <a:srgbClr val="163B46"/>
                </a:solidFill>
              </a:defRPr>
            </a:lvl2pPr>
            <a:lvl3pPr>
              <a:defRPr sz="3450" b="1">
                <a:solidFill>
                  <a:srgbClr val="163B46"/>
                </a:solidFill>
              </a:defRPr>
            </a:lvl3pPr>
            <a:lvl4pPr>
              <a:defRPr sz="3450" b="1">
                <a:solidFill>
                  <a:srgbClr val="163B46"/>
                </a:solidFill>
              </a:defRPr>
            </a:lvl4pPr>
            <a:lvl5pPr>
              <a:defRPr sz="3450" b="1">
                <a:solidFill>
                  <a:srgbClr val="163B46"/>
                </a:solidFill>
              </a:defRPr>
            </a:lvl5pPr>
            <a:lvl6pPr>
              <a:defRPr sz="3450" b="1">
                <a:solidFill>
                  <a:srgbClr val="163B46"/>
                </a:solidFill>
              </a:defRPr>
            </a:lvl6pPr>
            <a:lvl7pPr>
              <a:defRPr sz="3450" b="1">
                <a:solidFill>
                  <a:srgbClr val="163B46"/>
                </a:solidFill>
              </a:defRPr>
            </a:lvl7pPr>
            <a:lvl8pPr>
              <a:defRPr sz="3450" b="1">
                <a:solidFill>
                  <a:srgbClr val="163B46"/>
                </a:solidFill>
              </a:defRPr>
            </a:lvl8pPr>
            <a:lvl9pPr>
              <a:defRPr sz="3450" b="1">
                <a:solidFill>
                  <a:srgbClr val="163B46"/>
                </a:solidFill>
              </a:defRPr>
            </a:lvl9pPr>
          </a:lstStyle>
          <a:p xmlns:a="http://schemas.openxmlformats.org/drawingml/2006/main">
            <a:pPr>
              <a:defRPr sz="3450" b="1">
                <a:solidFill>
                  <a:srgbClr val="163B46"/>
                </a:solidFill>
              </a:defRPr>
            </a:pPr>
            <a:r>
              <a:rPr sz="3450" b="1">
                <a:solidFill>
                  <a:srgbClr val="163B46"/>
                </a:solidFill>
              </a:rPr>
              <a:t>Today’s meeting</a:t>
            </a:r>
          </a:p>
        </p:txBody>
      </p:sp>
      <p:sp>
        <p:nvSpPr>
          <p:cNvPr id="3" name="page">
            <a:extLst xmlns:a="http://schemas.openxmlformats.org/drawingml/2006/main">
              <a:ext uri="{FF2B5EF4-FFF2-40B4-BE49-F238E27FC236}">
                <a16:creationId xmlns:a16="http://schemas.microsoft.com/office/drawing/2014/main" id="{173FA062-B199-4690-A94A-4D4CD7C8A905}"/>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02</a:t>
            </a:r>
          </a:p>
        </p:txBody>
      </p:sp>
      <p:sp>
        <p:nvSpPr>
          <p:cNvPr id="4" name="time-band-0">
            <a:extLst xmlns:a="http://schemas.openxmlformats.org/drawingml/2006/main">
              <a:ext uri="{FF2B5EF4-FFF2-40B4-BE49-F238E27FC236}">
                <a16:creationId xmlns:a16="http://schemas.microsoft.com/office/drawing/2014/main" id="{7F3B6A64-DE06-4E86-A7C7-92AE224AFF71}"/>
              </a:ext>
            </a:extLst>
          </p:cNvPr>
          <p:cNvSpPr>
            <a:spLocks xmlns:a="http://schemas.openxmlformats.org/drawingml/2006/main" noGrp="1"/>
          </p:cNvSpPr>
          <p:nvPr/>
        </p:nvSpPr>
        <p:spPr>
          <a:xfrm xmlns:a="http://schemas.openxmlformats.org/drawingml/2006/main">
            <a:off x="609600" y="2428875"/>
            <a:ext cx="731520" cy="914400"/>
          </a:xfrm>
          <a:prstGeom xmlns:a="http://schemas.openxmlformats.org/drawingml/2006/main" prst="rect">
            <a:avLst/>
          </a:prstGeom>
          <a:solidFill xmlns:a="http://schemas.openxmlformats.org/drawingml/2006/main">
            <a:srgbClr val="E6ECEF"/>
          </a:solidFill>
          <a:ln xmlns:a="http://schemas.openxmlformats.org/drawingml/2006/main" w="19050">
            <a:solidFill>
              <a:srgbClr val="E6ECEF"/>
            </a:solidFill>
          </a:ln>
        </p:spPr>
      </p:sp>
      <p:sp>
        <p:nvSpPr>
          <p:cNvPr id="5" name="label-5">
            <a:extLst xmlns:a="http://schemas.openxmlformats.org/drawingml/2006/main">
              <a:ext uri="{FF2B5EF4-FFF2-40B4-BE49-F238E27FC236}">
                <a16:creationId xmlns:a16="http://schemas.microsoft.com/office/drawing/2014/main" id="{C053CC8A-1036-4BC7-AA46-E7CD115B4567}"/>
              </a:ext>
            </a:extLst>
          </p:cNvPr>
          <p:cNvSpPr>
            <a:spLocks xmlns:a="http://schemas.openxmlformats.org/drawingml/2006/main" noGrp="1"/>
          </p:cNvSpPr>
          <p:nvPr/>
        </p:nvSpPr>
        <p:spPr>
          <a:xfrm xmlns:a="http://schemas.openxmlformats.org/drawingml/2006/main">
            <a:off x="685800" y="3600450"/>
            <a:ext cx="63627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63B46"/>
                </a:solidFill>
              </a:defRPr>
            </a:defPPr>
            <a:lvl1pPr>
              <a:defRPr sz="1875" b="1">
                <a:solidFill>
                  <a:srgbClr val="163B46"/>
                </a:solidFill>
              </a:defRPr>
            </a:lvl1pPr>
            <a:lvl2pPr>
              <a:defRPr sz="1875" b="1">
                <a:solidFill>
                  <a:srgbClr val="163B46"/>
                </a:solidFill>
              </a:defRPr>
            </a:lvl2pPr>
            <a:lvl3pPr>
              <a:defRPr sz="1875" b="1">
                <a:solidFill>
                  <a:srgbClr val="163B46"/>
                </a:solidFill>
              </a:defRPr>
            </a:lvl3pPr>
            <a:lvl4pPr>
              <a:defRPr sz="1875" b="1">
                <a:solidFill>
                  <a:srgbClr val="163B46"/>
                </a:solidFill>
              </a:defRPr>
            </a:lvl4pPr>
            <a:lvl5pPr>
              <a:defRPr sz="1875" b="1">
                <a:solidFill>
                  <a:srgbClr val="163B46"/>
                </a:solidFill>
              </a:defRPr>
            </a:lvl5pPr>
            <a:lvl6pPr>
              <a:defRPr sz="1875" b="1">
                <a:solidFill>
                  <a:srgbClr val="163B46"/>
                </a:solidFill>
              </a:defRPr>
            </a:lvl6pPr>
            <a:lvl7pPr>
              <a:defRPr sz="1875" b="1">
                <a:solidFill>
                  <a:srgbClr val="163B46"/>
                </a:solidFill>
              </a:defRPr>
            </a:lvl7pPr>
            <a:lvl8pPr>
              <a:defRPr sz="1875" b="1">
                <a:solidFill>
                  <a:srgbClr val="163B46"/>
                </a:solidFill>
              </a:defRPr>
            </a:lvl8pPr>
            <a:lvl9pPr>
              <a:defRPr sz="1875" b="1">
                <a:solidFill>
                  <a:srgbClr val="163B46"/>
                </a:solidFill>
              </a:defRPr>
            </a:lvl9pPr>
          </a:lstStyle>
          <a:p xmlns:a="http://schemas.openxmlformats.org/drawingml/2006/main">
            <a:pPr>
              <a:defRPr sz="1875" b="1">
                <a:solidFill>
                  <a:srgbClr val="163B46"/>
                </a:solidFill>
              </a:defRPr>
            </a:pPr>
            <a:r>
              <a:rPr sz="1875" b="1">
                <a:solidFill>
                  <a:srgbClr val="163B46"/>
                </a:solidFill>
              </a:rPr>
              <a:t>2 min</a:t>
            </a:r>
          </a:p>
        </p:txBody>
      </p:sp>
      <p:sp>
        <p:nvSpPr>
          <p:cNvPr id="6" name="label-6">
            <a:extLst xmlns:a="http://schemas.openxmlformats.org/drawingml/2006/main">
              <a:ext uri="{FF2B5EF4-FFF2-40B4-BE49-F238E27FC236}">
                <a16:creationId xmlns:a16="http://schemas.microsoft.com/office/drawing/2014/main" id="{41B09EAF-A5AA-46CD-9CAF-E5C063EB6F80}"/>
              </a:ext>
            </a:extLst>
          </p:cNvPr>
          <p:cNvSpPr>
            <a:spLocks xmlns:a="http://schemas.openxmlformats.org/drawingml/2006/main" noGrp="1"/>
          </p:cNvSpPr>
          <p:nvPr/>
        </p:nvSpPr>
        <p:spPr>
          <a:xfrm xmlns:a="http://schemas.openxmlformats.org/drawingml/2006/main">
            <a:off x="685800" y="17526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63B46"/>
                </a:solidFill>
              </a:defRPr>
            </a:defPPr>
            <a:lvl1pPr>
              <a:defRPr sz="1725" b="1">
                <a:solidFill>
                  <a:srgbClr val="163B46"/>
                </a:solidFill>
              </a:defRPr>
            </a:lvl1pPr>
            <a:lvl2pPr>
              <a:defRPr sz="1725" b="1">
                <a:solidFill>
                  <a:srgbClr val="163B46"/>
                </a:solidFill>
              </a:defRPr>
            </a:lvl2pPr>
            <a:lvl3pPr>
              <a:defRPr sz="1725" b="1">
                <a:solidFill>
                  <a:srgbClr val="163B46"/>
                </a:solidFill>
              </a:defRPr>
            </a:lvl3pPr>
            <a:lvl4pPr>
              <a:defRPr sz="1725" b="1">
                <a:solidFill>
                  <a:srgbClr val="163B46"/>
                </a:solidFill>
              </a:defRPr>
            </a:lvl4pPr>
            <a:lvl5pPr>
              <a:defRPr sz="1725" b="1">
                <a:solidFill>
                  <a:srgbClr val="163B46"/>
                </a:solidFill>
              </a:defRPr>
            </a:lvl5pPr>
            <a:lvl6pPr>
              <a:defRPr sz="1725" b="1">
                <a:solidFill>
                  <a:srgbClr val="163B46"/>
                </a:solidFill>
              </a:defRPr>
            </a:lvl6pPr>
            <a:lvl7pPr>
              <a:defRPr sz="1725" b="1">
                <a:solidFill>
                  <a:srgbClr val="163B46"/>
                </a:solidFill>
              </a:defRPr>
            </a:lvl7pPr>
            <a:lvl8pPr>
              <a:defRPr sz="1725" b="1">
                <a:solidFill>
                  <a:srgbClr val="163B46"/>
                </a:solidFill>
              </a:defRPr>
            </a:lvl8pPr>
            <a:lvl9pPr>
              <a:defRPr sz="1725" b="1">
                <a:solidFill>
                  <a:srgbClr val="163B46"/>
                </a:solidFill>
              </a:defRPr>
            </a:lvl9pPr>
          </a:lstStyle>
          <a:p xmlns:a="http://schemas.openxmlformats.org/drawingml/2006/main">
            <a:pPr>
              <a:defRPr sz="1725" b="1">
                <a:solidFill>
                  <a:srgbClr val="163B46"/>
                </a:solidFill>
              </a:defRPr>
            </a:pPr>
            <a:r>
              <a:rPr sz="1725" b="1">
                <a:solidFill>
                  <a:srgbClr val="163B46"/>
                </a:solidFill>
              </a:rPr>
              <a:t>Idea</a:t>
            </a:r>
          </a:p>
        </p:txBody>
      </p:sp>
      <p:sp>
        <p:nvSpPr>
          <p:cNvPr id="7" name="time-band-1">
            <a:extLst xmlns:a="http://schemas.openxmlformats.org/drawingml/2006/main">
              <a:ext uri="{FF2B5EF4-FFF2-40B4-BE49-F238E27FC236}">
                <a16:creationId xmlns:a16="http://schemas.microsoft.com/office/drawing/2014/main" id="{0A0FBEC3-D0A1-461F-871E-0C1DF5B59F6E}"/>
              </a:ext>
            </a:extLst>
          </p:cNvPr>
          <p:cNvSpPr>
            <a:spLocks xmlns:a="http://schemas.openxmlformats.org/drawingml/2006/main" noGrp="1"/>
          </p:cNvSpPr>
          <p:nvPr/>
        </p:nvSpPr>
        <p:spPr>
          <a:xfrm xmlns:a="http://schemas.openxmlformats.org/drawingml/2006/main">
            <a:off x="1341120" y="2428875"/>
            <a:ext cx="1097280" cy="914400"/>
          </a:xfrm>
          <a:prstGeom xmlns:a="http://schemas.openxmlformats.org/drawingml/2006/main" prst="rect">
            <a:avLst/>
          </a:prstGeom>
          <a:solidFill xmlns:a="http://schemas.openxmlformats.org/drawingml/2006/main">
            <a:srgbClr val="E6ECEF"/>
          </a:solidFill>
          <a:ln xmlns:a="http://schemas.openxmlformats.org/drawingml/2006/main" w="19050">
            <a:solidFill>
              <a:srgbClr val="E6ECEF"/>
            </a:solidFill>
          </a:ln>
        </p:spPr>
      </p:sp>
      <p:sp>
        <p:nvSpPr>
          <p:cNvPr id="8" name="label-7">
            <a:extLst xmlns:a="http://schemas.openxmlformats.org/drawingml/2006/main">
              <a:ext uri="{FF2B5EF4-FFF2-40B4-BE49-F238E27FC236}">
                <a16:creationId xmlns:a16="http://schemas.microsoft.com/office/drawing/2014/main" id="{455E8390-BD28-4FF9-98CD-B750E8C56A32}"/>
              </a:ext>
            </a:extLst>
          </p:cNvPr>
          <p:cNvSpPr>
            <a:spLocks xmlns:a="http://schemas.openxmlformats.org/drawingml/2006/main" noGrp="1"/>
          </p:cNvSpPr>
          <p:nvPr/>
        </p:nvSpPr>
        <p:spPr>
          <a:xfrm xmlns:a="http://schemas.openxmlformats.org/drawingml/2006/main">
            <a:off x="1417320" y="3600450"/>
            <a:ext cx="100203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63B46"/>
                </a:solidFill>
              </a:defRPr>
            </a:defPPr>
            <a:lvl1pPr>
              <a:defRPr sz="1875" b="1">
                <a:solidFill>
                  <a:srgbClr val="163B46"/>
                </a:solidFill>
              </a:defRPr>
            </a:lvl1pPr>
            <a:lvl2pPr>
              <a:defRPr sz="1875" b="1">
                <a:solidFill>
                  <a:srgbClr val="163B46"/>
                </a:solidFill>
              </a:defRPr>
            </a:lvl2pPr>
            <a:lvl3pPr>
              <a:defRPr sz="1875" b="1">
                <a:solidFill>
                  <a:srgbClr val="163B46"/>
                </a:solidFill>
              </a:defRPr>
            </a:lvl3pPr>
            <a:lvl4pPr>
              <a:defRPr sz="1875" b="1">
                <a:solidFill>
                  <a:srgbClr val="163B46"/>
                </a:solidFill>
              </a:defRPr>
            </a:lvl4pPr>
            <a:lvl5pPr>
              <a:defRPr sz="1875" b="1">
                <a:solidFill>
                  <a:srgbClr val="163B46"/>
                </a:solidFill>
              </a:defRPr>
            </a:lvl5pPr>
            <a:lvl6pPr>
              <a:defRPr sz="1875" b="1">
                <a:solidFill>
                  <a:srgbClr val="163B46"/>
                </a:solidFill>
              </a:defRPr>
            </a:lvl6pPr>
            <a:lvl7pPr>
              <a:defRPr sz="1875" b="1">
                <a:solidFill>
                  <a:srgbClr val="163B46"/>
                </a:solidFill>
              </a:defRPr>
            </a:lvl7pPr>
            <a:lvl8pPr>
              <a:defRPr sz="1875" b="1">
                <a:solidFill>
                  <a:srgbClr val="163B46"/>
                </a:solidFill>
              </a:defRPr>
            </a:lvl8pPr>
            <a:lvl9pPr>
              <a:defRPr sz="1875" b="1">
                <a:solidFill>
                  <a:srgbClr val="163B46"/>
                </a:solidFill>
              </a:defRPr>
            </a:lvl9pPr>
          </a:lstStyle>
          <a:p xmlns:a="http://schemas.openxmlformats.org/drawingml/2006/main">
            <a:pPr>
              <a:defRPr sz="1875" b="1">
                <a:solidFill>
                  <a:srgbClr val="163B46"/>
                </a:solidFill>
              </a:defRPr>
            </a:pPr>
            <a:r>
              <a:rPr sz="1875" b="1">
                <a:solidFill>
                  <a:srgbClr val="163B46"/>
                </a:solidFill>
              </a:rPr>
              <a:t>3 min</a:t>
            </a:r>
          </a:p>
        </p:txBody>
      </p:sp>
      <p:sp>
        <p:nvSpPr>
          <p:cNvPr id="9" name="label-8">
            <a:extLst xmlns:a="http://schemas.openxmlformats.org/drawingml/2006/main">
              <a:ext uri="{FF2B5EF4-FFF2-40B4-BE49-F238E27FC236}">
                <a16:creationId xmlns:a16="http://schemas.microsoft.com/office/drawing/2014/main" id="{029BB67D-CC42-4E4C-9D9C-394F29F2206E}"/>
              </a:ext>
            </a:extLst>
          </p:cNvPr>
          <p:cNvSpPr>
            <a:spLocks xmlns:a="http://schemas.openxmlformats.org/drawingml/2006/main" noGrp="1"/>
          </p:cNvSpPr>
          <p:nvPr/>
        </p:nvSpPr>
        <p:spPr>
          <a:xfrm xmlns:a="http://schemas.openxmlformats.org/drawingml/2006/main">
            <a:off x="1417320" y="1752600"/>
            <a:ext cx="102108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63B46"/>
                </a:solidFill>
              </a:defRPr>
            </a:defPPr>
            <a:lvl1pPr>
              <a:defRPr sz="1725" b="1">
                <a:solidFill>
                  <a:srgbClr val="163B46"/>
                </a:solidFill>
              </a:defRPr>
            </a:lvl1pPr>
            <a:lvl2pPr>
              <a:defRPr sz="1725" b="1">
                <a:solidFill>
                  <a:srgbClr val="163B46"/>
                </a:solidFill>
              </a:defRPr>
            </a:lvl2pPr>
            <a:lvl3pPr>
              <a:defRPr sz="1725" b="1">
                <a:solidFill>
                  <a:srgbClr val="163B46"/>
                </a:solidFill>
              </a:defRPr>
            </a:lvl3pPr>
            <a:lvl4pPr>
              <a:defRPr sz="1725" b="1">
                <a:solidFill>
                  <a:srgbClr val="163B46"/>
                </a:solidFill>
              </a:defRPr>
            </a:lvl4pPr>
            <a:lvl5pPr>
              <a:defRPr sz="1725" b="1">
                <a:solidFill>
                  <a:srgbClr val="163B46"/>
                </a:solidFill>
              </a:defRPr>
            </a:lvl5pPr>
            <a:lvl6pPr>
              <a:defRPr sz="1725" b="1">
                <a:solidFill>
                  <a:srgbClr val="163B46"/>
                </a:solidFill>
              </a:defRPr>
            </a:lvl6pPr>
            <a:lvl7pPr>
              <a:defRPr sz="1725" b="1">
                <a:solidFill>
                  <a:srgbClr val="163B46"/>
                </a:solidFill>
              </a:defRPr>
            </a:lvl7pPr>
            <a:lvl8pPr>
              <a:defRPr sz="1725" b="1">
                <a:solidFill>
                  <a:srgbClr val="163B46"/>
                </a:solidFill>
              </a:defRPr>
            </a:lvl8pPr>
            <a:lvl9pPr>
              <a:defRPr sz="1725" b="1">
                <a:solidFill>
                  <a:srgbClr val="163B46"/>
                </a:solidFill>
              </a:defRPr>
            </a:lvl9pPr>
          </a:lstStyle>
          <a:p xmlns:a="http://schemas.openxmlformats.org/drawingml/2006/main">
            <a:pPr>
              <a:defRPr sz="1725" b="1">
                <a:solidFill>
                  <a:srgbClr val="163B46"/>
                </a:solidFill>
              </a:defRPr>
            </a:pPr>
            <a:r>
              <a:rPr sz="1725" b="1">
                <a:solidFill>
                  <a:srgbClr val="163B46"/>
                </a:solidFill>
              </a:rPr>
              <a:t>Method</a:t>
            </a:r>
          </a:p>
          <a:p xmlns:a="http://schemas.openxmlformats.org/drawingml/2006/main">
            <a:pPr>
              <a:defRPr sz="1725" b="1">
                <a:solidFill>
                  <a:srgbClr val="163B46"/>
                </a:solidFill>
              </a:defRPr>
            </a:pPr>
            <a:r>
              <a:rPr sz="1725" b="1">
                <a:solidFill>
                  <a:srgbClr val="163B46"/>
                </a:solidFill>
              </a:rPr>
              <a:t>&amp; team</a:t>
            </a:r>
          </a:p>
        </p:txBody>
      </p:sp>
      <p:sp>
        <p:nvSpPr>
          <p:cNvPr id="10" name="time-band-2">
            <a:extLst xmlns:a="http://schemas.openxmlformats.org/drawingml/2006/main">
              <a:ext uri="{FF2B5EF4-FFF2-40B4-BE49-F238E27FC236}">
                <a16:creationId xmlns:a16="http://schemas.microsoft.com/office/drawing/2014/main" id="{132DC743-EF50-4219-9AE1-68ED0F17DECD}"/>
              </a:ext>
            </a:extLst>
          </p:cNvPr>
          <p:cNvSpPr>
            <a:spLocks xmlns:a="http://schemas.openxmlformats.org/drawingml/2006/main" noGrp="1"/>
          </p:cNvSpPr>
          <p:nvPr/>
        </p:nvSpPr>
        <p:spPr>
          <a:xfrm xmlns:a="http://schemas.openxmlformats.org/drawingml/2006/main">
            <a:off x="2438400" y="2428875"/>
            <a:ext cx="4389120" cy="914400"/>
          </a:xfrm>
          <a:prstGeom xmlns:a="http://schemas.openxmlformats.org/drawingml/2006/main" prst="rect">
            <a:avLst/>
          </a:prstGeom>
          <a:solidFill xmlns:a="http://schemas.openxmlformats.org/drawingml/2006/main">
            <a:srgbClr val="007E87"/>
          </a:solidFill>
          <a:ln xmlns:a="http://schemas.openxmlformats.org/drawingml/2006/main" w="19050">
            <a:solidFill>
              <a:srgbClr val="007E87"/>
            </a:solidFill>
          </a:ln>
        </p:spPr>
      </p:sp>
      <p:sp>
        <p:nvSpPr>
          <p:cNvPr id="11" name="label-9">
            <a:extLst xmlns:a="http://schemas.openxmlformats.org/drawingml/2006/main">
              <a:ext uri="{FF2B5EF4-FFF2-40B4-BE49-F238E27FC236}">
                <a16:creationId xmlns:a16="http://schemas.microsoft.com/office/drawing/2014/main" id="{32927F1C-7B7B-4789-862F-F0088EC892D9}"/>
              </a:ext>
            </a:extLst>
          </p:cNvPr>
          <p:cNvSpPr>
            <a:spLocks xmlns:a="http://schemas.openxmlformats.org/drawingml/2006/main" noGrp="1"/>
          </p:cNvSpPr>
          <p:nvPr/>
        </p:nvSpPr>
        <p:spPr>
          <a:xfrm xmlns:a="http://schemas.openxmlformats.org/drawingml/2006/main">
            <a:off x="2514600" y="3600450"/>
            <a:ext cx="429387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007E87"/>
                </a:solidFill>
              </a:defRPr>
            </a:defPPr>
            <a:lvl1pPr>
              <a:defRPr sz="2700" b="1">
                <a:solidFill>
                  <a:srgbClr val="007E87"/>
                </a:solidFill>
              </a:defRPr>
            </a:lvl1pPr>
            <a:lvl2pPr>
              <a:defRPr sz="2700" b="1">
                <a:solidFill>
                  <a:srgbClr val="007E87"/>
                </a:solidFill>
              </a:defRPr>
            </a:lvl2pPr>
            <a:lvl3pPr>
              <a:defRPr sz="2700" b="1">
                <a:solidFill>
                  <a:srgbClr val="007E87"/>
                </a:solidFill>
              </a:defRPr>
            </a:lvl3pPr>
            <a:lvl4pPr>
              <a:defRPr sz="2700" b="1">
                <a:solidFill>
                  <a:srgbClr val="007E87"/>
                </a:solidFill>
              </a:defRPr>
            </a:lvl4pPr>
            <a:lvl5pPr>
              <a:defRPr sz="2700" b="1">
                <a:solidFill>
                  <a:srgbClr val="007E87"/>
                </a:solidFill>
              </a:defRPr>
            </a:lvl5pPr>
            <a:lvl6pPr>
              <a:defRPr sz="2700" b="1">
                <a:solidFill>
                  <a:srgbClr val="007E87"/>
                </a:solidFill>
              </a:defRPr>
            </a:lvl6pPr>
            <a:lvl7pPr>
              <a:defRPr sz="2700" b="1">
                <a:solidFill>
                  <a:srgbClr val="007E87"/>
                </a:solidFill>
              </a:defRPr>
            </a:lvl7pPr>
            <a:lvl8pPr>
              <a:defRPr sz="2700" b="1">
                <a:solidFill>
                  <a:srgbClr val="007E87"/>
                </a:solidFill>
              </a:defRPr>
            </a:lvl8pPr>
            <a:lvl9pPr>
              <a:defRPr sz="2700" b="1">
                <a:solidFill>
                  <a:srgbClr val="007E87"/>
                </a:solidFill>
              </a:defRPr>
            </a:lvl9pPr>
          </a:lstStyle>
          <a:p xmlns:a="http://schemas.openxmlformats.org/drawingml/2006/main">
            <a:pPr>
              <a:defRPr sz="2700" b="1">
                <a:solidFill>
                  <a:srgbClr val="007E87"/>
                </a:solidFill>
              </a:defRPr>
            </a:pPr>
            <a:r>
              <a:rPr sz="2700" b="1">
                <a:solidFill>
                  <a:srgbClr val="007E87"/>
                </a:solidFill>
              </a:rPr>
              <a:t>12 min</a:t>
            </a:r>
          </a:p>
        </p:txBody>
      </p:sp>
      <p:sp>
        <p:nvSpPr>
          <p:cNvPr id="12" name="label-10">
            <a:extLst xmlns:a="http://schemas.openxmlformats.org/drawingml/2006/main">
              <a:ext uri="{FF2B5EF4-FFF2-40B4-BE49-F238E27FC236}">
                <a16:creationId xmlns:a16="http://schemas.microsoft.com/office/drawing/2014/main" id="{A2C919F0-ABE6-4F06-B7C7-ED048427DA90}"/>
              </a:ext>
            </a:extLst>
          </p:cNvPr>
          <p:cNvSpPr>
            <a:spLocks xmlns:a="http://schemas.openxmlformats.org/drawingml/2006/main" noGrp="1"/>
          </p:cNvSpPr>
          <p:nvPr/>
        </p:nvSpPr>
        <p:spPr>
          <a:xfrm xmlns:a="http://schemas.openxmlformats.org/drawingml/2006/main">
            <a:off x="2514600" y="1752600"/>
            <a:ext cx="431292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3B46"/>
                </a:solidFill>
              </a:defRPr>
            </a:defPPr>
            <a:lvl1pPr>
              <a:defRPr sz="2250" b="1">
                <a:solidFill>
                  <a:srgbClr val="163B46"/>
                </a:solidFill>
              </a:defRPr>
            </a:lvl1pPr>
            <a:lvl2pPr>
              <a:defRPr sz="2250" b="1">
                <a:solidFill>
                  <a:srgbClr val="163B46"/>
                </a:solidFill>
              </a:defRPr>
            </a:lvl2pPr>
            <a:lvl3pPr>
              <a:defRPr sz="2250" b="1">
                <a:solidFill>
                  <a:srgbClr val="163B46"/>
                </a:solidFill>
              </a:defRPr>
            </a:lvl3pPr>
            <a:lvl4pPr>
              <a:defRPr sz="2250" b="1">
                <a:solidFill>
                  <a:srgbClr val="163B46"/>
                </a:solidFill>
              </a:defRPr>
            </a:lvl4pPr>
            <a:lvl5pPr>
              <a:defRPr sz="2250" b="1">
                <a:solidFill>
                  <a:srgbClr val="163B46"/>
                </a:solidFill>
              </a:defRPr>
            </a:lvl5pPr>
            <a:lvl6pPr>
              <a:defRPr sz="2250" b="1">
                <a:solidFill>
                  <a:srgbClr val="163B46"/>
                </a:solidFill>
              </a:defRPr>
            </a:lvl6pPr>
            <a:lvl7pPr>
              <a:defRPr sz="2250" b="1">
                <a:solidFill>
                  <a:srgbClr val="163B46"/>
                </a:solidFill>
              </a:defRPr>
            </a:lvl7pPr>
            <a:lvl8pPr>
              <a:defRPr sz="2250" b="1">
                <a:solidFill>
                  <a:srgbClr val="163B46"/>
                </a:solidFill>
              </a:defRPr>
            </a:lvl8pPr>
            <a:lvl9pPr>
              <a:defRPr sz="2250" b="1">
                <a:solidFill>
                  <a:srgbClr val="163B46"/>
                </a:solidFill>
              </a:defRPr>
            </a:lvl9pPr>
          </a:lstStyle>
          <a:p xmlns:a="http://schemas.openxmlformats.org/drawingml/2006/main">
            <a:pPr>
              <a:defRPr sz="2250" b="1">
                <a:solidFill>
                  <a:srgbClr val="163B46"/>
                </a:solidFill>
              </a:defRPr>
            </a:pPr>
            <a:r>
              <a:rPr sz="2250" b="1">
                <a:solidFill>
                  <a:srgbClr val="163B46"/>
                </a:solidFill>
              </a:rPr>
              <a:t>System progress</a:t>
            </a:r>
          </a:p>
        </p:txBody>
      </p:sp>
      <p:sp>
        <p:nvSpPr>
          <p:cNvPr id="13" name="time-band-3">
            <a:extLst xmlns:a="http://schemas.openxmlformats.org/drawingml/2006/main">
              <a:ext uri="{FF2B5EF4-FFF2-40B4-BE49-F238E27FC236}">
                <a16:creationId xmlns:a16="http://schemas.microsoft.com/office/drawing/2014/main" id="{C6278198-E693-4B9F-AE0A-FB96A93B3015}"/>
              </a:ext>
            </a:extLst>
          </p:cNvPr>
          <p:cNvSpPr>
            <a:spLocks xmlns:a="http://schemas.openxmlformats.org/drawingml/2006/main" noGrp="1"/>
          </p:cNvSpPr>
          <p:nvPr/>
        </p:nvSpPr>
        <p:spPr>
          <a:xfrm xmlns:a="http://schemas.openxmlformats.org/drawingml/2006/main">
            <a:off x="6827520" y="2428875"/>
            <a:ext cx="1828800" cy="914400"/>
          </a:xfrm>
          <a:prstGeom xmlns:a="http://schemas.openxmlformats.org/drawingml/2006/main" prst="rect">
            <a:avLst/>
          </a:prstGeom>
          <a:solidFill xmlns:a="http://schemas.openxmlformats.org/drawingml/2006/main">
            <a:srgbClr val="E6ECEF"/>
          </a:solidFill>
          <a:ln xmlns:a="http://schemas.openxmlformats.org/drawingml/2006/main" w="19050">
            <a:solidFill>
              <a:srgbClr val="E6ECEF"/>
            </a:solidFill>
          </a:ln>
        </p:spPr>
      </p:sp>
      <p:sp>
        <p:nvSpPr>
          <p:cNvPr id="14" name="label-11">
            <a:extLst xmlns:a="http://schemas.openxmlformats.org/drawingml/2006/main">
              <a:ext uri="{FF2B5EF4-FFF2-40B4-BE49-F238E27FC236}">
                <a16:creationId xmlns:a16="http://schemas.microsoft.com/office/drawing/2014/main" id="{C7040EAD-8526-42B9-8D0B-0AF21B7D95EF}"/>
              </a:ext>
            </a:extLst>
          </p:cNvPr>
          <p:cNvSpPr>
            <a:spLocks xmlns:a="http://schemas.openxmlformats.org/drawingml/2006/main" noGrp="1"/>
          </p:cNvSpPr>
          <p:nvPr/>
        </p:nvSpPr>
        <p:spPr>
          <a:xfrm xmlns:a="http://schemas.openxmlformats.org/drawingml/2006/main">
            <a:off x="6903720" y="3600450"/>
            <a:ext cx="173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63B46"/>
                </a:solidFill>
              </a:defRPr>
            </a:defPPr>
            <a:lvl1pPr>
              <a:defRPr sz="1875" b="1">
                <a:solidFill>
                  <a:srgbClr val="163B46"/>
                </a:solidFill>
              </a:defRPr>
            </a:lvl1pPr>
            <a:lvl2pPr>
              <a:defRPr sz="1875" b="1">
                <a:solidFill>
                  <a:srgbClr val="163B46"/>
                </a:solidFill>
              </a:defRPr>
            </a:lvl2pPr>
            <a:lvl3pPr>
              <a:defRPr sz="1875" b="1">
                <a:solidFill>
                  <a:srgbClr val="163B46"/>
                </a:solidFill>
              </a:defRPr>
            </a:lvl3pPr>
            <a:lvl4pPr>
              <a:defRPr sz="1875" b="1">
                <a:solidFill>
                  <a:srgbClr val="163B46"/>
                </a:solidFill>
              </a:defRPr>
            </a:lvl4pPr>
            <a:lvl5pPr>
              <a:defRPr sz="1875" b="1">
                <a:solidFill>
                  <a:srgbClr val="163B46"/>
                </a:solidFill>
              </a:defRPr>
            </a:lvl5pPr>
            <a:lvl6pPr>
              <a:defRPr sz="1875" b="1">
                <a:solidFill>
                  <a:srgbClr val="163B46"/>
                </a:solidFill>
              </a:defRPr>
            </a:lvl6pPr>
            <a:lvl7pPr>
              <a:defRPr sz="1875" b="1">
                <a:solidFill>
                  <a:srgbClr val="163B46"/>
                </a:solidFill>
              </a:defRPr>
            </a:lvl7pPr>
            <a:lvl8pPr>
              <a:defRPr sz="1875" b="1">
                <a:solidFill>
                  <a:srgbClr val="163B46"/>
                </a:solidFill>
              </a:defRPr>
            </a:lvl8pPr>
            <a:lvl9pPr>
              <a:defRPr sz="1875" b="1">
                <a:solidFill>
                  <a:srgbClr val="163B46"/>
                </a:solidFill>
              </a:defRPr>
            </a:lvl9pPr>
          </a:lstStyle>
          <a:p xmlns:a="http://schemas.openxmlformats.org/drawingml/2006/main">
            <a:pPr>
              <a:defRPr sz="1875" b="1">
                <a:solidFill>
                  <a:srgbClr val="163B46"/>
                </a:solidFill>
              </a:defRPr>
            </a:pPr>
            <a:r>
              <a:rPr sz="1875" b="1">
                <a:solidFill>
                  <a:srgbClr val="163B46"/>
                </a:solidFill>
              </a:rPr>
              <a:t>5 min</a:t>
            </a:r>
          </a:p>
        </p:txBody>
      </p:sp>
      <p:sp>
        <p:nvSpPr>
          <p:cNvPr id="15" name="label-12">
            <a:extLst xmlns:a="http://schemas.openxmlformats.org/drawingml/2006/main">
              <a:ext uri="{FF2B5EF4-FFF2-40B4-BE49-F238E27FC236}">
                <a16:creationId xmlns:a16="http://schemas.microsoft.com/office/drawing/2014/main" id="{F2C1F1E1-7487-48B6-86F0-7A6B2033308E}"/>
              </a:ext>
            </a:extLst>
          </p:cNvPr>
          <p:cNvSpPr>
            <a:spLocks xmlns:a="http://schemas.openxmlformats.org/drawingml/2006/main" noGrp="1"/>
          </p:cNvSpPr>
          <p:nvPr/>
        </p:nvSpPr>
        <p:spPr>
          <a:xfrm xmlns:a="http://schemas.openxmlformats.org/drawingml/2006/main">
            <a:off x="6903720" y="1752600"/>
            <a:ext cx="1752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63B46"/>
                </a:solidFill>
              </a:defRPr>
            </a:defPPr>
            <a:lvl1pPr>
              <a:defRPr sz="1725" b="1">
                <a:solidFill>
                  <a:srgbClr val="163B46"/>
                </a:solidFill>
              </a:defRPr>
            </a:lvl1pPr>
            <a:lvl2pPr>
              <a:defRPr sz="1725" b="1">
                <a:solidFill>
                  <a:srgbClr val="163B46"/>
                </a:solidFill>
              </a:defRPr>
            </a:lvl2pPr>
            <a:lvl3pPr>
              <a:defRPr sz="1725" b="1">
                <a:solidFill>
                  <a:srgbClr val="163B46"/>
                </a:solidFill>
              </a:defRPr>
            </a:lvl3pPr>
            <a:lvl4pPr>
              <a:defRPr sz="1725" b="1">
                <a:solidFill>
                  <a:srgbClr val="163B46"/>
                </a:solidFill>
              </a:defRPr>
            </a:lvl4pPr>
            <a:lvl5pPr>
              <a:defRPr sz="1725" b="1">
                <a:solidFill>
                  <a:srgbClr val="163B46"/>
                </a:solidFill>
              </a:defRPr>
            </a:lvl5pPr>
            <a:lvl6pPr>
              <a:defRPr sz="1725" b="1">
                <a:solidFill>
                  <a:srgbClr val="163B46"/>
                </a:solidFill>
              </a:defRPr>
            </a:lvl6pPr>
            <a:lvl7pPr>
              <a:defRPr sz="1725" b="1">
                <a:solidFill>
                  <a:srgbClr val="163B46"/>
                </a:solidFill>
              </a:defRPr>
            </a:lvl7pPr>
            <a:lvl8pPr>
              <a:defRPr sz="1725" b="1">
                <a:solidFill>
                  <a:srgbClr val="163B46"/>
                </a:solidFill>
              </a:defRPr>
            </a:lvl8pPr>
            <a:lvl9pPr>
              <a:defRPr sz="1725" b="1">
                <a:solidFill>
                  <a:srgbClr val="163B46"/>
                </a:solidFill>
              </a:defRPr>
            </a:lvl9pPr>
          </a:lstStyle>
          <a:p xmlns:a="http://schemas.openxmlformats.org/drawingml/2006/main">
            <a:pPr>
              <a:defRPr sz="1725" b="1">
                <a:solidFill>
                  <a:srgbClr val="163B46"/>
                </a:solidFill>
              </a:defRPr>
            </a:pPr>
            <a:r>
              <a:rPr sz="1725" b="1">
                <a:solidFill>
                  <a:srgbClr val="163B46"/>
                </a:solidFill>
              </a:rPr>
              <a:t>Plan</a:t>
            </a:r>
          </a:p>
        </p:txBody>
      </p:sp>
      <p:sp>
        <p:nvSpPr>
          <p:cNvPr id="16" name="time-band-4">
            <a:extLst xmlns:a="http://schemas.openxmlformats.org/drawingml/2006/main">
              <a:ext uri="{FF2B5EF4-FFF2-40B4-BE49-F238E27FC236}">
                <a16:creationId xmlns:a16="http://schemas.microsoft.com/office/drawing/2014/main" id="{C399198B-22E9-461B-8959-0A466D8D3C3B}"/>
              </a:ext>
            </a:extLst>
          </p:cNvPr>
          <p:cNvSpPr>
            <a:spLocks xmlns:a="http://schemas.openxmlformats.org/drawingml/2006/main" noGrp="1"/>
          </p:cNvSpPr>
          <p:nvPr/>
        </p:nvSpPr>
        <p:spPr>
          <a:xfrm xmlns:a="http://schemas.openxmlformats.org/drawingml/2006/main">
            <a:off x="8656320" y="2428875"/>
            <a:ext cx="2926080" cy="914400"/>
          </a:xfrm>
          <a:prstGeom xmlns:a="http://schemas.openxmlformats.org/drawingml/2006/main" prst="rect">
            <a:avLst/>
          </a:prstGeom>
          <a:solidFill xmlns:a="http://schemas.openxmlformats.org/drawingml/2006/main">
            <a:srgbClr val="E6ECEF"/>
          </a:solidFill>
          <a:ln xmlns:a="http://schemas.openxmlformats.org/drawingml/2006/main" w="19050">
            <a:solidFill>
              <a:srgbClr val="E6ECEF"/>
            </a:solidFill>
          </a:ln>
        </p:spPr>
      </p:sp>
      <p:sp>
        <p:nvSpPr>
          <p:cNvPr id="17" name="label-13">
            <a:extLst xmlns:a="http://schemas.openxmlformats.org/drawingml/2006/main">
              <a:ext uri="{FF2B5EF4-FFF2-40B4-BE49-F238E27FC236}">
                <a16:creationId xmlns:a16="http://schemas.microsoft.com/office/drawing/2014/main" id="{C22D2878-FC93-4694-A364-F25A2E5A3E34}"/>
              </a:ext>
            </a:extLst>
          </p:cNvPr>
          <p:cNvSpPr>
            <a:spLocks xmlns:a="http://schemas.openxmlformats.org/drawingml/2006/main" noGrp="1"/>
          </p:cNvSpPr>
          <p:nvPr/>
        </p:nvSpPr>
        <p:spPr>
          <a:xfrm xmlns:a="http://schemas.openxmlformats.org/drawingml/2006/main">
            <a:off x="8732520" y="3600450"/>
            <a:ext cx="283083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63B46"/>
                </a:solidFill>
              </a:defRPr>
            </a:defPPr>
            <a:lvl1pPr>
              <a:defRPr sz="1875" b="1">
                <a:solidFill>
                  <a:srgbClr val="163B46"/>
                </a:solidFill>
              </a:defRPr>
            </a:lvl1pPr>
            <a:lvl2pPr>
              <a:defRPr sz="1875" b="1">
                <a:solidFill>
                  <a:srgbClr val="163B46"/>
                </a:solidFill>
              </a:defRPr>
            </a:lvl2pPr>
            <a:lvl3pPr>
              <a:defRPr sz="1875" b="1">
                <a:solidFill>
                  <a:srgbClr val="163B46"/>
                </a:solidFill>
              </a:defRPr>
            </a:lvl3pPr>
            <a:lvl4pPr>
              <a:defRPr sz="1875" b="1">
                <a:solidFill>
                  <a:srgbClr val="163B46"/>
                </a:solidFill>
              </a:defRPr>
            </a:lvl4pPr>
            <a:lvl5pPr>
              <a:defRPr sz="1875" b="1">
                <a:solidFill>
                  <a:srgbClr val="163B46"/>
                </a:solidFill>
              </a:defRPr>
            </a:lvl5pPr>
            <a:lvl6pPr>
              <a:defRPr sz="1875" b="1">
                <a:solidFill>
                  <a:srgbClr val="163B46"/>
                </a:solidFill>
              </a:defRPr>
            </a:lvl6pPr>
            <a:lvl7pPr>
              <a:defRPr sz="1875" b="1">
                <a:solidFill>
                  <a:srgbClr val="163B46"/>
                </a:solidFill>
              </a:defRPr>
            </a:lvl7pPr>
            <a:lvl8pPr>
              <a:defRPr sz="1875" b="1">
                <a:solidFill>
                  <a:srgbClr val="163B46"/>
                </a:solidFill>
              </a:defRPr>
            </a:lvl8pPr>
            <a:lvl9pPr>
              <a:defRPr sz="1875" b="1">
                <a:solidFill>
                  <a:srgbClr val="163B46"/>
                </a:solidFill>
              </a:defRPr>
            </a:lvl9pPr>
          </a:lstStyle>
          <a:p xmlns:a="http://schemas.openxmlformats.org/drawingml/2006/main">
            <a:pPr>
              <a:defRPr sz="1875" b="1">
                <a:solidFill>
                  <a:srgbClr val="163B46"/>
                </a:solidFill>
              </a:defRPr>
            </a:pPr>
            <a:r>
              <a:rPr sz="1875" b="1">
                <a:solidFill>
                  <a:srgbClr val="163B46"/>
                </a:solidFill>
              </a:rPr>
              <a:t>8 min</a:t>
            </a:r>
          </a:p>
        </p:txBody>
      </p:sp>
      <p:sp>
        <p:nvSpPr>
          <p:cNvPr id="18" name="label-14">
            <a:extLst xmlns:a="http://schemas.openxmlformats.org/drawingml/2006/main">
              <a:ext uri="{FF2B5EF4-FFF2-40B4-BE49-F238E27FC236}">
                <a16:creationId xmlns:a16="http://schemas.microsoft.com/office/drawing/2014/main" id="{F58807CA-393A-48E5-A7D5-729A3364EE70}"/>
              </a:ext>
            </a:extLst>
          </p:cNvPr>
          <p:cNvSpPr>
            <a:spLocks xmlns:a="http://schemas.openxmlformats.org/drawingml/2006/main" noGrp="1"/>
          </p:cNvSpPr>
          <p:nvPr/>
        </p:nvSpPr>
        <p:spPr>
          <a:xfrm xmlns:a="http://schemas.openxmlformats.org/drawingml/2006/main">
            <a:off x="8732520" y="1752600"/>
            <a:ext cx="284988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63B46"/>
                </a:solidFill>
              </a:defRPr>
            </a:defPPr>
            <a:lvl1pPr>
              <a:defRPr sz="1725" b="1">
                <a:solidFill>
                  <a:srgbClr val="163B46"/>
                </a:solidFill>
              </a:defRPr>
            </a:lvl1pPr>
            <a:lvl2pPr>
              <a:defRPr sz="1725" b="1">
                <a:solidFill>
                  <a:srgbClr val="163B46"/>
                </a:solidFill>
              </a:defRPr>
            </a:lvl2pPr>
            <a:lvl3pPr>
              <a:defRPr sz="1725" b="1">
                <a:solidFill>
                  <a:srgbClr val="163B46"/>
                </a:solidFill>
              </a:defRPr>
            </a:lvl3pPr>
            <a:lvl4pPr>
              <a:defRPr sz="1725" b="1">
                <a:solidFill>
                  <a:srgbClr val="163B46"/>
                </a:solidFill>
              </a:defRPr>
            </a:lvl4pPr>
            <a:lvl5pPr>
              <a:defRPr sz="1725" b="1">
                <a:solidFill>
                  <a:srgbClr val="163B46"/>
                </a:solidFill>
              </a:defRPr>
            </a:lvl5pPr>
            <a:lvl6pPr>
              <a:defRPr sz="1725" b="1">
                <a:solidFill>
                  <a:srgbClr val="163B46"/>
                </a:solidFill>
              </a:defRPr>
            </a:lvl6pPr>
            <a:lvl7pPr>
              <a:defRPr sz="1725" b="1">
                <a:solidFill>
                  <a:srgbClr val="163B46"/>
                </a:solidFill>
              </a:defRPr>
            </a:lvl7pPr>
            <a:lvl8pPr>
              <a:defRPr sz="1725" b="1">
                <a:solidFill>
                  <a:srgbClr val="163B46"/>
                </a:solidFill>
              </a:defRPr>
            </a:lvl8pPr>
            <a:lvl9pPr>
              <a:defRPr sz="1725" b="1">
                <a:solidFill>
                  <a:srgbClr val="163B46"/>
                </a:solidFill>
              </a:defRPr>
            </a:lvl9pPr>
          </a:lstStyle>
          <a:p xmlns:a="http://schemas.openxmlformats.org/drawingml/2006/main">
            <a:pPr>
              <a:defRPr sz="1725" b="1">
                <a:solidFill>
                  <a:srgbClr val="163B46"/>
                </a:solidFill>
              </a:defRPr>
            </a:pPr>
            <a:r>
              <a:rPr sz="1725" b="1">
                <a:solidFill>
                  <a:srgbClr val="163B46"/>
                </a:solidFill>
              </a:rPr>
              <a:t>Discussion</a:t>
            </a:r>
          </a:p>
        </p:txBody>
      </p:sp>
      <p:sp>
        <p:nvSpPr>
          <p:cNvPr id="19" name="line-15">
            <a:extLst xmlns:a="http://schemas.openxmlformats.org/drawingml/2006/main">
              <a:ext uri="{FF2B5EF4-FFF2-40B4-BE49-F238E27FC236}">
                <a16:creationId xmlns:a16="http://schemas.microsoft.com/office/drawing/2014/main" id="{E949DA9E-9FCE-4A97-A03F-AB348AFDE3F7}"/>
              </a:ext>
            </a:extLst>
          </p:cNvPr>
          <p:cNvSpPr>
            <a:spLocks xmlns:a="http://schemas.openxmlformats.org/drawingml/2006/main" noGrp="1"/>
          </p:cNvSpPr>
          <p:nvPr/>
        </p:nvSpPr>
        <p:spPr>
          <a:xfrm xmlns:a="http://schemas.openxmlformats.org/drawingml/2006/main">
            <a:off x="609600" y="4324350"/>
            <a:ext cx="10972800" cy="19050"/>
          </a:xfrm>
          <a:prstGeom xmlns:a="http://schemas.openxmlformats.org/drawingml/2006/main" prst="rect">
            <a:avLst/>
          </a:prstGeom>
          <a:solidFill xmlns:a="http://schemas.openxmlformats.org/drawingml/2006/main">
            <a:srgbClr val="C7D6DB"/>
          </a:solidFill>
          <a:ln xmlns:a="http://schemas.openxmlformats.org/drawingml/2006/main" w="19050">
            <a:solidFill>
              <a:srgbClr val="C7D6DB"/>
            </a:solidFill>
          </a:ln>
        </p:spPr>
      </p:sp>
      <p:sp>
        <p:nvSpPr>
          <p:cNvPr id="20" name="agenda-marker">
            <a:extLst xmlns:a="http://schemas.openxmlformats.org/drawingml/2006/main">
              <a:ext uri="{FF2B5EF4-FFF2-40B4-BE49-F238E27FC236}">
                <a16:creationId xmlns:a16="http://schemas.microsoft.com/office/drawing/2014/main" id="{93AF08C4-8CF2-47E9-AC47-40A80CAED4F5}"/>
              </a:ext>
            </a:extLst>
          </p:cNvPr>
          <p:cNvSpPr>
            <a:spLocks xmlns:a="http://schemas.openxmlformats.org/drawingml/2006/main" noGrp="1"/>
          </p:cNvSpPr>
          <p:nvPr/>
        </p:nvSpPr>
        <p:spPr>
          <a:xfrm xmlns:a="http://schemas.openxmlformats.org/drawingml/2006/main">
            <a:off x="609600" y="4219575"/>
            <a:ext cx="209550" cy="209550"/>
          </a:xfrm>
          <a:prstGeom xmlns:a="http://schemas.openxmlformats.org/drawingml/2006/main" prst="ellipse">
            <a:avLst/>
          </a:prstGeom>
          <a:solidFill xmlns:a="http://schemas.openxmlformats.org/drawingml/2006/main">
            <a:srgbClr val="CB6A32"/>
          </a:solidFill>
          <a:ln xmlns:a="http://schemas.openxmlformats.org/drawingml/2006/main" w="19050">
            <a:solidFill>
              <a:srgbClr val="CB6A32"/>
            </a:solidFill>
          </a:ln>
        </p:spPr>
      </p:sp>
      <p:sp>
        <p:nvSpPr>
          <p:cNvPr id="21" name="caption">
            <a:extLst xmlns:a="http://schemas.openxmlformats.org/drawingml/2006/main">
              <a:ext uri="{FF2B5EF4-FFF2-40B4-BE49-F238E27FC236}">
                <a16:creationId xmlns:a16="http://schemas.microsoft.com/office/drawing/2014/main" id="{0FD67D20-76F8-4828-B377-F2F2331EF243}"/>
              </a:ext>
            </a:extLst>
          </p:cNvPr>
          <p:cNvSpPr>
            <a:spLocks xmlns:a="http://schemas.openxmlformats.org/drawingml/2006/main" noGrp="1"/>
          </p:cNvSpPr>
          <p:nvPr/>
        </p:nvSpPr>
        <p:spPr>
          <a:xfrm xmlns:a="http://schemas.openxmlformats.org/drawingml/2006/main">
            <a:off x="60960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8717B"/>
                </a:solidFill>
              </a:defRPr>
            </a:defPPr>
            <a:lvl1pPr>
              <a:defRPr sz="1800" b="0">
                <a:solidFill>
                  <a:srgbClr val="58717B"/>
                </a:solidFill>
              </a:defRPr>
            </a:lvl1pPr>
            <a:lvl2pPr>
              <a:defRPr sz="1800" b="0">
                <a:solidFill>
                  <a:srgbClr val="58717B"/>
                </a:solidFill>
              </a:defRPr>
            </a:lvl2pPr>
            <a:lvl3pPr>
              <a:defRPr sz="1800" b="0">
                <a:solidFill>
                  <a:srgbClr val="58717B"/>
                </a:solidFill>
              </a:defRPr>
            </a:lvl3pPr>
            <a:lvl4pPr>
              <a:defRPr sz="1800" b="0">
                <a:solidFill>
                  <a:srgbClr val="58717B"/>
                </a:solidFill>
              </a:defRPr>
            </a:lvl4pPr>
            <a:lvl5pPr>
              <a:defRPr sz="1800" b="0">
                <a:solidFill>
                  <a:srgbClr val="58717B"/>
                </a:solidFill>
              </a:defRPr>
            </a:lvl5pPr>
            <a:lvl6pPr>
              <a:defRPr sz="1800" b="0">
                <a:solidFill>
                  <a:srgbClr val="58717B"/>
                </a:solidFill>
              </a:defRPr>
            </a:lvl6pPr>
            <a:lvl7pPr>
              <a:defRPr sz="1800" b="0">
                <a:solidFill>
                  <a:srgbClr val="58717B"/>
                </a:solidFill>
              </a:defRPr>
            </a:lvl7pPr>
            <a:lvl8pPr>
              <a:defRPr sz="1800" b="0">
                <a:solidFill>
                  <a:srgbClr val="58717B"/>
                </a:solidFill>
              </a:defRPr>
            </a:lvl8pPr>
            <a:lvl9pPr>
              <a:defRPr sz="1800" b="0">
                <a:solidFill>
                  <a:srgbClr val="58717B"/>
                </a:solidFill>
              </a:defRPr>
            </a:lvl9pPr>
          </a:lstStyle>
          <a:p xmlns:a="http://schemas.openxmlformats.org/drawingml/2006/main">
            <a:pPr>
              <a:defRPr sz="1800" b="0">
                <a:solidFill>
                  <a:srgbClr val="58717B"/>
                </a:solidFill>
              </a:defRPr>
            </a:pPr>
            <a:r>
              <a:rPr sz="1800" b="0">
                <a:solidFill>
                  <a:srgbClr val="58717B"/>
                </a:solidFill>
              </a:rPr>
              <a:t>System progress has the largest slot. Total: 30 minutes.</a:t>
            </a:r>
          </a:p>
        </p:txBody>
      </p:sp>
    </p:spTree>
    <p:extLst>
      <p:ext uri="{BB962C8B-B14F-4D97-AF65-F5344CB8AC3E}">
        <p14:creationId xmlns:p14="http://schemas.microsoft.com/office/powerpoint/2010/main" val="1030648844"/>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060000 0.000000 E" pathEditMode="relative" rAng="0">
                                      <p:cBhvr additive="base">
                                        <p:cTn id="6" dur="700" fill="hold" accel="12000" decel="12000"/>
                                        <p:tgtEl>
                                          <p:spTgt spid="2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fill="hold" nodeType="clickEffect">
                                  <p:stCondLst>
                                    <p:cond delay="0"/>
                                  </p:stCondLst>
                                  <p:childTnLst>
                                    <p:animMotion origin="layout" path="M 0.060000 0.000000 L 0.150000 0.000000 E" pathEditMode="relative" rAng="0">
                                      <p:cBhvr additive="base">
                                        <p:cTn id="10" dur="700" fill="hold" accel="12000" decel="12000"/>
                                        <p:tgtEl>
                                          <p:spTgt spid="20"/>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fill="hold" nodeType="clickEffect">
                                  <p:stCondLst>
                                    <p:cond delay="0"/>
                                  </p:stCondLst>
                                  <p:childTnLst>
                                    <p:animMotion origin="layout" path="M 0.150000 0.000000 L 0.510000 0.000000 E" pathEditMode="relative" rAng="0">
                                      <p:cBhvr additive="base">
                                        <p:cTn id="14" dur="700" fill="hold" accel="12000" decel="12000"/>
                                        <p:tgtEl>
                                          <p:spTgt spid="20"/>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fill="hold" nodeType="clickEffect">
                                  <p:stCondLst>
                                    <p:cond delay="0"/>
                                  </p:stCondLst>
                                  <p:childTnLst>
                                    <p:animMotion origin="layout" path="M 0.510000 0.000000 L 0.660000 0.000000 E" pathEditMode="relative" rAng="0">
                                      <p:cBhvr additive="base">
                                        <p:cTn id="18" dur="700" fill="hold" accel="12000" decel="12000"/>
                                        <p:tgtEl>
                                          <p:spTgt spid="2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BE17203-44D9-47D1-A3AF-4549A4306A72}"/>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63B46"/>
                </a:solidFill>
              </a:defRPr>
            </a:defPPr>
            <a:lvl1pPr>
              <a:defRPr sz="3450" b="1">
                <a:solidFill>
                  <a:srgbClr val="163B46"/>
                </a:solidFill>
              </a:defRPr>
            </a:lvl1pPr>
            <a:lvl2pPr>
              <a:defRPr sz="3450" b="1">
                <a:solidFill>
                  <a:srgbClr val="163B46"/>
                </a:solidFill>
              </a:defRPr>
            </a:lvl2pPr>
            <a:lvl3pPr>
              <a:defRPr sz="3450" b="1">
                <a:solidFill>
                  <a:srgbClr val="163B46"/>
                </a:solidFill>
              </a:defRPr>
            </a:lvl3pPr>
            <a:lvl4pPr>
              <a:defRPr sz="3450" b="1">
                <a:solidFill>
                  <a:srgbClr val="163B46"/>
                </a:solidFill>
              </a:defRPr>
            </a:lvl4pPr>
            <a:lvl5pPr>
              <a:defRPr sz="3450" b="1">
                <a:solidFill>
                  <a:srgbClr val="163B46"/>
                </a:solidFill>
              </a:defRPr>
            </a:lvl5pPr>
            <a:lvl6pPr>
              <a:defRPr sz="3450" b="1">
                <a:solidFill>
                  <a:srgbClr val="163B46"/>
                </a:solidFill>
              </a:defRPr>
            </a:lvl6pPr>
            <a:lvl7pPr>
              <a:defRPr sz="3450" b="1">
                <a:solidFill>
                  <a:srgbClr val="163B46"/>
                </a:solidFill>
              </a:defRPr>
            </a:lvl7pPr>
            <a:lvl8pPr>
              <a:defRPr sz="3450" b="1">
                <a:solidFill>
                  <a:srgbClr val="163B46"/>
                </a:solidFill>
              </a:defRPr>
            </a:lvl8pPr>
            <a:lvl9pPr>
              <a:defRPr sz="3450" b="1">
                <a:solidFill>
                  <a:srgbClr val="163B46"/>
                </a:solidFill>
              </a:defRPr>
            </a:lvl9pPr>
          </a:lstStyle>
          <a:p xmlns:a="http://schemas.openxmlformats.org/drawingml/2006/main">
            <a:pPr>
              <a:defRPr sz="3450" b="1">
                <a:solidFill>
                  <a:srgbClr val="163B46"/>
                </a:solidFill>
              </a:defRPr>
            </a:pPr>
            <a:r>
              <a:rPr sz="3450" b="1">
                <a:solidFill>
                  <a:srgbClr val="163B46"/>
                </a:solidFill>
              </a:rPr>
              <a:t>Receiver idea</a:t>
            </a:r>
          </a:p>
        </p:txBody>
      </p:sp>
      <p:sp>
        <p:nvSpPr>
          <p:cNvPr id="3" name="page">
            <a:extLst xmlns:a="http://schemas.openxmlformats.org/drawingml/2006/main">
              <a:ext uri="{FF2B5EF4-FFF2-40B4-BE49-F238E27FC236}">
                <a16:creationId xmlns:a16="http://schemas.microsoft.com/office/drawing/2014/main" id="{0DA521B1-560C-4A44-A314-6A3370753B2D}"/>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03</a:t>
            </a:r>
          </a:p>
        </p:txBody>
      </p:sp>
      <p:sp>
        <p:nvSpPr>
          <p:cNvPr id="4" name="rx-0">
            <a:extLst xmlns:a="http://schemas.openxmlformats.org/drawingml/2006/main">
              <a:ext uri="{FF2B5EF4-FFF2-40B4-BE49-F238E27FC236}">
                <a16:creationId xmlns:a16="http://schemas.microsoft.com/office/drawing/2014/main" id="{90CD2EDF-13D2-4031-935A-F60DCB23B10D}"/>
              </a:ext>
            </a:extLst>
          </p:cNvPr>
          <p:cNvSpPr>
            <a:spLocks xmlns:a="http://schemas.openxmlformats.org/drawingml/2006/main" noGrp="1"/>
          </p:cNvSpPr>
          <p:nvPr/>
        </p:nvSpPr>
        <p:spPr>
          <a:xfrm xmlns:a="http://schemas.openxmlformats.org/drawingml/2006/main">
            <a:off x="609600" y="2333625"/>
            <a:ext cx="1885950" cy="952500"/>
          </a:xfrm>
          <a:prstGeom xmlns:a="http://schemas.openxmlformats.org/drawingml/2006/main" prst="roundRect">
            <a:avLst>
              <a:gd name="adj" fmla="val 8000"/>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PAM-N</a:t>
            </a:r>
          </a:p>
          <a:p xmlns:a="http://schemas.openxmlformats.org/drawingml/2006/main">
            <a:pPr algn="ctr">
              <a:defRPr sz="1950" b="1">
                <a:solidFill>
                  <a:srgbClr val="163B46"/>
                </a:solidFill>
              </a:defRPr>
            </a:pPr>
            <a:r>
              <a:rPr sz="1950" b="1">
                <a:solidFill>
                  <a:srgbClr val="163B46"/>
                </a:solidFill>
              </a:rPr>
              <a:t>source</a:t>
            </a:r>
          </a:p>
        </p:txBody>
      </p:sp>
      <p:sp>
        <p:nvSpPr>
          <p:cNvPr id="5" name="arrow-16">
            <a:extLst xmlns:a="http://schemas.openxmlformats.org/drawingml/2006/main">
              <a:ext uri="{FF2B5EF4-FFF2-40B4-BE49-F238E27FC236}">
                <a16:creationId xmlns:a16="http://schemas.microsoft.com/office/drawing/2014/main" id="{4B6CBC07-0488-4300-8FB8-2ED3BDAF73B3}"/>
              </a:ext>
            </a:extLst>
          </p:cNvPr>
          <p:cNvSpPr>
            <a:spLocks xmlns:a="http://schemas.openxmlformats.org/drawingml/2006/main" noGrp="1"/>
          </p:cNvSpPr>
          <p:nvPr/>
        </p:nvSpPr>
        <p:spPr>
          <a:xfrm xmlns:a="http://schemas.openxmlformats.org/drawingml/2006/main">
            <a:off x="2552700" y="2733675"/>
            <a:ext cx="209550" cy="152400"/>
          </a:xfrm>
          <a:prstGeom xmlns:a="http://schemas.openxmlformats.org/drawingml/2006/main" prst="rightArrow">
            <a:avLst/>
          </a:prstGeom>
          <a:solidFill xmlns:a="http://schemas.openxmlformats.org/drawingml/2006/main">
            <a:srgbClr val="C7D6DB"/>
          </a:solidFill>
          <a:ln xmlns:a="http://schemas.openxmlformats.org/drawingml/2006/main" w="19050">
            <a:solidFill>
              <a:srgbClr val="C7D6DB"/>
            </a:solidFill>
          </a:ln>
        </p:spPr>
      </p:sp>
      <p:sp>
        <p:nvSpPr>
          <p:cNvPr id="6" name="rx-1">
            <a:extLst xmlns:a="http://schemas.openxmlformats.org/drawingml/2006/main">
              <a:ext uri="{FF2B5EF4-FFF2-40B4-BE49-F238E27FC236}">
                <a16:creationId xmlns:a16="http://schemas.microsoft.com/office/drawing/2014/main" id="{C6CD30E4-6669-4AE2-8052-5ABC63E96F0C}"/>
              </a:ext>
            </a:extLst>
          </p:cNvPr>
          <p:cNvSpPr>
            <a:spLocks xmlns:a="http://schemas.openxmlformats.org/drawingml/2006/main" noGrp="1"/>
          </p:cNvSpPr>
          <p:nvPr/>
        </p:nvSpPr>
        <p:spPr>
          <a:xfrm xmlns:a="http://schemas.openxmlformats.org/drawingml/2006/main">
            <a:off x="2819400" y="2333625"/>
            <a:ext cx="1885950" cy="952500"/>
          </a:xfrm>
          <a:prstGeom xmlns:a="http://schemas.openxmlformats.org/drawingml/2006/main" prst="roundRect">
            <a:avLst>
              <a:gd name="adj" fmla="val 8000"/>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Channel</a:t>
            </a:r>
          </a:p>
        </p:txBody>
      </p:sp>
      <p:sp>
        <p:nvSpPr>
          <p:cNvPr id="7" name="arrow-17">
            <a:extLst xmlns:a="http://schemas.openxmlformats.org/drawingml/2006/main">
              <a:ext uri="{FF2B5EF4-FFF2-40B4-BE49-F238E27FC236}">
                <a16:creationId xmlns:a16="http://schemas.microsoft.com/office/drawing/2014/main" id="{743B8CD5-3519-41FA-8236-180333C09B67}"/>
              </a:ext>
            </a:extLst>
          </p:cNvPr>
          <p:cNvSpPr>
            <a:spLocks xmlns:a="http://schemas.openxmlformats.org/drawingml/2006/main" noGrp="1"/>
          </p:cNvSpPr>
          <p:nvPr/>
        </p:nvSpPr>
        <p:spPr>
          <a:xfrm xmlns:a="http://schemas.openxmlformats.org/drawingml/2006/main">
            <a:off x="4762500" y="2733675"/>
            <a:ext cx="209550" cy="152400"/>
          </a:xfrm>
          <a:prstGeom xmlns:a="http://schemas.openxmlformats.org/drawingml/2006/main" prst="rightArrow">
            <a:avLst/>
          </a:prstGeom>
          <a:solidFill xmlns:a="http://schemas.openxmlformats.org/drawingml/2006/main">
            <a:srgbClr val="C7D6DB"/>
          </a:solidFill>
          <a:ln xmlns:a="http://schemas.openxmlformats.org/drawingml/2006/main" w="19050">
            <a:solidFill>
              <a:srgbClr val="C7D6DB"/>
            </a:solidFill>
          </a:ln>
        </p:spPr>
      </p:sp>
      <p:sp>
        <p:nvSpPr>
          <p:cNvPr id="8" name="rx-2">
            <a:extLst xmlns:a="http://schemas.openxmlformats.org/drawingml/2006/main">
              <a:ext uri="{FF2B5EF4-FFF2-40B4-BE49-F238E27FC236}">
                <a16:creationId xmlns:a16="http://schemas.microsoft.com/office/drawing/2014/main" id="{3BD7D27A-9A1D-4593-B623-B4819DAE45B8}"/>
              </a:ext>
            </a:extLst>
          </p:cNvPr>
          <p:cNvSpPr>
            <a:spLocks xmlns:a="http://schemas.openxmlformats.org/drawingml/2006/main" noGrp="1"/>
          </p:cNvSpPr>
          <p:nvPr/>
        </p:nvSpPr>
        <p:spPr>
          <a:xfrm xmlns:a="http://schemas.openxmlformats.org/drawingml/2006/main">
            <a:off x="5029200" y="2333625"/>
            <a:ext cx="1885950" cy="952500"/>
          </a:xfrm>
          <a:prstGeom xmlns:a="http://schemas.openxmlformats.org/drawingml/2006/main" prst="roundRect">
            <a:avLst>
              <a:gd name="adj" fmla="val 8000"/>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ADC / AFE</a:t>
            </a:r>
          </a:p>
        </p:txBody>
      </p:sp>
      <p:sp>
        <p:nvSpPr>
          <p:cNvPr id="9" name="arrow-18">
            <a:extLst xmlns:a="http://schemas.openxmlformats.org/drawingml/2006/main">
              <a:ext uri="{FF2B5EF4-FFF2-40B4-BE49-F238E27FC236}">
                <a16:creationId xmlns:a16="http://schemas.microsoft.com/office/drawing/2014/main" id="{145FCB15-6EEA-462F-B164-720115064035}"/>
              </a:ext>
            </a:extLst>
          </p:cNvPr>
          <p:cNvSpPr>
            <a:spLocks xmlns:a="http://schemas.openxmlformats.org/drawingml/2006/main" noGrp="1"/>
          </p:cNvSpPr>
          <p:nvPr/>
        </p:nvSpPr>
        <p:spPr>
          <a:xfrm xmlns:a="http://schemas.openxmlformats.org/drawingml/2006/main">
            <a:off x="6972300" y="2733675"/>
            <a:ext cx="209550" cy="152400"/>
          </a:xfrm>
          <a:prstGeom xmlns:a="http://schemas.openxmlformats.org/drawingml/2006/main" prst="rightArrow">
            <a:avLst/>
          </a:prstGeom>
          <a:solidFill xmlns:a="http://schemas.openxmlformats.org/drawingml/2006/main">
            <a:srgbClr val="C7D6DB"/>
          </a:solidFill>
          <a:ln xmlns:a="http://schemas.openxmlformats.org/drawingml/2006/main" w="19050">
            <a:solidFill>
              <a:srgbClr val="C7D6DB"/>
            </a:solidFill>
          </a:ln>
        </p:spPr>
      </p:sp>
      <p:sp>
        <p:nvSpPr>
          <p:cNvPr id="10" name="rx-3">
            <a:extLst xmlns:a="http://schemas.openxmlformats.org/drawingml/2006/main">
              <a:ext uri="{FF2B5EF4-FFF2-40B4-BE49-F238E27FC236}">
                <a16:creationId xmlns:a16="http://schemas.microsoft.com/office/drawing/2014/main" id="{5751D248-5C38-434D-82FA-A0B0F2B5406B}"/>
              </a:ext>
            </a:extLst>
          </p:cNvPr>
          <p:cNvSpPr>
            <a:spLocks xmlns:a="http://schemas.openxmlformats.org/drawingml/2006/main" noGrp="1"/>
          </p:cNvSpPr>
          <p:nvPr/>
        </p:nvSpPr>
        <p:spPr>
          <a:xfrm xmlns:a="http://schemas.openxmlformats.org/drawingml/2006/main">
            <a:off x="7239000" y="2333625"/>
            <a:ext cx="1885950" cy="952500"/>
          </a:xfrm>
          <a:prstGeom xmlns:a="http://schemas.openxmlformats.org/drawingml/2006/main" prst="roundRect">
            <a:avLst>
              <a:gd name="adj" fmla="val 8000"/>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DFE</a:t>
            </a:r>
          </a:p>
        </p:txBody>
      </p:sp>
      <p:sp>
        <p:nvSpPr>
          <p:cNvPr id="11" name="arrow-19">
            <a:extLst xmlns:a="http://schemas.openxmlformats.org/drawingml/2006/main">
              <a:ext uri="{FF2B5EF4-FFF2-40B4-BE49-F238E27FC236}">
                <a16:creationId xmlns:a16="http://schemas.microsoft.com/office/drawing/2014/main" id="{B0BF5EDE-76AE-4F0D-99F6-86CEA3F66FB5}"/>
              </a:ext>
            </a:extLst>
          </p:cNvPr>
          <p:cNvSpPr>
            <a:spLocks xmlns:a="http://schemas.openxmlformats.org/drawingml/2006/main" noGrp="1"/>
          </p:cNvSpPr>
          <p:nvPr/>
        </p:nvSpPr>
        <p:spPr>
          <a:xfrm xmlns:a="http://schemas.openxmlformats.org/drawingml/2006/main">
            <a:off x="9182100" y="2733675"/>
            <a:ext cx="209550" cy="152400"/>
          </a:xfrm>
          <a:prstGeom xmlns:a="http://schemas.openxmlformats.org/drawingml/2006/main" prst="rightArrow">
            <a:avLst/>
          </a:prstGeom>
          <a:solidFill xmlns:a="http://schemas.openxmlformats.org/drawingml/2006/main">
            <a:srgbClr val="C7D6DB"/>
          </a:solidFill>
          <a:ln xmlns:a="http://schemas.openxmlformats.org/drawingml/2006/main" w="19050">
            <a:solidFill>
              <a:srgbClr val="C7D6DB"/>
            </a:solidFill>
          </a:ln>
        </p:spPr>
      </p:sp>
      <p:sp>
        <p:nvSpPr>
          <p:cNvPr id="12" name="rx-4">
            <a:extLst xmlns:a="http://schemas.openxmlformats.org/drawingml/2006/main">
              <a:ext uri="{FF2B5EF4-FFF2-40B4-BE49-F238E27FC236}">
                <a16:creationId xmlns:a16="http://schemas.microsoft.com/office/drawing/2014/main" id="{2490A509-7FAD-4F44-AA28-9049BF47F6C3}"/>
              </a:ext>
            </a:extLst>
          </p:cNvPr>
          <p:cNvSpPr>
            <a:spLocks xmlns:a="http://schemas.openxmlformats.org/drawingml/2006/main" noGrp="1"/>
          </p:cNvSpPr>
          <p:nvPr/>
        </p:nvSpPr>
        <p:spPr>
          <a:xfrm xmlns:a="http://schemas.openxmlformats.org/drawingml/2006/main">
            <a:off x="9448800" y="2333625"/>
            <a:ext cx="1885950" cy="952500"/>
          </a:xfrm>
          <a:prstGeom xmlns:a="http://schemas.openxmlformats.org/drawingml/2006/main" prst="roundRect">
            <a:avLst>
              <a:gd name="adj" fmla="val 8000"/>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Decisions</a:t>
            </a:r>
          </a:p>
        </p:txBody>
      </p:sp>
      <p:sp>
        <p:nvSpPr>
          <p:cNvPr id="13" name="controller">
            <a:extLst xmlns:a="http://schemas.openxmlformats.org/drawingml/2006/main">
              <a:ext uri="{FF2B5EF4-FFF2-40B4-BE49-F238E27FC236}">
                <a16:creationId xmlns:a16="http://schemas.microsoft.com/office/drawing/2014/main" id="{F6D56F79-0A19-4D2E-8C9C-F06D945BF4F4}"/>
              </a:ext>
            </a:extLst>
          </p:cNvPr>
          <p:cNvSpPr>
            <a:spLocks xmlns:a="http://schemas.openxmlformats.org/drawingml/2006/main" noGrp="1"/>
          </p:cNvSpPr>
          <p:nvPr/>
        </p:nvSpPr>
        <p:spPr>
          <a:xfrm xmlns:a="http://schemas.openxmlformats.org/drawingml/2006/main">
            <a:off x="4857750" y="4286250"/>
            <a:ext cx="2381250" cy="781050"/>
          </a:xfrm>
          <a:prstGeom xmlns:a="http://schemas.openxmlformats.org/drawingml/2006/main" prst="roundRect">
            <a:avLst>
              <a:gd name="adj" fmla="val 9756"/>
            </a:avLst>
          </a:prstGeom>
          <a:solidFill xmlns:a="http://schemas.openxmlformats.org/drawingml/2006/main">
            <a:srgbClr val="FBF0E7"/>
          </a:solidFill>
          <a:ln xmlns:a="http://schemas.openxmlformats.org/drawingml/2006/main" w="19050">
            <a:solidFill>
              <a:srgbClr val="CB6A32"/>
            </a:solidFill>
          </a:ln>
        </p:spPr>
        <p:txBody>
          <a:bodyPr xmlns:a="http://schemas.openxmlformats.org/drawingml/2006/main" lIns="76200" tIns="76200" rIns="76200" bIns="76200" anchor="ctr"/>
          <a:lstStyle xmlns:a="http://schemas.openxmlformats.org/drawingml/2006/main">
            <a:defPPr algn="ctr">
              <a:defRPr sz="2100" b="1">
                <a:solidFill>
                  <a:srgbClr val="163B46"/>
                </a:solidFill>
              </a:defRPr>
            </a:defPPr>
            <a:lvl1pPr algn="ctr">
              <a:defRPr sz="2100" b="1">
                <a:solidFill>
                  <a:srgbClr val="163B46"/>
                </a:solidFill>
              </a:defRPr>
            </a:lvl1pPr>
            <a:lvl2pPr algn="ctr">
              <a:defRPr sz="2100" b="1">
                <a:solidFill>
                  <a:srgbClr val="163B46"/>
                </a:solidFill>
              </a:defRPr>
            </a:lvl2pPr>
            <a:lvl3pPr algn="ctr">
              <a:defRPr sz="2100" b="1">
                <a:solidFill>
                  <a:srgbClr val="163B46"/>
                </a:solidFill>
              </a:defRPr>
            </a:lvl3pPr>
            <a:lvl4pPr algn="ctr">
              <a:defRPr sz="2100" b="1">
                <a:solidFill>
                  <a:srgbClr val="163B46"/>
                </a:solidFill>
              </a:defRPr>
            </a:lvl4pPr>
            <a:lvl5pPr algn="ctr">
              <a:defRPr sz="2100" b="1">
                <a:solidFill>
                  <a:srgbClr val="163B46"/>
                </a:solidFill>
              </a:defRPr>
            </a:lvl5pPr>
            <a:lvl6pPr algn="ctr">
              <a:defRPr sz="2100" b="1">
                <a:solidFill>
                  <a:srgbClr val="163B46"/>
                </a:solidFill>
              </a:defRPr>
            </a:lvl6pPr>
            <a:lvl7pPr algn="ctr">
              <a:defRPr sz="2100" b="1">
                <a:solidFill>
                  <a:srgbClr val="163B46"/>
                </a:solidFill>
              </a:defRPr>
            </a:lvl7pPr>
            <a:lvl8pPr algn="ctr">
              <a:defRPr sz="2100" b="1">
                <a:solidFill>
                  <a:srgbClr val="163B46"/>
                </a:solidFill>
              </a:defRPr>
            </a:lvl8pPr>
            <a:lvl9pPr algn="ctr">
              <a:defRPr sz="2100" b="1">
                <a:solidFill>
                  <a:srgbClr val="163B46"/>
                </a:solidFill>
              </a:defRPr>
            </a:lvl9pPr>
          </a:lstStyle>
          <a:p xmlns:a="http://schemas.openxmlformats.org/drawingml/2006/main">
            <a:pPr algn="ctr">
              <a:defRPr sz="2100" b="1">
                <a:solidFill>
                  <a:srgbClr val="163B46"/>
                </a:solidFill>
              </a:defRPr>
            </a:pPr>
            <a:r>
              <a:rPr sz="2100" b="1">
                <a:solidFill>
                  <a:srgbClr val="163B46"/>
                </a:solidFill>
              </a:rPr>
              <a:t>Mode controller</a:t>
            </a:r>
          </a:p>
        </p:txBody>
      </p:sp>
      <p:sp>
        <p:nvSpPr>
          <p:cNvPr id="14" name="supply-model">
            <a:extLst xmlns:a="http://schemas.openxmlformats.org/drawingml/2006/main">
              <a:ext uri="{FF2B5EF4-FFF2-40B4-BE49-F238E27FC236}">
                <a16:creationId xmlns:a16="http://schemas.microsoft.com/office/drawing/2014/main" id="{62566430-1924-4471-BFE6-278922BA0269}"/>
              </a:ext>
            </a:extLst>
          </p:cNvPr>
          <p:cNvSpPr>
            <a:spLocks xmlns:a="http://schemas.openxmlformats.org/drawingml/2006/main" noGrp="1"/>
          </p:cNvSpPr>
          <p:nvPr/>
        </p:nvSpPr>
        <p:spPr>
          <a:xfrm xmlns:a="http://schemas.openxmlformats.org/drawingml/2006/main">
            <a:off x="609600" y="4286250"/>
            <a:ext cx="2476500" cy="781050"/>
          </a:xfrm>
          <a:prstGeom xmlns:a="http://schemas.openxmlformats.org/drawingml/2006/main" prst="roundRect">
            <a:avLst>
              <a:gd name="adj" fmla="val 9756"/>
            </a:avLst>
          </a:prstGeom>
          <a:solidFill xmlns:a="http://schemas.openxmlformats.org/drawingml/2006/main">
            <a:srgbClr val="FCFDFD"/>
          </a:solidFill>
          <a:ln xmlns:a="http://schemas.openxmlformats.org/drawingml/2006/main" w="19050">
            <a:solidFill>
              <a:srgbClr val="CB6A32"/>
            </a:solidFill>
          </a:ln>
        </p:spPr>
        <p:txBody>
          <a:bodyPr xmlns:a="http://schemas.openxmlformats.org/drawingml/2006/main" lIns="76200" tIns="76200" rIns="76200" bIns="76200" anchor="ctr"/>
          <a:lstStyle xmlns:a="http://schemas.openxmlformats.org/drawingml/2006/main">
            <a:defPPr algn="ctr">
              <a:defRPr sz="2025" b="1">
                <a:solidFill>
                  <a:srgbClr val="163B46"/>
                </a:solidFill>
              </a:defRPr>
            </a:defPPr>
            <a:lvl1pPr algn="ctr">
              <a:defRPr sz="2025" b="1">
                <a:solidFill>
                  <a:srgbClr val="163B46"/>
                </a:solidFill>
              </a:defRPr>
            </a:lvl1pPr>
            <a:lvl2pPr algn="ctr">
              <a:defRPr sz="2025" b="1">
                <a:solidFill>
                  <a:srgbClr val="163B46"/>
                </a:solidFill>
              </a:defRPr>
            </a:lvl2pPr>
            <a:lvl3pPr algn="ctr">
              <a:defRPr sz="2025" b="1">
                <a:solidFill>
                  <a:srgbClr val="163B46"/>
                </a:solidFill>
              </a:defRPr>
            </a:lvl3pPr>
            <a:lvl4pPr algn="ctr">
              <a:defRPr sz="2025" b="1">
                <a:solidFill>
                  <a:srgbClr val="163B46"/>
                </a:solidFill>
              </a:defRPr>
            </a:lvl4pPr>
            <a:lvl5pPr algn="ctr">
              <a:defRPr sz="2025" b="1">
                <a:solidFill>
                  <a:srgbClr val="163B46"/>
                </a:solidFill>
              </a:defRPr>
            </a:lvl5pPr>
            <a:lvl6pPr algn="ctr">
              <a:defRPr sz="2025" b="1">
                <a:solidFill>
                  <a:srgbClr val="163B46"/>
                </a:solidFill>
              </a:defRPr>
            </a:lvl6pPr>
            <a:lvl7pPr algn="ctr">
              <a:defRPr sz="2025" b="1">
                <a:solidFill>
                  <a:srgbClr val="163B46"/>
                </a:solidFill>
              </a:defRPr>
            </a:lvl7pPr>
            <a:lvl8pPr algn="ctr">
              <a:defRPr sz="2025" b="1">
                <a:solidFill>
                  <a:srgbClr val="163B46"/>
                </a:solidFill>
              </a:defRPr>
            </a:lvl8pPr>
            <a:lvl9pPr algn="ctr">
              <a:defRPr sz="2025" b="1">
                <a:solidFill>
                  <a:srgbClr val="163B46"/>
                </a:solidFill>
              </a:defRPr>
            </a:lvl9pPr>
          </a:lstStyle>
          <a:p xmlns:a="http://schemas.openxmlformats.org/drawingml/2006/main">
            <a:pPr algn="ctr">
              <a:defRPr sz="2025" b="1">
                <a:solidFill>
                  <a:srgbClr val="163B46"/>
                </a:solidFill>
              </a:defRPr>
            </a:pPr>
            <a:r>
              <a:rPr sz="2025" b="1">
                <a:solidFill>
                  <a:srgbClr val="163B46"/>
                </a:solidFill>
              </a:rPr>
              <a:t>Supply model</a:t>
            </a:r>
          </a:p>
        </p:txBody>
      </p:sp>
      <p:sp>
        <p:nvSpPr>
          <p:cNvPr id="15" name="arrow-20">
            <a:extLst xmlns:a="http://schemas.openxmlformats.org/drawingml/2006/main">
              <a:ext uri="{FF2B5EF4-FFF2-40B4-BE49-F238E27FC236}">
                <a16:creationId xmlns:a16="http://schemas.microsoft.com/office/drawing/2014/main" id="{0C31688D-A30E-4D91-9377-175F41C0F99D}"/>
              </a:ext>
            </a:extLst>
          </p:cNvPr>
          <p:cNvSpPr>
            <a:spLocks xmlns:a="http://schemas.openxmlformats.org/drawingml/2006/main" noGrp="1"/>
          </p:cNvSpPr>
          <p:nvPr/>
        </p:nvSpPr>
        <p:spPr>
          <a:xfrm xmlns:a="http://schemas.openxmlformats.org/drawingml/2006/main">
            <a:off x="3238500" y="4600575"/>
            <a:ext cx="1428750" cy="152400"/>
          </a:xfrm>
          <a:prstGeom xmlns:a="http://schemas.openxmlformats.org/drawingml/2006/main" prst="rightArrow">
            <a:avLst/>
          </a:prstGeom>
          <a:solidFill xmlns:a="http://schemas.openxmlformats.org/drawingml/2006/main">
            <a:srgbClr val="CB6A32"/>
          </a:solidFill>
          <a:ln xmlns:a="http://schemas.openxmlformats.org/drawingml/2006/main" w="19050">
            <a:solidFill>
              <a:srgbClr val="CB6A32"/>
            </a:solidFill>
          </a:ln>
        </p:spPr>
      </p:sp>
      <p:sp>
        <p:nvSpPr>
          <p:cNvPr id="16" name="line-21">
            <a:extLst xmlns:a="http://schemas.openxmlformats.org/drawingml/2006/main">
              <a:ext uri="{FF2B5EF4-FFF2-40B4-BE49-F238E27FC236}">
                <a16:creationId xmlns:a16="http://schemas.microsoft.com/office/drawing/2014/main" id="{E887FC2F-9D3F-4E9D-835D-D0C1441926AA}"/>
              </a:ext>
            </a:extLst>
          </p:cNvPr>
          <p:cNvSpPr>
            <a:spLocks xmlns:a="http://schemas.openxmlformats.org/drawingml/2006/main" noGrp="1"/>
          </p:cNvSpPr>
          <p:nvPr/>
        </p:nvSpPr>
        <p:spPr>
          <a:xfrm xmlns:a="http://schemas.openxmlformats.org/drawingml/2006/main">
            <a:off x="7181850" y="4638675"/>
            <a:ext cx="1733550" cy="28575"/>
          </a:xfrm>
          <a:prstGeom xmlns:a="http://schemas.openxmlformats.org/drawingml/2006/main" prst="rect">
            <a:avLst/>
          </a:prstGeom>
          <a:solidFill xmlns:a="http://schemas.openxmlformats.org/drawingml/2006/main">
            <a:srgbClr val="CB6A32"/>
          </a:solidFill>
          <a:ln xmlns:a="http://schemas.openxmlformats.org/drawingml/2006/main" w="19050">
            <a:solidFill>
              <a:srgbClr val="CB6A32"/>
            </a:solidFill>
          </a:ln>
        </p:spPr>
      </p:sp>
      <p:sp>
        <p:nvSpPr>
          <p:cNvPr id="17" name="line-22">
            <a:extLst xmlns:a="http://schemas.openxmlformats.org/drawingml/2006/main">
              <a:ext uri="{FF2B5EF4-FFF2-40B4-BE49-F238E27FC236}">
                <a16:creationId xmlns:a16="http://schemas.microsoft.com/office/drawing/2014/main" id="{C9EE5305-7026-43CE-9E61-CCBC5FD681E6}"/>
              </a:ext>
            </a:extLst>
          </p:cNvPr>
          <p:cNvSpPr>
            <a:spLocks xmlns:a="http://schemas.openxmlformats.org/drawingml/2006/main" noGrp="1"/>
          </p:cNvSpPr>
          <p:nvPr/>
        </p:nvSpPr>
        <p:spPr>
          <a:xfrm xmlns:a="http://schemas.openxmlformats.org/drawingml/2006/main">
            <a:off x="8877300" y="3286125"/>
            <a:ext cx="28575" cy="1362075"/>
          </a:xfrm>
          <a:prstGeom xmlns:a="http://schemas.openxmlformats.org/drawingml/2006/main" prst="rect">
            <a:avLst/>
          </a:prstGeom>
          <a:solidFill xmlns:a="http://schemas.openxmlformats.org/drawingml/2006/main">
            <a:srgbClr val="CB6A32"/>
          </a:solidFill>
          <a:ln xmlns:a="http://schemas.openxmlformats.org/drawingml/2006/main" w="19050">
            <a:solidFill>
              <a:srgbClr val="CB6A32"/>
            </a:solidFill>
          </a:ln>
        </p:spPr>
      </p:sp>
      <p:sp>
        <p:nvSpPr>
          <p:cNvPr id="18" name="label-23">
            <a:extLst xmlns:a="http://schemas.openxmlformats.org/drawingml/2006/main">
              <a:ext uri="{FF2B5EF4-FFF2-40B4-BE49-F238E27FC236}">
                <a16:creationId xmlns:a16="http://schemas.microsoft.com/office/drawing/2014/main" id="{9367C1F3-3BC8-4210-94C2-F96F2D8469F0}"/>
              </a:ext>
            </a:extLst>
          </p:cNvPr>
          <p:cNvSpPr>
            <a:spLocks xmlns:a="http://schemas.openxmlformats.org/drawingml/2006/main" noGrp="1"/>
          </p:cNvSpPr>
          <p:nvPr/>
        </p:nvSpPr>
        <p:spPr>
          <a:xfrm xmlns:a="http://schemas.openxmlformats.org/drawingml/2006/main">
            <a:off x="4762500" y="52959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8717B"/>
                </a:solidFill>
              </a:defRPr>
            </a:defPPr>
            <a:lvl1pPr>
              <a:defRPr sz="1875" b="0">
                <a:solidFill>
                  <a:srgbClr val="58717B"/>
                </a:solidFill>
              </a:defRPr>
            </a:lvl1pPr>
            <a:lvl2pPr>
              <a:defRPr sz="1875" b="0">
                <a:solidFill>
                  <a:srgbClr val="58717B"/>
                </a:solidFill>
              </a:defRPr>
            </a:lvl2pPr>
            <a:lvl3pPr>
              <a:defRPr sz="1875" b="0">
                <a:solidFill>
                  <a:srgbClr val="58717B"/>
                </a:solidFill>
              </a:defRPr>
            </a:lvl3pPr>
            <a:lvl4pPr>
              <a:defRPr sz="1875" b="0">
                <a:solidFill>
                  <a:srgbClr val="58717B"/>
                </a:solidFill>
              </a:defRPr>
            </a:lvl4pPr>
            <a:lvl5pPr>
              <a:defRPr sz="1875" b="0">
                <a:solidFill>
                  <a:srgbClr val="58717B"/>
                </a:solidFill>
              </a:defRPr>
            </a:lvl5pPr>
            <a:lvl6pPr>
              <a:defRPr sz="1875" b="0">
                <a:solidFill>
                  <a:srgbClr val="58717B"/>
                </a:solidFill>
              </a:defRPr>
            </a:lvl6pPr>
            <a:lvl7pPr>
              <a:defRPr sz="1875" b="0">
                <a:solidFill>
                  <a:srgbClr val="58717B"/>
                </a:solidFill>
              </a:defRPr>
            </a:lvl7pPr>
            <a:lvl8pPr>
              <a:defRPr sz="1875" b="0">
                <a:solidFill>
                  <a:srgbClr val="58717B"/>
                </a:solidFill>
              </a:defRPr>
            </a:lvl8pPr>
            <a:lvl9pPr>
              <a:defRPr sz="1875" b="0">
                <a:solidFill>
                  <a:srgbClr val="58717B"/>
                </a:solidFill>
              </a:defRPr>
            </a:lvl9pPr>
          </a:lstStyle>
          <a:p xmlns:a="http://schemas.openxmlformats.org/drawingml/2006/main">
            <a:pPr>
              <a:defRPr sz="1875" b="0">
                <a:solidFill>
                  <a:srgbClr val="58717B"/>
                </a:solidFill>
              </a:defRPr>
            </a:pPr>
            <a:r>
              <a:rPr sz="1875" b="0">
                <a:solidFill>
                  <a:srgbClr val="58717B"/>
                </a:solidFill>
              </a:rPr>
              <a:t>channel quality + supply status</a:t>
            </a:r>
          </a:p>
        </p:txBody>
      </p:sp>
      <p:sp>
        <p:nvSpPr>
          <p:cNvPr id="19" name="rx-data">
            <a:extLst xmlns:a="http://schemas.openxmlformats.org/drawingml/2006/main">
              <a:ext uri="{FF2B5EF4-FFF2-40B4-BE49-F238E27FC236}">
                <a16:creationId xmlns:a16="http://schemas.microsoft.com/office/drawing/2014/main" id="{6EF4B871-CAED-4DB7-9A69-0807C877982D}"/>
              </a:ext>
            </a:extLst>
          </p:cNvPr>
          <p:cNvSpPr>
            <a:spLocks xmlns:a="http://schemas.openxmlformats.org/drawingml/2006/main" noGrp="1"/>
          </p:cNvSpPr>
          <p:nvPr/>
        </p:nvSpPr>
        <p:spPr>
          <a:xfrm xmlns:a="http://schemas.openxmlformats.org/drawingml/2006/main">
            <a:off x="1400175" y="3429000"/>
            <a:ext cx="304800" cy="209550"/>
          </a:xfrm>
          <a:prstGeom xmlns:a="http://schemas.openxmlformats.org/drawingml/2006/main" prst="roundRect">
            <a:avLst>
              <a:gd name="adj" fmla="val 36364"/>
            </a:avLst>
          </a:prstGeom>
          <a:solidFill xmlns:a="http://schemas.openxmlformats.org/drawingml/2006/main">
            <a:srgbClr val="CB6A32"/>
          </a:solidFill>
          <a:ln xmlns:a="http://schemas.openxmlformats.org/drawingml/2006/main" w="19050">
            <a:solidFill>
              <a:srgbClr val="CB6A32"/>
            </a:solidFill>
          </a:ln>
        </p:spPr>
      </p:sp>
      <p:sp>
        <p:nvSpPr>
          <p:cNvPr id="20" name="feedback-token">
            <a:extLst xmlns:a="http://schemas.openxmlformats.org/drawingml/2006/main">
              <a:ext uri="{FF2B5EF4-FFF2-40B4-BE49-F238E27FC236}">
                <a16:creationId xmlns:a16="http://schemas.microsoft.com/office/drawing/2014/main" id="{EBE31DE7-953A-4D18-ADD6-2E53C12EF0D0}"/>
              </a:ext>
            </a:extLst>
          </p:cNvPr>
          <p:cNvSpPr>
            <a:spLocks xmlns:a="http://schemas.openxmlformats.org/drawingml/2006/main" noGrp="1"/>
          </p:cNvSpPr>
          <p:nvPr/>
        </p:nvSpPr>
        <p:spPr>
          <a:xfrm xmlns:a="http://schemas.openxmlformats.org/drawingml/2006/main">
            <a:off x="8839200" y="3314700"/>
            <a:ext cx="171450" cy="171450"/>
          </a:xfrm>
          <a:prstGeom xmlns:a="http://schemas.openxmlformats.org/drawingml/2006/main" prst="ellipse">
            <a:avLst/>
          </a:prstGeom>
          <a:solidFill xmlns:a="http://schemas.openxmlformats.org/drawingml/2006/main">
            <a:srgbClr val="326BBD"/>
          </a:solidFill>
          <a:ln xmlns:a="http://schemas.openxmlformats.org/drawingml/2006/main" w="19050">
            <a:solidFill>
              <a:srgbClr val="326BBD"/>
            </a:solidFill>
          </a:ln>
        </p:spPr>
      </p:sp>
      <p:sp>
        <p:nvSpPr>
          <p:cNvPr id="21" name="caption">
            <a:extLst xmlns:a="http://schemas.openxmlformats.org/drawingml/2006/main">
              <a:ext uri="{FF2B5EF4-FFF2-40B4-BE49-F238E27FC236}">
                <a16:creationId xmlns:a16="http://schemas.microsoft.com/office/drawing/2014/main" id="{73D0F6CD-86F6-49FD-914A-61C0C5042573}"/>
              </a:ext>
            </a:extLst>
          </p:cNvPr>
          <p:cNvSpPr>
            <a:spLocks xmlns:a="http://schemas.openxmlformats.org/drawingml/2006/main" noGrp="1"/>
          </p:cNvSpPr>
          <p:nvPr/>
        </p:nvSpPr>
        <p:spPr>
          <a:xfrm xmlns:a="http://schemas.openxmlformats.org/drawingml/2006/main">
            <a:off x="60960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007E87"/>
                </a:solidFill>
              </a:defRPr>
            </a:defPPr>
            <a:lvl1pPr>
              <a:defRPr sz="1800" b="0">
                <a:solidFill>
                  <a:srgbClr val="007E87"/>
                </a:solidFill>
              </a:defRPr>
            </a:lvl1pPr>
            <a:lvl2pPr>
              <a:defRPr sz="1800" b="0">
                <a:solidFill>
                  <a:srgbClr val="007E87"/>
                </a:solidFill>
              </a:defRPr>
            </a:lvl2pPr>
            <a:lvl3pPr>
              <a:defRPr sz="1800" b="0">
                <a:solidFill>
                  <a:srgbClr val="007E87"/>
                </a:solidFill>
              </a:defRPr>
            </a:lvl3pPr>
            <a:lvl4pPr>
              <a:defRPr sz="1800" b="0">
                <a:solidFill>
                  <a:srgbClr val="007E87"/>
                </a:solidFill>
              </a:defRPr>
            </a:lvl4pPr>
            <a:lvl5pPr>
              <a:defRPr sz="1800" b="0">
                <a:solidFill>
                  <a:srgbClr val="007E87"/>
                </a:solidFill>
              </a:defRPr>
            </a:lvl5pPr>
            <a:lvl6pPr>
              <a:defRPr sz="1800" b="0">
                <a:solidFill>
                  <a:srgbClr val="007E87"/>
                </a:solidFill>
              </a:defRPr>
            </a:lvl6pPr>
            <a:lvl7pPr>
              <a:defRPr sz="1800" b="0">
                <a:solidFill>
                  <a:srgbClr val="007E87"/>
                </a:solidFill>
              </a:defRPr>
            </a:lvl7pPr>
            <a:lvl8pPr>
              <a:defRPr sz="1800" b="0">
                <a:solidFill>
                  <a:srgbClr val="007E87"/>
                </a:solidFill>
              </a:defRPr>
            </a:lvl8pPr>
            <a:lvl9pPr>
              <a:defRPr sz="1800" b="0">
                <a:solidFill>
                  <a:srgbClr val="007E87"/>
                </a:solidFill>
              </a:defRPr>
            </a:lvl9pPr>
          </a:lstStyle>
          <a:p xmlns:a="http://schemas.openxmlformats.org/drawingml/2006/main">
            <a:pPr>
              <a:defRPr sz="1800" b="0">
                <a:solidFill>
                  <a:srgbClr val="007E87"/>
                </a:solidFill>
              </a:defRPr>
            </a:pPr>
            <a:r>
              <a:rPr sz="1800" b="0">
                <a:solidFill>
                  <a:srgbClr val="007E87"/>
                </a:solidFill>
              </a:rPr>
              <a:t>Research question: less energy per recovered bit at the required BER.</a:t>
            </a:r>
          </a:p>
        </p:txBody>
      </p:sp>
    </p:spTree>
    <p:extLst>
      <p:ext uri="{BB962C8B-B14F-4D97-AF65-F5344CB8AC3E}">
        <p14:creationId xmlns:p14="http://schemas.microsoft.com/office/powerpoint/2010/main" val="897403208"/>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181250 0.000000 E" pathEditMode="relative" rAng="0">
                                      <p:cBhvr additive="base">
                                        <p:cTn id="6" dur="850" fill="hold" accel="12000" decel="12000"/>
                                        <p:tgtEl>
                                          <p:spTgt spid="1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fill="hold" nodeType="clickEffect">
                                  <p:stCondLst>
                                    <p:cond delay="0"/>
                                  </p:stCondLst>
                                  <p:childTnLst>
                                    <p:animMotion origin="layout" path="M 0.181250 0.000000 L 0.362500 0.000000 E" pathEditMode="relative" rAng="0">
                                      <p:cBhvr additive="base">
                                        <p:cTn id="10" dur="850" fill="hold" accel="12000" decel="12000"/>
                                        <p:tgtEl>
                                          <p:spTgt spid="19"/>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fill="hold" nodeType="clickEffect">
                                  <p:stCondLst>
                                    <p:cond delay="0"/>
                                  </p:stCondLst>
                                  <p:childTnLst>
                                    <p:animMotion origin="layout" path="M 0.362500 0.000000 L 0.543750 0.000000 E" pathEditMode="relative" rAng="0">
                                      <p:cBhvr additive="base">
                                        <p:cTn id="14" dur="850" fill="hold" accel="12000" decel="12000"/>
                                        <p:tgtEl>
                                          <p:spTgt spid="19"/>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fill="hold" nodeType="clickEffect">
                                  <p:stCondLst>
                                    <p:cond delay="0"/>
                                  </p:stCondLst>
                                  <p:childTnLst>
                                    <p:animMotion origin="layout" path="M 0.543750 0.000000 L 0.725000 0.000000 E" pathEditMode="relative" rAng="0">
                                      <p:cBhvr additive="base">
                                        <p:cTn id="18" dur="850" fill="hold" accel="12000" decel="12000"/>
                                        <p:tgtEl>
                                          <p:spTgt spid="19"/>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0" presetClass="path" presetSubtype="0" fill="hold" nodeType="clickEffect">
                                  <p:stCondLst>
                                    <p:cond delay="0"/>
                                  </p:stCondLst>
                                  <p:childTnLst>
                                    <p:animMotion origin="layout" path="M 0.000000 0.000000 L 0.000000 0.181944 L -0.229687 0.181944 L -0.229687 0.029167 L 0.000000 0.029167 E" pathEditMode="relative" rAng="0">
                                      <p:cBhvr additive="base">
                                        <p:cTn id="22" dur="1700" fill="hold" accel="12000" decel="12000"/>
                                        <p:tgtEl>
                                          <p:spTgt spid="2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D6700F7-3A5A-42D9-B274-96F6DA45130E}"/>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63B46"/>
                </a:solidFill>
              </a:defRPr>
            </a:defPPr>
            <a:lvl1pPr>
              <a:defRPr sz="3450" b="1">
                <a:solidFill>
                  <a:srgbClr val="163B46"/>
                </a:solidFill>
              </a:defRPr>
            </a:lvl1pPr>
            <a:lvl2pPr>
              <a:defRPr sz="3450" b="1">
                <a:solidFill>
                  <a:srgbClr val="163B46"/>
                </a:solidFill>
              </a:defRPr>
            </a:lvl2pPr>
            <a:lvl3pPr>
              <a:defRPr sz="3450" b="1">
                <a:solidFill>
                  <a:srgbClr val="163B46"/>
                </a:solidFill>
              </a:defRPr>
            </a:lvl3pPr>
            <a:lvl4pPr>
              <a:defRPr sz="3450" b="1">
                <a:solidFill>
                  <a:srgbClr val="163B46"/>
                </a:solidFill>
              </a:defRPr>
            </a:lvl4pPr>
            <a:lvl5pPr>
              <a:defRPr sz="3450" b="1">
                <a:solidFill>
                  <a:srgbClr val="163B46"/>
                </a:solidFill>
              </a:defRPr>
            </a:lvl5pPr>
            <a:lvl6pPr>
              <a:defRPr sz="3450" b="1">
                <a:solidFill>
                  <a:srgbClr val="163B46"/>
                </a:solidFill>
              </a:defRPr>
            </a:lvl6pPr>
            <a:lvl7pPr>
              <a:defRPr sz="3450" b="1">
                <a:solidFill>
                  <a:srgbClr val="163B46"/>
                </a:solidFill>
              </a:defRPr>
            </a:lvl7pPr>
            <a:lvl8pPr>
              <a:defRPr sz="3450" b="1">
                <a:solidFill>
                  <a:srgbClr val="163B46"/>
                </a:solidFill>
              </a:defRPr>
            </a:lvl8pPr>
            <a:lvl9pPr>
              <a:defRPr sz="3450" b="1">
                <a:solidFill>
                  <a:srgbClr val="163B46"/>
                </a:solidFill>
              </a:defRPr>
            </a:lvl9pPr>
          </a:lstStyle>
          <a:p xmlns:a="http://schemas.openxmlformats.org/drawingml/2006/main">
            <a:pPr>
              <a:defRPr sz="3450" b="1">
                <a:solidFill>
                  <a:srgbClr val="163B46"/>
                </a:solidFill>
              </a:defRPr>
            </a:pPr>
            <a:r>
              <a:rPr sz="3450" b="1">
                <a:solidFill>
                  <a:srgbClr val="163B46"/>
                </a:solidFill>
              </a:rPr>
              <a:t>Four fair comparisons</a:t>
            </a:r>
          </a:p>
        </p:txBody>
      </p:sp>
      <p:sp>
        <p:nvSpPr>
          <p:cNvPr id="3" name="page">
            <a:extLst xmlns:a="http://schemas.openxmlformats.org/drawingml/2006/main">
              <a:ext uri="{FF2B5EF4-FFF2-40B4-BE49-F238E27FC236}">
                <a16:creationId xmlns:a16="http://schemas.microsoft.com/office/drawing/2014/main" id="{EF7A15A6-6668-4CF9-988F-69CB311FC9F5}"/>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04</a:t>
            </a:r>
          </a:p>
        </p:txBody>
      </p:sp>
      <p:graphicFrame>
        <p:nvGraphicFramePr>
          <p:cNvPr id="4" name="">
            <a:extLst xmlns:a="http://schemas.openxmlformats.org/drawingml/2006/main">
              <a:ext uri="{FF2B5EF4-FFF2-40B4-BE49-F238E27FC236}">
                <a16:creationId xmlns:a16="http://schemas.microsoft.com/office/drawing/2014/main" id="{48FB55DA-7098-480F-83D8-0E24B311B24D}"/>
              </a:ext>
            </a:extLst>
          </p:cNvPr>
          <p:cNvGraphicFramePr/>
          <p:nvPr/>
        </p:nvGraphicFramePr>
        <p:xfrm>
          <a:off xmlns:a="http://schemas.openxmlformats.org/drawingml/2006/main" x="609600" y="1905000"/>
          <a:ext xmlns:a="http://schemas.openxmlformats.org/drawingml/2006/main" cx="10744200" cy="3352800"/>
        </p:xfrm>
        <a:graphic xmlns:a="http://schemas.openxmlformats.org/drawingml/2006/main">
          <a:graphicData uri="http://schemas.openxmlformats.org/drawingml/2006/table">
            <a:tbl>
              <a:tblPr/>
              <a:tblGrid>
                <a:gridCol w="3429000"/>
                <a:gridCol w="3657600"/>
                <a:gridCol w="3657600"/>
              </a:tblGrid>
              <a:tr h="1117600">
                <a:tc>
                  <a:txBody>
                    <a:bodyPr/>
                    <a:lstStyle/>
                    <a:p>
                      <a:r>
                        <a:rPr sz="2025" b="0">
                          <a:solidFill>
                            <a:srgbClr val="163B46"/>
                          </a:solidFill>
                        </a:rPr>
                        <a:t/>
                      </a:r>
                    </a:p>
                  </a:txBody>
                  <a:tcPr marL="91440" marR="91440" marT="45720" marB="45720">
                    <a:lnL w="28575">
                      <a:solidFill>
                        <a:srgbClr val="FFFFFF"/>
                      </a:solidFill>
                    </a:lnL>
                    <a:lnR w="28575">
                      <a:solidFill>
                        <a:srgbClr val="FFFFFF"/>
                      </a:solidFill>
                    </a:lnR>
                    <a:lnT w="28575">
                      <a:solidFill>
                        <a:srgbClr val="FFFFFF"/>
                      </a:solidFill>
                    </a:lnT>
                    <a:lnB w="28575">
                      <a:solidFill>
                        <a:srgbClr val="FFFFFF"/>
                      </a:solidFill>
                    </a:lnB>
                    <a:solidFill>
                      <a:srgbClr val="FCFDFD"/>
                    </a:solidFill>
                  </a:tcPr>
                </a:tc>
                <a:tc>
                  <a:txBody>
                    <a:bodyPr/>
                    <a:lstStyle/>
                    <a:p>
                      <a:r>
                        <a:rPr sz="2025" b="0">
                          <a:solidFill>
                            <a:srgbClr val="163B46"/>
                          </a:solidFill>
                        </a:rPr>
                        <a:t>Fixed DFE</a:t>
                      </a:r>
                    </a:p>
                  </a:txBody>
                  <a:tcPr marL="91440" marR="91440" marT="45720" marB="45720">
                    <a:lnR w="28575">
                      <a:solidFill>
                        <a:srgbClr val="FFFFFF"/>
                      </a:solidFill>
                    </a:lnR>
                    <a:lnT w="28575">
                      <a:solidFill>
                        <a:srgbClr val="FFFFFF"/>
                      </a:solidFill>
                    </a:lnT>
                    <a:lnB w="28575">
                      <a:solidFill>
                        <a:srgbClr val="FFFFFF"/>
                      </a:solidFill>
                    </a:lnB>
                    <a:solidFill>
                      <a:srgbClr val="FCFDFD"/>
                    </a:solidFill>
                  </a:tcPr>
                </a:tc>
                <a:tc>
                  <a:txBody>
                    <a:bodyPr/>
                    <a:lstStyle/>
                    <a:p>
                      <a:r>
                        <a:rPr sz="2025" b="0">
                          <a:solidFill>
                            <a:srgbClr val="163B46"/>
                          </a:solidFill>
                        </a:rPr>
                        <a:t>Adaptive DFE</a:t>
                      </a:r>
                    </a:p>
                  </a:txBody>
                  <a:tcPr marL="91440" marR="91440" marT="45720" marB="45720">
                    <a:lnR w="28575">
                      <a:solidFill>
                        <a:srgbClr val="FFFFFF"/>
                      </a:solidFill>
                    </a:lnR>
                    <a:lnT w="28575">
                      <a:solidFill>
                        <a:srgbClr val="FFFFFF"/>
                      </a:solidFill>
                    </a:lnT>
                    <a:lnB w="28575">
                      <a:solidFill>
                        <a:srgbClr val="FFFFFF"/>
                      </a:solidFill>
                    </a:lnB>
                    <a:solidFill>
                      <a:srgbClr val="FCFDFD"/>
                    </a:solidFill>
                  </a:tcPr>
                </a:tc>
              </a:tr>
              <a:tr h="1117600">
                <a:tc>
                  <a:txBody>
                    <a:bodyPr/>
                    <a:lstStyle/>
                    <a:p>
                      <a:r>
                        <a:rPr sz="2025" b="0">
                          <a:solidFill>
                            <a:srgbClr val="163B46"/>
                          </a:solidFill>
                        </a:rPr>
                        <a:t>Fixed supply control</a:t>
                      </a:r>
                    </a:p>
                  </a:txBody>
                  <a:tcPr marL="91440" marR="91440" marT="45720" marB="45720">
                    <a:lnL w="28575">
                      <a:solidFill>
                        <a:srgbClr val="FFFFFF"/>
                      </a:solidFill>
                    </a:lnL>
                    <a:lnR w="28575">
                      <a:solidFill>
                        <a:srgbClr val="FFFFFF"/>
                      </a:solidFill>
                    </a:lnR>
                    <a:lnB w="28575">
                      <a:solidFill>
                        <a:srgbClr val="FFFFFF"/>
                      </a:solidFill>
                    </a:lnB>
                    <a:solidFill>
                      <a:srgbClr val="FCFDFD"/>
                    </a:solidFill>
                  </a:tcPr>
                </a:tc>
                <a:tc>
                  <a:txBody>
                    <a:bodyPr/>
                    <a:lstStyle/>
                    <a:p>
                      <a:r>
                        <a:rPr sz="4275" b="1">
                          <a:solidFill>
                            <a:srgbClr val="163B46"/>
                          </a:solidFill>
                        </a:rPr>
                        <a:t>A</a:t>
                      </a:r>
                    </a:p>
                  </a:txBody>
                  <a:tcPr marL="91440" marR="91440" marT="45720" marB="45720">
                    <a:lnR w="28575">
                      <a:solidFill>
                        <a:srgbClr val="FFFFFF"/>
                      </a:solidFill>
                    </a:lnR>
                    <a:lnB w="28575">
                      <a:solidFill>
                        <a:srgbClr val="FFFFFF"/>
                      </a:solidFill>
                    </a:lnB>
                    <a:solidFill>
                      <a:srgbClr val="F2F5F6"/>
                    </a:solidFill>
                  </a:tcPr>
                </a:tc>
                <a:tc>
                  <a:txBody>
                    <a:bodyPr/>
                    <a:lstStyle/>
                    <a:p>
                      <a:r>
                        <a:rPr sz="4275" b="1">
                          <a:solidFill>
                            <a:srgbClr val="163B46"/>
                          </a:solidFill>
                        </a:rPr>
                        <a:t>B</a:t>
                      </a:r>
                    </a:p>
                  </a:txBody>
                  <a:tcPr marL="91440" marR="91440" marT="45720" marB="45720">
                    <a:lnR w="28575">
                      <a:solidFill>
                        <a:srgbClr val="FFFFFF"/>
                      </a:solidFill>
                    </a:lnR>
                    <a:lnB w="28575">
                      <a:solidFill>
                        <a:srgbClr val="FFFFFF"/>
                      </a:solidFill>
                    </a:lnB>
                    <a:solidFill>
                      <a:srgbClr val="F2F5F6"/>
                    </a:solidFill>
                  </a:tcPr>
                </a:tc>
              </a:tr>
              <a:tr h="1117600">
                <a:tc>
                  <a:txBody>
                    <a:bodyPr/>
                    <a:lstStyle/>
                    <a:p>
                      <a:r>
                        <a:rPr sz="2025" b="0">
                          <a:solidFill>
                            <a:srgbClr val="163B46"/>
                          </a:solidFill>
                        </a:rPr>
                        <a:t>Supply-aware control</a:t>
                      </a:r>
                    </a:p>
                  </a:txBody>
                  <a:tcPr marL="91440" marR="91440" marT="45720" marB="45720">
                    <a:lnL w="28575">
                      <a:solidFill>
                        <a:srgbClr val="FFFFFF"/>
                      </a:solidFill>
                    </a:lnL>
                    <a:lnR w="28575">
                      <a:solidFill>
                        <a:srgbClr val="FFFFFF"/>
                      </a:solidFill>
                    </a:lnR>
                    <a:lnB w="28575">
                      <a:solidFill>
                        <a:srgbClr val="FFFFFF"/>
                      </a:solidFill>
                    </a:lnB>
                    <a:solidFill>
                      <a:srgbClr val="FCFDFD"/>
                    </a:solidFill>
                  </a:tcPr>
                </a:tc>
                <a:tc>
                  <a:txBody>
                    <a:bodyPr/>
                    <a:lstStyle/>
                    <a:p>
                      <a:r>
                        <a:rPr sz="4275" b="1">
                          <a:solidFill>
                            <a:srgbClr val="163B46"/>
                          </a:solidFill>
                        </a:rPr>
                        <a:t>C</a:t>
                      </a:r>
                    </a:p>
                  </a:txBody>
                  <a:tcPr marL="91440" marR="91440" marT="45720" marB="45720">
                    <a:lnR w="28575">
                      <a:solidFill>
                        <a:srgbClr val="FFFFFF"/>
                      </a:solidFill>
                    </a:lnR>
                    <a:lnB w="28575">
                      <a:solidFill>
                        <a:srgbClr val="FFFFFF"/>
                      </a:solidFill>
                    </a:lnB>
                    <a:solidFill>
                      <a:srgbClr val="F2F5F6"/>
                    </a:solidFill>
                  </a:tcPr>
                </a:tc>
                <a:tc>
                  <a:txBody>
                    <a:bodyPr/>
                    <a:lstStyle/>
                    <a:p>
                      <a:r>
                        <a:rPr sz="4275" b="1">
                          <a:solidFill>
                            <a:srgbClr val="007E87"/>
                          </a:solidFill>
                        </a:rPr>
                        <a:t>D</a:t>
                      </a:r>
                    </a:p>
                  </a:txBody>
                  <a:tcPr marL="91440" marR="91440" marT="45720" marB="45720">
                    <a:lnR w="28575">
                      <a:solidFill>
                        <a:srgbClr val="FFFFFF"/>
                      </a:solidFill>
                    </a:lnR>
                    <a:lnB w="28575">
                      <a:solidFill>
                        <a:srgbClr val="FFFFFF"/>
                      </a:solidFill>
                    </a:lnB>
                    <a:solidFill>
                      <a:srgbClr val="EAF4F4"/>
                    </a:solidFill>
                  </a:tcPr>
                </a:tc>
              </a:tr>
            </a:tbl>
          </a:graphicData>
        </a:graphic>
      </p:graphicFrame>
      <p:sp>
        <p:nvSpPr>
          <p:cNvPr id="5" name="experiment-token">
            <a:extLst xmlns:a="http://schemas.openxmlformats.org/drawingml/2006/main">
              <a:ext uri="{FF2B5EF4-FFF2-40B4-BE49-F238E27FC236}">
                <a16:creationId xmlns:a16="http://schemas.microsoft.com/office/drawing/2014/main" id="{B60C1C30-95DC-46CF-BB78-AECB942599A2}"/>
              </a:ext>
            </a:extLst>
          </p:cNvPr>
          <p:cNvSpPr>
            <a:spLocks xmlns:a="http://schemas.openxmlformats.org/drawingml/2006/main" noGrp="1"/>
          </p:cNvSpPr>
          <p:nvPr/>
        </p:nvSpPr>
        <p:spPr>
          <a:xfrm xmlns:a="http://schemas.openxmlformats.org/drawingml/2006/main">
            <a:off x="5657850" y="3219450"/>
            <a:ext cx="190500" cy="190500"/>
          </a:xfrm>
          <a:prstGeom xmlns:a="http://schemas.openxmlformats.org/drawingml/2006/main" prst="ellipse">
            <a:avLst/>
          </a:prstGeom>
          <a:solidFill xmlns:a="http://schemas.openxmlformats.org/drawingml/2006/main">
            <a:srgbClr val="CB6A32"/>
          </a:solidFill>
          <a:ln xmlns:a="http://schemas.openxmlformats.org/drawingml/2006/main" w="19050">
            <a:solidFill>
              <a:srgbClr val="CB6A32"/>
            </a:solidFill>
          </a:ln>
        </p:spPr>
      </p:sp>
      <p:sp>
        <p:nvSpPr>
          <p:cNvPr id="6" name="caption">
            <a:extLst xmlns:a="http://schemas.openxmlformats.org/drawingml/2006/main">
              <a:ext uri="{FF2B5EF4-FFF2-40B4-BE49-F238E27FC236}">
                <a16:creationId xmlns:a16="http://schemas.microsoft.com/office/drawing/2014/main" id="{AC6F2362-0DB8-4E5A-85FA-B801CCB196C4}"/>
              </a:ext>
            </a:extLst>
          </p:cNvPr>
          <p:cNvSpPr>
            <a:spLocks xmlns:a="http://schemas.openxmlformats.org/drawingml/2006/main" noGrp="1"/>
          </p:cNvSpPr>
          <p:nvPr/>
        </p:nvSpPr>
        <p:spPr>
          <a:xfrm xmlns:a="http://schemas.openxmlformats.org/drawingml/2006/main">
            <a:off x="60960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8717B"/>
                </a:solidFill>
              </a:defRPr>
            </a:defPPr>
            <a:lvl1pPr>
              <a:defRPr sz="1800" b="0">
                <a:solidFill>
                  <a:srgbClr val="58717B"/>
                </a:solidFill>
              </a:defRPr>
            </a:lvl1pPr>
            <a:lvl2pPr>
              <a:defRPr sz="1800" b="0">
                <a:solidFill>
                  <a:srgbClr val="58717B"/>
                </a:solidFill>
              </a:defRPr>
            </a:lvl2pPr>
            <a:lvl3pPr>
              <a:defRPr sz="1800" b="0">
                <a:solidFill>
                  <a:srgbClr val="58717B"/>
                </a:solidFill>
              </a:defRPr>
            </a:lvl3pPr>
            <a:lvl4pPr>
              <a:defRPr sz="1800" b="0">
                <a:solidFill>
                  <a:srgbClr val="58717B"/>
                </a:solidFill>
              </a:defRPr>
            </a:lvl4pPr>
            <a:lvl5pPr>
              <a:defRPr sz="1800" b="0">
                <a:solidFill>
                  <a:srgbClr val="58717B"/>
                </a:solidFill>
              </a:defRPr>
            </a:lvl5pPr>
            <a:lvl6pPr>
              <a:defRPr sz="1800" b="0">
                <a:solidFill>
                  <a:srgbClr val="58717B"/>
                </a:solidFill>
              </a:defRPr>
            </a:lvl6pPr>
            <a:lvl7pPr>
              <a:defRPr sz="1800" b="0">
                <a:solidFill>
                  <a:srgbClr val="58717B"/>
                </a:solidFill>
              </a:defRPr>
            </a:lvl7pPr>
            <a:lvl8pPr>
              <a:defRPr sz="1800" b="0">
                <a:solidFill>
                  <a:srgbClr val="58717B"/>
                </a:solidFill>
              </a:defRPr>
            </a:lvl8pPr>
            <a:lvl9pPr>
              <a:defRPr sz="1800" b="0">
                <a:solidFill>
                  <a:srgbClr val="58717B"/>
                </a:solidFill>
              </a:defRPr>
            </a:lvl9pPr>
          </a:lstStyle>
          <a:p xmlns:a="http://schemas.openxmlformats.org/drawingml/2006/main">
            <a:pPr>
              <a:defRPr sz="1800" b="0">
                <a:solidFill>
                  <a:srgbClr val="58717B"/>
                </a:solidFill>
              </a:defRPr>
            </a:pPr>
            <a:r>
              <a:rPr sz="1800" b="0">
                <a:solidFill>
                  <a:srgbClr val="58717B"/>
                </a:solidFill>
              </a:rPr>
              <a:t>Same data, channel and rate. Count controller and monitor overhead.</a:t>
            </a:r>
          </a:p>
        </p:txBody>
      </p:sp>
    </p:spTree>
    <p:extLst>
      <p:ext uri="{BB962C8B-B14F-4D97-AF65-F5344CB8AC3E}">
        <p14:creationId xmlns:p14="http://schemas.microsoft.com/office/powerpoint/2010/main" val="204168200"/>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300000 0.000000 E" pathEditMode="relative" rAng="0">
                                      <p:cBhvr additive="base">
                                        <p:cTn id="6" dur="800" fill="hold" accel="12000" decel="12000"/>
                                        <p:tgtEl>
                                          <p:spTgt spid="5"/>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fill="hold" nodeType="clickEffect">
                                  <p:stCondLst>
                                    <p:cond delay="0"/>
                                  </p:stCondLst>
                                  <p:childTnLst>
                                    <p:animMotion origin="layout" path="M 0.300000 0.000000 L 0.300000 0.162500 L 0.000000 0.162500 E" pathEditMode="relative" rAng="0">
                                      <p:cBhvr additive="base">
                                        <p:cTn id="10" dur="1000" fill="hold" accel="12000" decel="12000"/>
                                        <p:tgtEl>
                                          <p:spTgt spid="5"/>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fill="hold" nodeType="clickEffect">
                                  <p:stCondLst>
                                    <p:cond delay="0"/>
                                  </p:stCondLst>
                                  <p:childTnLst>
                                    <p:animMotion origin="layout" path="M 0.000000 0.162500 L 0.300000 0.162500 E" pathEditMode="relative" rAng="0">
                                      <p:cBhvr additive="base">
                                        <p:cTn id="14" dur="800" fill="hold" accel="12000" decel="12000"/>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FF37264-CE6F-422B-B86B-594EEA999C39}"/>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63B46"/>
                </a:solidFill>
              </a:defRPr>
            </a:defPPr>
            <a:lvl1pPr>
              <a:defRPr sz="3450" b="1">
                <a:solidFill>
                  <a:srgbClr val="163B46"/>
                </a:solidFill>
              </a:defRPr>
            </a:lvl1pPr>
            <a:lvl2pPr>
              <a:defRPr sz="3450" b="1">
                <a:solidFill>
                  <a:srgbClr val="163B46"/>
                </a:solidFill>
              </a:defRPr>
            </a:lvl2pPr>
            <a:lvl3pPr>
              <a:defRPr sz="3450" b="1">
                <a:solidFill>
                  <a:srgbClr val="163B46"/>
                </a:solidFill>
              </a:defRPr>
            </a:lvl3pPr>
            <a:lvl4pPr>
              <a:defRPr sz="3450" b="1">
                <a:solidFill>
                  <a:srgbClr val="163B46"/>
                </a:solidFill>
              </a:defRPr>
            </a:lvl4pPr>
            <a:lvl5pPr>
              <a:defRPr sz="3450" b="1">
                <a:solidFill>
                  <a:srgbClr val="163B46"/>
                </a:solidFill>
              </a:defRPr>
            </a:lvl5pPr>
            <a:lvl6pPr>
              <a:defRPr sz="3450" b="1">
                <a:solidFill>
                  <a:srgbClr val="163B46"/>
                </a:solidFill>
              </a:defRPr>
            </a:lvl6pPr>
            <a:lvl7pPr>
              <a:defRPr sz="3450" b="1">
                <a:solidFill>
                  <a:srgbClr val="163B46"/>
                </a:solidFill>
              </a:defRPr>
            </a:lvl7pPr>
            <a:lvl8pPr>
              <a:defRPr sz="3450" b="1">
                <a:solidFill>
                  <a:srgbClr val="163B46"/>
                </a:solidFill>
              </a:defRPr>
            </a:lvl8pPr>
            <a:lvl9pPr>
              <a:defRPr sz="3450" b="1">
                <a:solidFill>
                  <a:srgbClr val="163B46"/>
                </a:solidFill>
              </a:defRPr>
            </a:lvl9pPr>
          </a:lstStyle>
          <a:p xmlns:a="http://schemas.openxmlformats.org/drawingml/2006/main">
            <a:pPr>
              <a:defRPr sz="3450" b="1">
                <a:solidFill>
                  <a:srgbClr val="163B46"/>
                </a:solidFill>
              </a:defRPr>
            </a:pPr>
            <a:r>
              <a:rPr sz="3450" b="1">
                <a:solidFill>
                  <a:srgbClr val="163B46"/>
                </a:solidFill>
              </a:rPr>
              <a:t>Who owns the work</a:t>
            </a:r>
          </a:p>
        </p:txBody>
      </p:sp>
      <p:sp>
        <p:nvSpPr>
          <p:cNvPr id="3" name="page">
            <a:extLst xmlns:a="http://schemas.openxmlformats.org/drawingml/2006/main">
              <a:ext uri="{FF2B5EF4-FFF2-40B4-BE49-F238E27FC236}">
                <a16:creationId xmlns:a16="http://schemas.microsoft.com/office/drawing/2014/main" id="{CC0718AC-C790-40EB-B936-539F88F5F77B}"/>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05</a:t>
            </a:r>
          </a:p>
        </p:txBody>
      </p:sp>
      <p:sp>
        <p:nvSpPr>
          <p:cNvPr id="4" name="basel-hub">
            <a:extLst xmlns:a="http://schemas.openxmlformats.org/drawingml/2006/main">
              <a:ext uri="{FF2B5EF4-FFF2-40B4-BE49-F238E27FC236}">
                <a16:creationId xmlns:a16="http://schemas.microsoft.com/office/drawing/2014/main" id="{95399C59-EC69-45FC-8A6B-F88B2B046146}"/>
              </a:ext>
            </a:extLst>
          </p:cNvPr>
          <p:cNvSpPr>
            <a:spLocks xmlns:a="http://schemas.openxmlformats.org/drawingml/2006/main" noGrp="1"/>
          </p:cNvSpPr>
          <p:nvPr/>
        </p:nvSpPr>
        <p:spPr>
          <a:xfrm xmlns:a="http://schemas.openxmlformats.org/drawingml/2006/main">
            <a:off x="4495800" y="1676400"/>
            <a:ext cx="3200400" cy="781050"/>
          </a:xfrm>
          <a:prstGeom xmlns:a="http://schemas.openxmlformats.org/drawingml/2006/main" prst="roundRect">
            <a:avLst>
              <a:gd name="adj" fmla="val 9756"/>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2550" b="1">
                <a:solidFill>
                  <a:srgbClr val="163B46"/>
                </a:solidFill>
              </a:defRPr>
            </a:defPPr>
            <a:lvl1pPr algn="ctr">
              <a:defRPr sz="2550" b="1">
                <a:solidFill>
                  <a:srgbClr val="163B46"/>
                </a:solidFill>
              </a:defRPr>
            </a:lvl1pPr>
            <a:lvl2pPr algn="ctr">
              <a:defRPr sz="2550" b="1">
                <a:solidFill>
                  <a:srgbClr val="163B46"/>
                </a:solidFill>
              </a:defRPr>
            </a:lvl2pPr>
            <a:lvl3pPr algn="ctr">
              <a:defRPr sz="2550" b="1">
                <a:solidFill>
                  <a:srgbClr val="163B46"/>
                </a:solidFill>
              </a:defRPr>
            </a:lvl3pPr>
            <a:lvl4pPr algn="ctr">
              <a:defRPr sz="2550" b="1">
                <a:solidFill>
                  <a:srgbClr val="163B46"/>
                </a:solidFill>
              </a:defRPr>
            </a:lvl4pPr>
            <a:lvl5pPr algn="ctr">
              <a:defRPr sz="2550" b="1">
                <a:solidFill>
                  <a:srgbClr val="163B46"/>
                </a:solidFill>
              </a:defRPr>
            </a:lvl5pPr>
            <a:lvl6pPr algn="ctr">
              <a:defRPr sz="2550" b="1">
                <a:solidFill>
                  <a:srgbClr val="163B46"/>
                </a:solidFill>
              </a:defRPr>
            </a:lvl6pPr>
            <a:lvl7pPr algn="ctr">
              <a:defRPr sz="2550" b="1">
                <a:solidFill>
                  <a:srgbClr val="163B46"/>
                </a:solidFill>
              </a:defRPr>
            </a:lvl7pPr>
            <a:lvl8pPr algn="ctr">
              <a:defRPr sz="2550" b="1">
                <a:solidFill>
                  <a:srgbClr val="163B46"/>
                </a:solidFill>
              </a:defRPr>
            </a:lvl8pPr>
            <a:lvl9pPr algn="ctr">
              <a:defRPr sz="2550" b="1">
                <a:solidFill>
                  <a:srgbClr val="163B46"/>
                </a:solidFill>
              </a:defRPr>
            </a:lvl9pPr>
          </a:lstStyle>
          <a:p xmlns:a="http://schemas.openxmlformats.org/drawingml/2006/main">
            <a:pPr algn="ctr">
              <a:defRPr sz="2550" b="1">
                <a:solidFill>
                  <a:srgbClr val="163B46"/>
                </a:solidFill>
              </a:defRPr>
            </a:pPr>
            <a:r>
              <a:rPr sz="2550" b="1">
                <a:solidFill>
                  <a:srgbClr val="163B46"/>
                </a:solidFill>
              </a:rPr>
              <a:t>Basel</a:t>
            </a:r>
          </a:p>
        </p:txBody>
      </p:sp>
      <p:sp>
        <p:nvSpPr>
          <p:cNvPr id="5" name="label-24">
            <a:extLst xmlns:a="http://schemas.openxmlformats.org/drawingml/2006/main">
              <a:ext uri="{FF2B5EF4-FFF2-40B4-BE49-F238E27FC236}">
                <a16:creationId xmlns:a16="http://schemas.microsoft.com/office/drawing/2014/main" id="{0CC78D75-A07C-4AD2-A52A-677A10A4B9C3}"/>
              </a:ext>
            </a:extLst>
          </p:cNvPr>
          <p:cNvSpPr>
            <a:spLocks xmlns:a="http://schemas.openxmlformats.org/drawingml/2006/main" noGrp="1"/>
          </p:cNvSpPr>
          <p:nvPr/>
        </p:nvSpPr>
        <p:spPr>
          <a:xfrm xmlns:a="http://schemas.openxmlformats.org/drawingml/2006/main">
            <a:off x="2286000" y="26479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8717B"/>
                </a:solidFill>
              </a:defRPr>
            </a:defPPr>
            <a:lvl1pPr>
              <a:defRPr sz="1875" b="0">
                <a:solidFill>
                  <a:srgbClr val="58717B"/>
                </a:solidFill>
              </a:defRPr>
            </a:lvl1pPr>
            <a:lvl2pPr>
              <a:defRPr sz="1875" b="0">
                <a:solidFill>
                  <a:srgbClr val="58717B"/>
                </a:solidFill>
              </a:defRPr>
            </a:lvl2pPr>
            <a:lvl3pPr>
              <a:defRPr sz="1875" b="0">
                <a:solidFill>
                  <a:srgbClr val="58717B"/>
                </a:solidFill>
              </a:defRPr>
            </a:lvl3pPr>
            <a:lvl4pPr>
              <a:defRPr sz="1875" b="0">
                <a:solidFill>
                  <a:srgbClr val="58717B"/>
                </a:solidFill>
              </a:defRPr>
            </a:lvl4pPr>
            <a:lvl5pPr>
              <a:defRPr sz="1875" b="0">
                <a:solidFill>
                  <a:srgbClr val="58717B"/>
                </a:solidFill>
              </a:defRPr>
            </a:lvl5pPr>
            <a:lvl6pPr>
              <a:defRPr sz="1875" b="0">
                <a:solidFill>
                  <a:srgbClr val="58717B"/>
                </a:solidFill>
              </a:defRPr>
            </a:lvl6pPr>
            <a:lvl7pPr>
              <a:defRPr sz="1875" b="0">
                <a:solidFill>
                  <a:srgbClr val="58717B"/>
                </a:solidFill>
              </a:defRPr>
            </a:lvl7pPr>
            <a:lvl8pPr>
              <a:defRPr sz="1875" b="0">
                <a:solidFill>
                  <a:srgbClr val="58717B"/>
                </a:solidFill>
              </a:defRPr>
            </a:lvl8pPr>
            <a:lvl9pPr>
              <a:defRPr sz="1875" b="0">
                <a:solidFill>
                  <a:srgbClr val="58717B"/>
                </a:solidFill>
              </a:defRPr>
            </a:lvl9pPr>
          </a:lstStyle>
          <a:p xmlns:a="http://schemas.openxmlformats.org/drawingml/2006/main">
            <a:pPr>
              <a:defRPr sz="1875" b="0">
                <a:solidFill>
                  <a:srgbClr val="58717B"/>
                </a:solidFill>
              </a:defRPr>
            </a:pPr>
            <a:r>
              <a:rPr sz="1875" b="0">
                <a:solidFill>
                  <a:srgbClr val="58717B"/>
                </a:solidFill>
              </a:rPr>
              <a:t>System, MATLAB reference and ASIC-flow coordination</a:t>
            </a:r>
          </a:p>
        </p:txBody>
      </p:sp>
      <p:sp>
        <p:nvSpPr>
          <p:cNvPr id="6" name="line-25">
            <a:extLst xmlns:a="http://schemas.openxmlformats.org/drawingml/2006/main">
              <a:ext uri="{FF2B5EF4-FFF2-40B4-BE49-F238E27FC236}">
                <a16:creationId xmlns:a16="http://schemas.microsoft.com/office/drawing/2014/main" id="{DB181189-13D2-4579-8517-682A7E340C59}"/>
              </a:ext>
            </a:extLst>
          </p:cNvPr>
          <p:cNvSpPr>
            <a:spLocks xmlns:a="http://schemas.openxmlformats.org/drawingml/2006/main" noGrp="1"/>
          </p:cNvSpPr>
          <p:nvPr/>
        </p:nvSpPr>
        <p:spPr>
          <a:xfrm xmlns:a="http://schemas.openxmlformats.org/drawingml/2006/main">
            <a:off x="1666875" y="3257550"/>
            <a:ext cx="8858250" cy="19050"/>
          </a:xfrm>
          <a:prstGeom xmlns:a="http://schemas.openxmlformats.org/drawingml/2006/main" prst="rect">
            <a:avLst/>
          </a:prstGeom>
          <a:solidFill xmlns:a="http://schemas.openxmlformats.org/drawingml/2006/main">
            <a:srgbClr val="C7D6DB"/>
          </a:solidFill>
          <a:ln xmlns:a="http://schemas.openxmlformats.org/drawingml/2006/main" w="19050">
            <a:solidFill>
              <a:srgbClr val="C7D6DB"/>
            </a:solidFill>
          </a:ln>
        </p:spPr>
      </p:sp>
      <p:sp>
        <p:nvSpPr>
          <p:cNvPr id="7" name="line-26">
            <a:extLst xmlns:a="http://schemas.openxmlformats.org/drawingml/2006/main">
              <a:ext uri="{FF2B5EF4-FFF2-40B4-BE49-F238E27FC236}">
                <a16:creationId xmlns:a16="http://schemas.microsoft.com/office/drawing/2014/main" id="{5D07D66C-76D4-4CA9-BB07-3C970C28B7D2}"/>
              </a:ext>
            </a:extLst>
          </p:cNvPr>
          <p:cNvSpPr>
            <a:spLocks xmlns:a="http://schemas.openxmlformats.org/drawingml/2006/main" noGrp="1"/>
          </p:cNvSpPr>
          <p:nvPr/>
        </p:nvSpPr>
        <p:spPr>
          <a:xfrm xmlns:a="http://schemas.openxmlformats.org/drawingml/2006/main">
            <a:off x="6096000" y="3038475"/>
            <a:ext cx="19050" cy="219075"/>
          </a:xfrm>
          <a:prstGeom xmlns:a="http://schemas.openxmlformats.org/drawingml/2006/main" prst="rect">
            <a:avLst/>
          </a:prstGeom>
          <a:solidFill xmlns:a="http://schemas.openxmlformats.org/drawingml/2006/main">
            <a:srgbClr val="C7D6DB"/>
          </a:solidFill>
          <a:ln xmlns:a="http://schemas.openxmlformats.org/drawingml/2006/main" w="19050">
            <a:solidFill>
              <a:srgbClr val="C7D6DB"/>
            </a:solidFill>
          </a:ln>
        </p:spPr>
      </p:sp>
      <p:sp>
        <p:nvSpPr>
          <p:cNvPr id="8" name="line-27">
            <a:extLst xmlns:a="http://schemas.openxmlformats.org/drawingml/2006/main">
              <a:ext uri="{FF2B5EF4-FFF2-40B4-BE49-F238E27FC236}">
                <a16:creationId xmlns:a16="http://schemas.microsoft.com/office/drawing/2014/main" id="{486E73CB-E73B-4B6C-91CA-658C1BA2AC44}"/>
              </a:ext>
            </a:extLst>
          </p:cNvPr>
          <p:cNvSpPr>
            <a:spLocks xmlns:a="http://schemas.openxmlformats.org/drawingml/2006/main" noGrp="1"/>
          </p:cNvSpPr>
          <p:nvPr/>
        </p:nvSpPr>
        <p:spPr>
          <a:xfrm xmlns:a="http://schemas.openxmlformats.org/drawingml/2006/main">
            <a:off x="1666875" y="3267075"/>
            <a:ext cx="19050" cy="266700"/>
          </a:xfrm>
          <a:prstGeom xmlns:a="http://schemas.openxmlformats.org/drawingml/2006/main" prst="rect">
            <a:avLst/>
          </a:prstGeom>
          <a:solidFill xmlns:a="http://schemas.openxmlformats.org/drawingml/2006/main">
            <a:srgbClr val="C7D6DB"/>
          </a:solidFill>
          <a:ln xmlns:a="http://schemas.openxmlformats.org/drawingml/2006/main" w="19050">
            <a:solidFill>
              <a:srgbClr val="C7D6DB"/>
            </a:solidFill>
          </a:ln>
        </p:spPr>
      </p:sp>
      <p:sp>
        <p:nvSpPr>
          <p:cNvPr id="9" name="role-node-0">
            <a:extLst xmlns:a="http://schemas.openxmlformats.org/drawingml/2006/main">
              <a:ext uri="{FF2B5EF4-FFF2-40B4-BE49-F238E27FC236}">
                <a16:creationId xmlns:a16="http://schemas.microsoft.com/office/drawing/2014/main" id="{1CB80E55-4A86-435B-9D3A-8791E93FEE48}"/>
              </a:ext>
            </a:extLst>
          </p:cNvPr>
          <p:cNvSpPr>
            <a:spLocks xmlns:a="http://schemas.openxmlformats.org/drawingml/2006/main" noGrp="1"/>
          </p:cNvSpPr>
          <p:nvPr/>
        </p:nvSpPr>
        <p:spPr>
          <a:xfrm xmlns:a="http://schemas.openxmlformats.org/drawingml/2006/main">
            <a:off x="1562100" y="3571875"/>
            <a:ext cx="228600" cy="228600"/>
          </a:xfrm>
          <a:prstGeom xmlns:a="http://schemas.openxmlformats.org/drawingml/2006/main" prst="ellipse">
            <a:avLst/>
          </a:prstGeom>
          <a:solidFill xmlns:a="http://schemas.openxmlformats.org/drawingml/2006/main">
            <a:srgbClr val="007E87"/>
          </a:solidFill>
          <a:ln xmlns:a="http://schemas.openxmlformats.org/drawingml/2006/main" w="19050">
            <a:solidFill>
              <a:srgbClr val="007E87"/>
            </a:solidFill>
          </a:ln>
        </p:spPr>
      </p:sp>
      <p:sp>
        <p:nvSpPr>
          <p:cNvPr id="10" name="label-28">
            <a:extLst xmlns:a="http://schemas.openxmlformats.org/drawingml/2006/main">
              <a:ext uri="{FF2B5EF4-FFF2-40B4-BE49-F238E27FC236}">
                <a16:creationId xmlns:a16="http://schemas.microsoft.com/office/drawing/2014/main" id="{8BFF69CA-B0FE-4EBE-A424-616F55CAA743}"/>
              </a:ext>
            </a:extLst>
          </p:cNvPr>
          <p:cNvSpPr>
            <a:spLocks xmlns:a="http://schemas.openxmlformats.org/drawingml/2006/main" noGrp="1"/>
          </p:cNvSpPr>
          <p:nvPr/>
        </p:nvSpPr>
        <p:spPr>
          <a:xfrm xmlns:a="http://schemas.openxmlformats.org/drawingml/2006/main">
            <a:off x="666750" y="403860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63B46"/>
                </a:solidFill>
              </a:defRPr>
            </a:defPPr>
            <a:lvl1pPr>
              <a:defRPr sz="2025" b="1">
                <a:solidFill>
                  <a:srgbClr val="163B46"/>
                </a:solidFill>
              </a:defRPr>
            </a:lvl1pPr>
            <a:lvl2pPr>
              <a:defRPr sz="2025" b="1">
                <a:solidFill>
                  <a:srgbClr val="163B46"/>
                </a:solidFill>
              </a:defRPr>
            </a:lvl2pPr>
            <a:lvl3pPr>
              <a:defRPr sz="2025" b="1">
                <a:solidFill>
                  <a:srgbClr val="163B46"/>
                </a:solidFill>
              </a:defRPr>
            </a:lvl3pPr>
            <a:lvl4pPr>
              <a:defRPr sz="2025" b="1">
                <a:solidFill>
                  <a:srgbClr val="163B46"/>
                </a:solidFill>
              </a:defRPr>
            </a:lvl4pPr>
            <a:lvl5pPr>
              <a:defRPr sz="2025" b="1">
                <a:solidFill>
                  <a:srgbClr val="163B46"/>
                </a:solidFill>
              </a:defRPr>
            </a:lvl5pPr>
            <a:lvl6pPr>
              <a:defRPr sz="2025" b="1">
                <a:solidFill>
                  <a:srgbClr val="163B46"/>
                </a:solidFill>
              </a:defRPr>
            </a:lvl6pPr>
            <a:lvl7pPr>
              <a:defRPr sz="2025" b="1">
                <a:solidFill>
                  <a:srgbClr val="163B46"/>
                </a:solidFill>
              </a:defRPr>
            </a:lvl7pPr>
            <a:lvl8pPr>
              <a:defRPr sz="2025" b="1">
                <a:solidFill>
                  <a:srgbClr val="163B46"/>
                </a:solidFill>
              </a:defRPr>
            </a:lvl8pPr>
            <a:lvl9pPr>
              <a:defRPr sz="2025" b="1">
                <a:solidFill>
                  <a:srgbClr val="163B46"/>
                </a:solidFill>
              </a:defRPr>
            </a:lvl9pPr>
          </a:lstStyle>
          <a:p xmlns:a="http://schemas.openxmlformats.org/drawingml/2006/main">
            <a:pPr>
              <a:defRPr sz="2025" b="1">
                <a:solidFill>
                  <a:srgbClr val="163B46"/>
                </a:solidFill>
              </a:defRPr>
            </a:pPr>
            <a:r>
              <a:rPr sz="2025" b="1">
                <a:solidFill>
                  <a:srgbClr val="163B46"/>
                </a:solidFill>
              </a:rPr>
              <a:t>Analog</a:t>
            </a:r>
          </a:p>
        </p:txBody>
      </p:sp>
      <p:sp>
        <p:nvSpPr>
          <p:cNvPr id="11" name="label-29">
            <a:extLst xmlns:a="http://schemas.openxmlformats.org/drawingml/2006/main">
              <a:ext uri="{FF2B5EF4-FFF2-40B4-BE49-F238E27FC236}">
                <a16:creationId xmlns:a16="http://schemas.microsoft.com/office/drawing/2014/main" id="{4F751D36-3CE6-454D-90F3-1642FE31936F}"/>
              </a:ext>
            </a:extLst>
          </p:cNvPr>
          <p:cNvSpPr>
            <a:spLocks xmlns:a="http://schemas.openxmlformats.org/drawingml/2006/main" noGrp="1"/>
          </p:cNvSpPr>
          <p:nvPr/>
        </p:nvSpPr>
        <p:spPr>
          <a:xfrm xmlns:a="http://schemas.openxmlformats.org/drawingml/2006/main">
            <a:off x="666750" y="4572000"/>
            <a:ext cx="2333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8717B"/>
                </a:solidFill>
              </a:defRPr>
            </a:defPPr>
            <a:lvl1pPr>
              <a:defRPr sz="1875" b="0">
                <a:solidFill>
                  <a:srgbClr val="58717B"/>
                </a:solidFill>
              </a:defRPr>
            </a:lvl1pPr>
            <a:lvl2pPr>
              <a:defRPr sz="1875" b="0">
                <a:solidFill>
                  <a:srgbClr val="58717B"/>
                </a:solidFill>
              </a:defRPr>
            </a:lvl2pPr>
            <a:lvl3pPr>
              <a:defRPr sz="1875" b="0">
                <a:solidFill>
                  <a:srgbClr val="58717B"/>
                </a:solidFill>
              </a:defRPr>
            </a:lvl3pPr>
            <a:lvl4pPr>
              <a:defRPr sz="1875" b="0">
                <a:solidFill>
                  <a:srgbClr val="58717B"/>
                </a:solidFill>
              </a:defRPr>
            </a:lvl4pPr>
            <a:lvl5pPr>
              <a:defRPr sz="1875" b="0">
                <a:solidFill>
                  <a:srgbClr val="58717B"/>
                </a:solidFill>
              </a:defRPr>
            </a:lvl5pPr>
            <a:lvl6pPr>
              <a:defRPr sz="1875" b="0">
                <a:solidFill>
                  <a:srgbClr val="58717B"/>
                </a:solidFill>
              </a:defRPr>
            </a:lvl6pPr>
            <a:lvl7pPr>
              <a:defRPr sz="1875" b="0">
                <a:solidFill>
                  <a:srgbClr val="58717B"/>
                </a:solidFill>
              </a:defRPr>
            </a:lvl7pPr>
            <a:lvl8pPr>
              <a:defRPr sz="1875" b="0">
                <a:solidFill>
                  <a:srgbClr val="58717B"/>
                </a:solidFill>
              </a:defRPr>
            </a:lvl8pPr>
            <a:lvl9pPr>
              <a:defRPr sz="1875" b="0">
                <a:solidFill>
                  <a:srgbClr val="58717B"/>
                </a:solidFill>
              </a:defRPr>
            </a:lvl9pPr>
          </a:lstStyle>
          <a:p xmlns:a="http://schemas.openxmlformats.org/drawingml/2006/main">
            <a:pPr>
              <a:defRPr sz="1875" b="0">
                <a:solidFill>
                  <a:srgbClr val="58717B"/>
                </a:solidFill>
              </a:defRPr>
            </a:pPr>
            <a:r>
              <a:rPr sz="1875" b="0">
                <a:solidFill>
                  <a:srgbClr val="58717B"/>
                </a:solidFill>
              </a:rPr>
              <a:t>Fahd</a:t>
            </a:r>
          </a:p>
          <a:p xmlns:a="http://schemas.openxmlformats.org/drawingml/2006/main">
            <a:pPr>
              <a:defRPr sz="1875" b="0">
                <a:solidFill>
                  <a:srgbClr val="58717B"/>
                </a:solidFill>
              </a:defRPr>
            </a:pPr>
            <a:r>
              <a:rPr sz="1875" b="0">
                <a:solidFill>
                  <a:srgbClr val="58717B"/>
                </a:solidFill>
              </a:rPr>
              <a:t>Kareem Khalifa</a:t>
            </a:r>
          </a:p>
          <a:p xmlns:a="http://schemas.openxmlformats.org/drawingml/2006/main">
            <a:pPr>
              <a:defRPr sz="1875" b="0">
                <a:solidFill>
                  <a:srgbClr val="58717B"/>
                </a:solidFill>
              </a:defRPr>
            </a:pPr>
            <a:r>
              <a:rPr sz="1875" b="0">
                <a:solidFill>
                  <a:srgbClr val="58717B"/>
                </a:solidFill>
              </a:rPr>
              <a:t>Menna</a:t>
            </a:r>
          </a:p>
        </p:txBody>
      </p:sp>
      <p:sp>
        <p:nvSpPr>
          <p:cNvPr id="12" name="line-30">
            <a:extLst xmlns:a="http://schemas.openxmlformats.org/drawingml/2006/main">
              <a:ext uri="{FF2B5EF4-FFF2-40B4-BE49-F238E27FC236}">
                <a16:creationId xmlns:a16="http://schemas.microsoft.com/office/drawing/2014/main" id="{09DF508F-298C-454B-AE75-B4CF6CEF29EF}"/>
              </a:ext>
            </a:extLst>
          </p:cNvPr>
          <p:cNvSpPr>
            <a:spLocks xmlns:a="http://schemas.openxmlformats.org/drawingml/2006/main" noGrp="1"/>
          </p:cNvSpPr>
          <p:nvPr/>
        </p:nvSpPr>
        <p:spPr>
          <a:xfrm xmlns:a="http://schemas.openxmlformats.org/drawingml/2006/main">
            <a:off x="4524375" y="3267075"/>
            <a:ext cx="19050" cy="266700"/>
          </a:xfrm>
          <a:prstGeom xmlns:a="http://schemas.openxmlformats.org/drawingml/2006/main" prst="rect">
            <a:avLst/>
          </a:prstGeom>
          <a:solidFill xmlns:a="http://schemas.openxmlformats.org/drawingml/2006/main">
            <a:srgbClr val="C7D6DB"/>
          </a:solidFill>
          <a:ln xmlns:a="http://schemas.openxmlformats.org/drawingml/2006/main" w="19050">
            <a:solidFill>
              <a:srgbClr val="C7D6DB"/>
            </a:solidFill>
          </a:ln>
        </p:spPr>
      </p:sp>
      <p:sp>
        <p:nvSpPr>
          <p:cNvPr id="13" name="role-node-1">
            <a:extLst xmlns:a="http://schemas.openxmlformats.org/drawingml/2006/main">
              <a:ext uri="{FF2B5EF4-FFF2-40B4-BE49-F238E27FC236}">
                <a16:creationId xmlns:a16="http://schemas.microsoft.com/office/drawing/2014/main" id="{4994E971-88D6-42D8-B628-33C625905E18}"/>
              </a:ext>
            </a:extLst>
          </p:cNvPr>
          <p:cNvSpPr>
            <a:spLocks xmlns:a="http://schemas.openxmlformats.org/drawingml/2006/main" noGrp="1"/>
          </p:cNvSpPr>
          <p:nvPr/>
        </p:nvSpPr>
        <p:spPr>
          <a:xfrm xmlns:a="http://schemas.openxmlformats.org/drawingml/2006/main">
            <a:off x="4419600" y="3571875"/>
            <a:ext cx="228600" cy="228600"/>
          </a:xfrm>
          <a:prstGeom xmlns:a="http://schemas.openxmlformats.org/drawingml/2006/main" prst="ellipse">
            <a:avLst/>
          </a:prstGeom>
          <a:solidFill xmlns:a="http://schemas.openxmlformats.org/drawingml/2006/main">
            <a:srgbClr val="007E87"/>
          </a:solidFill>
          <a:ln xmlns:a="http://schemas.openxmlformats.org/drawingml/2006/main" w="19050">
            <a:solidFill>
              <a:srgbClr val="007E87"/>
            </a:solidFill>
          </a:ln>
        </p:spPr>
      </p:sp>
      <p:sp>
        <p:nvSpPr>
          <p:cNvPr id="14" name="label-31">
            <a:extLst xmlns:a="http://schemas.openxmlformats.org/drawingml/2006/main">
              <a:ext uri="{FF2B5EF4-FFF2-40B4-BE49-F238E27FC236}">
                <a16:creationId xmlns:a16="http://schemas.microsoft.com/office/drawing/2014/main" id="{81954E8F-D2CC-411A-9907-B28E0DDAD581}"/>
              </a:ext>
            </a:extLst>
          </p:cNvPr>
          <p:cNvSpPr>
            <a:spLocks xmlns:a="http://schemas.openxmlformats.org/drawingml/2006/main" noGrp="1"/>
          </p:cNvSpPr>
          <p:nvPr/>
        </p:nvSpPr>
        <p:spPr>
          <a:xfrm xmlns:a="http://schemas.openxmlformats.org/drawingml/2006/main">
            <a:off x="3524250" y="403860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63B46"/>
                </a:solidFill>
              </a:defRPr>
            </a:defPPr>
            <a:lvl1pPr>
              <a:defRPr sz="2025" b="1">
                <a:solidFill>
                  <a:srgbClr val="163B46"/>
                </a:solidFill>
              </a:defRPr>
            </a:lvl1pPr>
            <a:lvl2pPr>
              <a:defRPr sz="2025" b="1">
                <a:solidFill>
                  <a:srgbClr val="163B46"/>
                </a:solidFill>
              </a:defRPr>
            </a:lvl2pPr>
            <a:lvl3pPr>
              <a:defRPr sz="2025" b="1">
                <a:solidFill>
                  <a:srgbClr val="163B46"/>
                </a:solidFill>
              </a:defRPr>
            </a:lvl3pPr>
            <a:lvl4pPr>
              <a:defRPr sz="2025" b="1">
                <a:solidFill>
                  <a:srgbClr val="163B46"/>
                </a:solidFill>
              </a:defRPr>
            </a:lvl4pPr>
            <a:lvl5pPr>
              <a:defRPr sz="2025" b="1">
                <a:solidFill>
                  <a:srgbClr val="163B46"/>
                </a:solidFill>
              </a:defRPr>
            </a:lvl5pPr>
            <a:lvl6pPr>
              <a:defRPr sz="2025" b="1">
                <a:solidFill>
                  <a:srgbClr val="163B46"/>
                </a:solidFill>
              </a:defRPr>
            </a:lvl6pPr>
            <a:lvl7pPr>
              <a:defRPr sz="2025" b="1">
                <a:solidFill>
                  <a:srgbClr val="163B46"/>
                </a:solidFill>
              </a:defRPr>
            </a:lvl7pPr>
            <a:lvl8pPr>
              <a:defRPr sz="2025" b="1">
                <a:solidFill>
                  <a:srgbClr val="163B46"/>
                </a:solidFill>
              </a:defRPr>
            </a:lvl8pPr>
            <a:lvl9pPr>
              <a:defRPr sz="2025" b="1">
                <a:solidFill>
                  <a:srgbClr val="163B46"/>
                </a:solidFill>
              </a:defRPr>
            </a:lvl9pPr>
          </a:lstStyle>
          <a:p xmlns:a="http://schemas.openxmlformats.org/drawingml/2006/main">
            <a:pPr>
              <a:defRPr sz="2025" b="1">
                <a:solidFill>
                  <a:srgbClr val="163B46"/>
                </a:solidFill>
              </a:defRPr>
            </a:pPr>
            <a:r>
              <a:rPr sz="2025" b="1">
                <a:solidFill>
                  <a:srgbClr val="163B46"/>
                </a:solidFill>
              </a:rPr>
              <a:t>Digital ASIC</a:t>
            </a:r>
          </a:p>
        </p:txBody>
      </p:sp>
      <p:sp>
        <p:nvSpPr>
          <p:cNvPr id="15" name="label-32">
            <a:extLst xmlns:a="http://schemas.openxmlformats.org/drawingml/2006/main">
              <a:ext uri="{FF2B5EF4-FFF2-40B4-BE49-F238E27FC236}">
                <a16:creationId xmlns:a16="http://schemas.microsoft.com/office/drawing/2014/main" id="{3CA08380-695E-4D41-9F08-B8DDF244EC56}"/>
              </a:ext>
            </a:extLst>
          </p:cNvPr>
          <p:cNvSpPr>
            <a:spLocks xmlns:a="http://schemas.openxmlformats.org/drawingml/2006/main" noGrp="1"/>
          </p:cNvSpPr>
          <p:nvPr/>
        </p:nvSpPr>
        <p:spPr>
          <a:xfrm xmlns:a="http://schemas.openxmlformats.org/drawingml/2006/main">
            <a:off x="3524250" y="4572000"/>
            <a:ext cx="2333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8717B"/>
                </a:solidFill>
              </a:defRPr>
            </a:defPPr>
            <a:lvl1pPr>
              <a:defRPr sz="1875" b="0">
                <a:solidFill>
                  <a:srgbClr val="58717B"/>
                </a:solidFill>
              </a:defRPr>
            </a:lvl1pPr>
            <a:lvl2pPr>
              <a:defRPr sz="1875" b="0">
                <a:solidFill>
                  <a:srgbClr val="58717B"/>
                </a:solidFill>
              </a:defRPr>
            </a:lvl2pPr>
            <a:lvl3pPr>
              <a:defRPr sz="1875" b="0">
                <a:solidFill>
                  <a:srgbClr val="58717B"/>
                </a:solidFill>
              </a:defRPr>
            </a:lvl3pPr>
            <a:lvl4pPr>
              <a:defRPr sz="1875" b="0">
                <a:solidFill>
                  <a:srgbClr val="58717B"/>
                </a:solidFill>
              </a:defRPr>
            </a:lvl4pPr>
            <a:lvl5pPr>
              <a:defRPr sz="1875" b="0">
                <a:solidFill>
                  <a:srgbClr val="58717B"/>
                </a:solidFill>
              </a:defRPr>
            </a:lvl5pPr>
            <a:lvl6pPr>
              <a:defRPr sz="1875" b="0">
                <a:solidFill>
                  <a:srgbClr val="58717B"/>
                </a:solidFill>
              </a:defRPr>
            </a:lvl6pPr>
            <a:lvl7pPr>
              <a:defRPr sz="1875" b="0">
                <a:solidFill>
                  <a:srgbClr val="58717B"/>
                </a:solidFill>
              </a:defRPr>
            </a:lvl7pPr>
            <a:lvl8pPr>
              <a:defRPr sz="1875" b="0">
                <a:solidFill>
                  <a:srgbClr val="58717B"/>
                </a:solidFill>
              </a:defRPr>
            </a:lvl8pPr>
            <a:lvl9pPr>
              <a:defRPr sz="1875" b="0">
                <a:solidFill>
                  <a:srgbClr val="58717B"/>
                </a:solidFill>
              </a:defRPr>
            </a:lvl9pPr>
          </a:lstStyle>
          <a:p xmlns:a="http://schemas.openxmlformats.org/drawingml/2006/main">
            <a:pPr>
              <a:defRPr sz="1875" b="0">
                <a:solidFill>
                  <a:srgbClr val="58717B"/>
                </a:solidFill>
              </a:defRPr>
            </a:pPr>
            <a:r>
              <a:rPr sz="1875" b="0">
                <a:solidFill>
                  <a:srgbClr val="58717B"/>
                </a:solidFill>
              </a:rPr>
              <a:t>Mohamed Ali</a:t>
            </a:r>
          </a:p>
          <a:p xmlns:a="http://schemas.openxmlformats.org/drawingml/2006/main">
            <a:pPr>
              <a:defRPr sz="1875" b="0">
                <a:solidFill>
                  <a:srgbClr val="58717B"/>
                </a:solidFill>
              </a:defRPr>
            </a:pPr>
            <a:r>
              <a:rPr sz="1875" b="0">
                <a:solidFill>
                  <a:srgbClr val="58717B"/>
                </a:solidFill>
              </a:rPr>
              <a:t>Nourhan</a:t>
            </a:r>
          </a:p>
        </p:txBody>
      </p:sp>
      <p:sp>
        <p:nvSpPr>
          <p:cNvPr id="16" name="line-33">
            <a:extLst xmlns:a="http://schemas.openxmlformats.org/drawingml/2006/main">
              <a:ext uri="{FF2B5EF4-FFF2-40B4-BE49-F238E27FC236}">
                <a16:creationId xmlns:a16="http://schemas.microsoft.com/office/drawing/2014/main" id="{9EBC7A48-C049-4729-B581-69701DF7F402}"/>
              </a:ext>
            </a:extLst>
          </p:cNvPr>
          <p:cNvSpPr>
            <a:spLocks xmlns:a="http://schemas.openxmlformats.org/drawingml/2006/main" noGrp="1"/>
          </p:cNvSpPr>
          <p:nvPr/>
        </p:nvSpPr>
        <p:spPr>
          <a:xfrm xmlns:a="http://schemas.openxmlformats.org/drawingml/2006/main">
            <a:off x="7381875" y="3267075"/>
            <a:ext cx="19050" cy="266700"/>
          </a:xfrm>
          <a:prstGeom xmlns:a="http://schemas.openxmlformats.org/drawingml/2006/main" prst="rect">
            <a:avLst/>
          </a:prstGeom>
          <a:solidFill xmlns:a="http://schemas.openxmlformats.org/drawingml/2006/main">
            <a:srgbClr val="C7D6DB"/>
          </a:solidFill>
          <a:ln xmlns:a="http://schemas.openxmlformats.org/drawingml/2006/main" w="19050">
            <a:solidFill>
              <a:srgbClr val="C7D6DB"/>
            </a:solidFill>
          </a:ln>
        </p:spPr>
      </p:sp>
      <p:sp>
        <p:nvSpPr>
          <p:cNvPr id="17" name="role-node-2">
            <a:extLst xmlns:a="http://schemas.openxmlformats.org/drawingml/2006/main">
              <a:ext uri="{FF2B5EF4-FFF2-40B4-BE49-F238E27FC236}">
                <a16:creationId xmlns:a16="http://schemas.microsoft.com/office/drawing/2014/main" id="{D2D5CE10-9846-43F2-A4A5-F945EB5E8BD8}"/>
              </a:ext>
            </a:extLst>
          </p:cNvPr>
          <p:cNvSpPr>
            <a:spLocks xmlns:a="http://schemas.openxmlformats.org/drawingml/2006/main" noGrp="1"/>
          </p:cNvSpPr>
          <p:nvPr/>
        </p:nvSpPr>
        <p:spPr>
          <a:xfrm xmlns:a="http://schemas.openxmlformats.org/drawingml/2006/main">
            <a:off x="7277100" y="3571875"/>
            <a:ext cx="228600" cy="228600"/>
          </a:xfrm>
          <a:prstGeom xmlns:a="http://schemas.openxmlformats.org/drawingml/2006/main" prst="ellipse">
            <a:avLst/>
          </a:prstGeom>
          <a:solidFill xmlns:a="http://schemas.openxmlformats.org/drawingml/2006/main">
            <a:srgbClr val="326BBD"/>
          </a:solidFill>
          <a:ln xmlns:a="http://schemas.openxmlformats.org/drawingml/2006/main" w="19050">
            <a:solidFill>
              <a:srgbClr val="326BBD"/>
            </a:solidFill>
          </a:ln>
        </p:spPr>
      </p:sp>
      <p:sp>
        <p:nvSpPr>
          <p:cNvPr id="18" name="label-34">
            <a:extLst xmlns:a="http://schemas.openxmlformats.org/drawingml/2006/main">
              <a:ext uri="{FF2B5EF4-FFF2-40B4-BE49-F238E27FC236}">
                <a16:creationId xmlns:a16="http://schemas.microsoft.com/office/drawing/2014/main" id="{6688AC6D-EC57-4EC0-A330-32F87C03E87E}"/>
              </a:ext>
            </a:extLst>
          </p:cNvPr>
          <p:cNvSpPr>
            <a:spLocks xmlns:a="http://schemas.openxmlformats.org/drawingml/2006/main" noGrp="1"/>
          </p:cNvSpPr>
          <p:nvPr/>
        </p:nvSpPr>
        <p:spPr>
          <a:xfrm xmlns:a="http://schemas.openxmlformats.org/drawingml/2006/main">
            <a:off x="6381750" y="403860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63B46"/>
                </a:solidFill>
              </a:defRPr>
            </a:defPPr>
            <a:lvl1pPr>
              <a:defRPr sz="2025" b="1">
                <a:solidFill>
                  <a:srgbClr val="163B46"/>
                </a:solidFill>
              </a:defRPr>
            </a:lvl1pPr>
            <a:lvl2pPr>
              <a:defRPr sz="2025" b="1">
                <a:solidFill>
                  <a:srgbClr val="163B46"/>
                </a:solidFill>
              </a:defRPr>
            </a:lvl2pPr>
            <a:lvl3pPr>
              <a:defRPr sz="2025" b="1">
                <a:solidFill>
                  <a:srgbClr val="163B46"/>
                </a:solidFill>
              </a:defRPr>
            </a:lvl3pPr>
            <a:lvl4pPr>
              <a:defRPr sz="2025" b="1">
                <a:solidFill>
                  <a:srgbClr val="163B46"/>
                </a:solidFill>
              </a:defRPr>
            </a:lvl4pPr>
            <a:lvl5pPr>
              <a:defRPr sz="2025" b="1">
                <a:solidFill>
                  <a:srgbClr val="163B46"/>
                </a:solidFill>
              </a:defRPr>
            </a:lvl5pPr>
            <a:lvl6pPr>
              <a:defRPr sz="2025" b="1">
                <a:solidFill>
                  <a:srgbClr val="163B46"/>
                </a:solidFill>
              </a:defRPr>
            </a:lvl6pPr>
            <a:lvl7pPr>
              <a:defRPr sz="2025" b="1">
                <a:solidFill>
                  <a:srgbClr val="163B46"/>
                </a:solidFill>
              </a:defRPr>
            </a:lvl7pPr>
            <a:lvl8pPr>
              <a:defRPr sz="2025" b="1">
                <a:solidFill>
                  <a:srgbClr val="163B46"/>
                </a:solidFill>
              </a:defRPr>
            </a:lvl8pPr>
            <a:lvl9pPr>
              <a:defRPr sz="2025" b="1">
                <a:solidFill>
                  <a:srgbClr val="163B46"/>
                </a:solidFill>
              </a:defRPr>
            </a:lvl9pPr>
          </a:lstStyle>
          <a:p xmlns:a="http://schemas.openxmlformats.org/drawingml/2006/main">
            <a:pPr>
              <a:defRPr sz="2025" b="1">
                <a:solidFill>
                  <a:srgbClr val="163B46"/>
                </a:solidFill>
              </a:defRPr>
            </a:pPr>
            <a:r>
              <a:rPr sz="2025" b="1">
                <a:solidFill>
                  <a:srgbClr val="163B46"/>
                </a:solidFill>
              </a:rPr>
              <a:t>Verification</a:t>
            </a:r>
          </a:p>
        </p:txBody>
      </p:sp>
      <p:sp>
        <p:nvSpPr>
          <p:cNvPr id="19" name="label-35">
            <a:extLst xmlns:a="http://schemas.openxmlformats.org/drawingml/2006/main">
              <a:ext uri="{FF2B5EF4-FFF2-40B4-BE49-F238E27FC236}">
                <a16:creationId xmlns:a16="http://schemas.microsoft.com/office/drawing/2014/main" id="{3FFABEF7-C10C-49FF-8EF6-157BB906887E}"/>
              </a:ext>
            </a:extLst>
          </p:cNvPr>
          <p:cNvSpPr>
            <a:spLocks xmlns:a="http://schemas.openxmlformats.org/drawingml/2006/main" noGrp="1"/>
          </p:cNvSpPr>
          <p:nvPr/>
        </p:nvSpPr>
        <p:spPr>
          <a:xfrm xmlns:a="http://schemas.openxmlformats.org/drawingml/2006/main">
            <a:off x="6381750" y="4572000"/>
            <a:ext cx="2333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8717B"/>
                </a:solidFill>
              </a:defRPr>
            </a:defPPr>
            <a:lvl1pPr>
              <a:defRPr sz="1875" b="0">
                <a:solidFill>
                  <a:srgbClr val="58717B"/>
                </a:solidFill>
              </a:defRPr>
            </a:lvl1pPr>
            <a:lvl2pPr>
              <a:defRPr sz="1875" b="0">
                <a:solidFill>
                  <a:srgbClr val="58717B"/>
                </a:solidFill>
              </a:defRPr>
            </a:lvl2pPr>
            <a:lvl3pPr>
              <a:defRPr sz="1875" b="0">
                <a:solidFill>
                  <a:srgbClr val="58717B"/>
                </a:solidFill>
              </a:defRPr>
            </a:lvl3pPr>
            <a:lvl4pPr>
              <a:defRPr sz="1875" b="0">
                <a:solidFill>
                  <a:srgbClr val="58717B"/>
                </a:solidFill>
              </a:defRPr>
            </a:lvl4pPr>
            <a:lvl5pPr>
              <a:defRPr sz="1875" b="0">
                <a:solidFill>
                  <a:srgbClr val="58717B"/>
                </a:solidFill>
              </a:defRPr>
            </a:lvl5pPr>
            <a:lvl6pPr>
              <a:defRPr sz="1875" b="0">
                <a:solidFill>
                  <a:srgbClr val="58717B"/>
                </a:solidFill>
              </a:defRPr>
            </a:lvl6pPr>
            <a:lvl7pPr>
              <a:defRPr sz="1875" b="0">
                <a:solidFill>
                  <a:srgbClr val="58717B"/>
                </a:solidFill>
              </a:defRPr>
            </a:lvl7pPr>
            <a:lvl8pPr>
              <a:defRPr sz="1875" b="0">
                <a:solidFill>
                  <a:srgbClr val="58717B"/>
                </a:solidFill>
              </a:defRPr>
            </a:lvl8pPr>
            <a:lvl9pPr>
              <a:defRPr sz="1875" b="0">
                <a:solidFill>
                  <a:srgbClr val="58717B"/>
                </a:solidFill>
              </a:defRPr>
            </a:lvl9pPr>
          </a:lstStyle>
          <a:p xmlns:a="http://schemas.openxmlformats.org/drawingml/2006/main">
            <a:pPr>
              <a:defRPr sz="1875" b="0">
                <a:solidFill>
                  <a:srgbClr val="58717B"/>
                </a:solidFill>
              </a:defRPr>
            </a:pPr>
            <a:r>
              <a:rPr sz="1875" b="0">
                <a:solidFill>
                  <a:srgbClr val="58717B"/>
                </a:solidFill>
              </a:rPr>
              <a:t>Islam</a:t>
            </a:r>
          </a:p>
        </p:txBody>
      </p:sp>
      <p:sp>
        <p:nvSpPr>
          <p:cNvPr id="20" name="line-36">
            <a:extLst xmlns:a="http://schemas.openxmlformats.org/drawingml/2006/main">
              <a:ext uri="{FF2B5EF4-FFF2-40B4-BE49-F238E27FC236}">
                <a16:creationId xmlns:a16="http://schemas.microsoft.com/office/drawing/2014/main" id="{371CF489-F4BF-4860-971C-7227ACEB7C7A}"/>
              </a:ext>
            </a:extLst>
          </p:cNvPr>
          <p:cNvSpPr>
            <a:spLocks xmlns:a="http://schemas.openxmlformats.org/drawingml/2006/main" noGrp="1"/>
          </p:cNvSpPr>
          <p:nvPr/>
        </p:nvSpPr>
        <p:spPr>
          <a:xfrm xmlns:a="http://schemas.openxmlformats.org/drawingml/2006/main">
            <a:off x="10239375" y="3267075"/>
            <a:ext cx="19050" cy="266700"/>
          </a:xfrm>
          <a:prstGeom xmlns:a="http://schemas.openxmlformats.org/drawingml/2006/main" prst="rect">
            <a:avLst/>
          </a:prstGeom>
          <a:solidFill xmlns:a="http://schemas.openxmlformats.org/drawingml/2006/main">
            <a:srgbClr val="C7D6DB"/>
          </a:solidFill>
          <a:ln xmlns:a="http://schemas.openxmlformats.org/drawingml/2006/main" w="19050">
            <a:solidFill>
              <a:srgbClr val="C7D6DB"/>
            </a:solidFill>
          </a:ln>
        </p:spPr>
      </p:sp>
      <p:sp>
        <p:nvSpPr>
          <p:cNvPr id="21" name="role-node-3">
            <a:extLst xmlns:a="http://schemas.openxmlformats.org/drawingml/2006/main">
              <a:ext uri="{FF2B5EF4-FFF2-40B4-BE49-F238E27FC236}">
                <a16:creationId xmlns:a16="http://schemas.microsoft.com/office/drawing/2014/main" id="{6F70F8BB-19E1-4604-B990-6CF347D73311}"/>
              </a:ext>
            </a:extLst>
          </p:cNvPr>
          <p:cNvSpPr>
            <a:spLocks xmlns:a="http://schemas.openxmlformats.org/drawingml/2006/main" noGrp="1"/>
          </p:cNvSpPr>
          <p:nvPr/>
        </p:nvSpPr>
        <p:spPr>
          <a:xfrm xmlns:a="http://schemas.openxmlformats.org/drawingml/2006/main">
            <a:off x="10134600" y="3571875"/>
            <a:ext cx="228600" cy="228600"/>
          </a:xfrm>
          <a:prstGeom xmlns:a="http://schemas.openxmlformats.org/drawingml/2006/main" prst="ellipse">
            <a:avLst/>
          </a:prstGeom>
          <a:solidFill xmlns:a="http://schemas.openxmlformats.org/drawingml/2006/main">
            <a:srgbClr val="007E87"/>
          </a:solidFill>
          <a:ln xmlns:a="http://schemas.openxmlformats.org/drawingml/2006/main" w="19050">
            <a:solidFill>
              <a:srgbClr val="007E87"/>
            </a:solidFill>
          </a:ln>
        </p:spPr>
      </p:sp>
      <p:sp>
        <p:nvSpPr>
          <p:cNvPr id="22" name="label-37">
            <a:extLst xmlns:a="http://schemas.openxmlformats.org/drawingml/2006/main">
              <a:ext uri="{FF2B5EF4-FFF2-40B4-BE49-F238E27FC236}">
                <a16:creationId xmlns:a16="http://schemas.microsoft.com/office/drawing/2014/main" id="{876A6F15-17DF-4145-A8CC-83F3045BDB17}"/>
              </a:ext>
            </a:extLst>
          </p:cNvPr>
          <p:cNvSpPr>
            <a:spLocks xmlns:a="http://schemas.openxmlformats.org/drawingml/2006/main" noGrp="1"/>
          </p:cNvSpPr>
          <p:nvPr/>
        </p:nvSpPr>
        <p:spPr>
          <a:xfrm xmlns:a="http://schemas.openxmlformats.org/drawingml/2006/main">
            <a:off x="9239250" y="403860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63B46"/>
                </a:solidFill>
              </a:defRPr>
            </a:defPPr>
            <a:lvl1pPr>
              <a:defRPr sz="2025" b="1">
                <a:solidFill>
                  <a:srgbClr val="163B46"/>
                </a:solidFill>
              </a:defRPr>
            </a:lvl1pPr>
            <a:lvl2pPr>
              <a:defRPr sz="2025" b="1">
                <a:solidFill>
                  <a:srgbClr val="163B46"/>
                </a:solidFill>
              </a:defRPr>
            </a:lvl2pPr>
            <a:lvl3pPr>
              <a:defRPr sz="2025" b="1">
                <a:solidFill>
                  <a:srgbClr val="163B46"/>
                </a:solidFill>
              </a:defRPr>
            </a:lvl3pPr>
            <a:lvl4pPr>
              <a:defRPr sz="2025" b="1">
                <a:solidFill>
                  <a:srgbClr val="163B46"/>
                </a:solidFill>
              </a:defRPr>
            </a:lvl4pPr>
            <a:lvl5pPr>
              <a:defRPr sz="2025" b="1">
                <a:solidFill>
                  <a:srgbClr val="163B46"/>
                </a:solidFill>
              </a:defRPr>
            </a:lvl5pPr>
            <a:lvl6pPr>
              <a:defRPr sz="2025" b="1">
                <a:solidFill>
                  <a:srgbClr val="163B46"/>
                </a:solidFill>
              </a:defRPr>
            </a:lvl6pPr>
            <a:lvl7pPr>
              <a:defRPr sz="2025" b="1">
                <a:solidFill>
                  <a:srgbClr val="163B46"/>
                </a:solidFill>
              </a:defRPr>
            </a:lvl7pPr>
            <a:lvl8pPr>
              <a:defRPr sz="2025" b="1">
                <a:solidFill>
                  <a:srgbClr val="163B46"/>
                </a:solidFill>
              </a:defRPr>
            </a:lvl8pPr>
            <a:lvl9pPr>
              <a:defRPr sz="2025" b="1">
                <a:solidFill>
                  <a:srgbClr val="163B46"/>
                </a:solidFill>
              </a:defRPr>
            </a:lvl9pPr>
          </a:lstStyle>
          <a:p xmlns:a="http://schemas.openxmlformats.org/drawingml/2006/main">
            <a:pPr>
              <a:defRPr sz="2025" b="1">
                <a:solidFill>
                  <a:srgbClr val="163B46"/>
                </a:solidFill>
              </a:defRPr>
            </a:pPr>
            <a:r>
              <a:rPr sz="2025" b="1">
                <a:solidFill>
                  <a:srgbClr val="163B46"/>
                </a:solidFill>
              </a:rPr>
              <a:t>DSP</a:t>
            </a:r>
          </a:p>
        </p:txBody>
      </p:sp>
      <p:sp>
        <p:nvSpPr>
          <p:cNvPr id="23" name="label-38">
            <a:extLst xmlns:a="http://schemas.openxmlformats.org/drawingml/2006/main">
              <a:ext uri="{FF2B5EF4-FFF2-40B4-BE49-F238E27FC236}">
                <a16:creationId xmlns:a16="http://schemas.microsoft.com/office/drawing/2014/main" id="{D8574623-6B49-4D79-A1BA-32C24CAF3E3E}"/>
              </a:ext>
            </a:extLst>
          </p:cNvPr>
          <p:cNvSpPr>
            <a:spLocks xmlns:a="http://schemas.openxmlformats.org/drawingml/2006/main" noGrp="1"/>
          </p:cNvSpPr>
          <p:nvPr/>
        </p:nvSpPr>
        <p:spPr>
          <a:xfrm xmlns:a="http://schemas.openxmlformats.org/drawingml/2006/main">
            <a:off x="9239250" y="4572000"/>
            <a:ext cx="2333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8717B"/>
                </a:solidFill>
              </a:defRPr>
            </a:defPPr>
            <a:lvl1pPr>
              <a:defRPr sz="1875" b="0">
                <a:solidFill>
                  <a:srgbClr val="58717B"/>
                </a:solidFill>
              </a:defRPr>
            </a:lvl1pPr>
            <a:lvl2pPr>
              <a:defRPr sz="1875" b="0">
                <a:solidFill>
                  <a:srgbClr val="58717B"/>
                </a:solidFill>
              </a:defRPr>
            </a:lvl2pPr>
            <a:lvl3pPr>
              <a:defRPr sz="1875" b="0">
                <a:solidFill>
                  <a:srgbClr val="58717B"/>
                </a:solidFill>
              </a:defRPr>
            </a:lvl3pPr>
            <a:lvl4pPr>
              <a:defRPr sz="1875" b="0">
                <a:solidFill>
                  <a:srgbClr val="58717B"/>
                </a:solidFill>
              </a:defRPr>
            </a:lvl4pPr>
            <a:lvl5pPr>
              <a:defRPr sz="1875" b="0">
                <a:solidFill>
                  <a:srgbClr val="58717B"/>
                </a:solidFill>
              </a:defRPr>
            </a:lvl5pPr>
            <a:lvl6pPr>
              <a:defRPr sz="1875" b="0">
                <a:solidFill>
                  <a:srgbClr val="58717B"/>
                </a:solidFill>
              </a:defRPr>
            </a:lvl6pPr>
            <a:lvl7pPr>
              <a:defRPr sz="1875" b="0">
                <a:solidFill>
                  <a:srgbClr val="58717B"/>
                </a:solidFill>
              </a:defRPr>
            </a:lvl7pPr>
            <a:lvl8pPr>
              <a:defRPr sz="1875" b="0">
                <a:solidFill>
                  <a:srgbClr val="58717B"/>
                </a:solidFill>
              </a:defRPr>
            </a:lvl8pPr>
            <a:lvl9pPr>
              <a:defRPr sz="1875" b="0">
                <a:solidFill>
                  <a:srgbClr val="58717B"/>
                </a:solidFill>
              </a:defRPr>
            </a:lvl9pPr>
          </a:lstStyle>
          <a:p xmlns:a="http://schemas.openxmlformats.org/drawingml/2006/main">
            <a:pPr>
              <a:defRPr sz="1875" b="0">
                <a:solidFill>
                  <a:srgbClr val="58717B"/>
                </a:solidFill>
              </a:defRPr>
            </a:pPr>
            <a:r>
              <a:rPr sz="1875" b="0">
                <a:solidFill>
                  <a:srgbClr val="58717B"/>
                </a:solidFill>
              </a:rPr>
              <a:t>Omar</a:t>
            </a:r>
          </a:p>
        </p:txBody>
      </p:sp>
      <p:sp>
        <p:nvSpPr>
          <p:cNvPr id="24" name="handoff">
            <a:extLst xmlns:a="http://schemas.openxmlformats.org/drawingml/2006/main">
              <a:ext uri="{FF2B5EF4-FFF2-40B4-BE49-F238E27FC236}">
                <a16:creationId xmlns:a16="http://schemas.microsoft.com/office/drawing/2014/main" id="{75FA8C05-F674-4B46-9A3F-2E40879ED902}"/>
              </a:ext>
            </a:extLst>
          </p:cNvPr>
          <p:cNvSpPr>
            <a:spLocks xmlns:a="http://schemas.openxmlformats.org/drawingml/2006/main" noGrp="1"/>
          </p:cNvSpPr>
          <p:nvPr/>
        </p:nvSpPr>
        <p:spPr>
          <a:xfrm xmlns:a="http://schemas.openxmlformats.org/drawingml/2006/main">
            <a:off x="1581150" y="3619500"/>
            <a:ext cx="304800" cy="209550"/>
          </a:xfrm>
          <a:prstGeom xmlns:a="http://schemas.openxmlformats.org/drawingml/2006/main" prst="roundRect">
            <a:avLst>
              <a:gd name="adj" fmla="val 36364"/>
            </a:avLst>
          </a:prstGeom>
          <a:solidFill xmlns:a="http://schemas.openxmlformats.org/drawingml/2006/main">
            <a:srgbClr val="CB6A32"/>
          </a:solidFill>
          <a:ln xmlns:a="http://schemas.openxmlformats.org/drawingml/2006/main" w="19050">
            <a:solidFill>
              <a:srgbClr val="CB6A32"/>
            </a:solidFill>
          </a:ln>
        </p:spPr>
      </p:sp>
      <p:sp>
        <p:nvSpPr>
          <p:cNvPr id="25" name="caption">
            <a:extLst xmlns:a="http://schemas.openxmlformats.org/drawingml/2006/main">
              <a:ext uri="{FF2B5EF4-FFF2-40B4-BE49-F238E27FC236}">
                <a16:creationId xmlns:a16="http://schemas.microsoft.com/office/drawing/2014/main" id="{921C1870-DB74-4F05-A0E2-52DC2ABB2716}"/>
              </a:ext>
            </a:extLst>
          </p:cNvPr>
          <p:cNvSpPr>
            <a:spLocks xmlns:a="http://schemas.openxmlformats.org/drawingml/2006/main" noGrp="1"/>
          </p:cNvSpPr>
          <p:nvPr/>
        </p:nvSpPr>
        <p:spPr>
          <a:xfrm xmlns:a="http://schemas.openxmlformats.org/drawingml/2006/main">
            <a:off x="60960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8717B"/>
                </a:solidFill>
              </a:defRPr>
            </a:defPPr>
            <a:lvl1pPr>
              <a:defRPr sz="1800" b="0">
                <a:solidFill>
                  <a:srgbClr val="58717B"/>
                </a:solidFill>
              </a:defRPr>
            </a:lvl1pPr>
            <a:lvl2pPr>
              <a:defRPr sz="1800" b="0">
                <a:solidFill>
                  <a:srgbClr val="58717B"/>
                </a:solidFill>
              </a:defRPr>
            </a:lvl2pPr>
            <a:lvl3pPr>
              <a:defRPr sz="1800" b="0">
                <a:solidFill>
                  <a:srgbClr val="58717B"/>
                </a:solidFill>
              </a:defRPr>
            </a:lvl3pPr>
            <a:lvl4pPr>
              <a:defRPr sz="1800" b="0">
                <a:solidFill>
                  <a:srgbClr val="58717B"/>
                </a:solidFill>
              </a:defRPr>
            </a:lvl4pPr>
            <a:lvl5pPr>
              <a:defRPr sz="1800" b="0">
                <a:solidFill>
                  <a:srgbClr val="58717B"/>
                </a:solidFill>
              </a:defRPr>
            </a:lvl5pPr>
            <a:lvl6pPr>
              <a:defRPr sz="1800" b="0">
                <a:solidFill>
                  <a:srgbClr val="58717B"/>
                </a:solidFill>
              </a:defRPr>
            </a:lvl6pPr>
            <a:lvl7pPr>
              <a:defRPr sz="1800" b="0">
                <a:solidFill>
                  <a:srgbClr val="58717B"/>
                </a:solidFill>
              </a:defRPr>
            </a:lvl7pPr>
            <a:lvl8pPr>
              <a:defRPr sz="1800" b="0">
                <a:solidFill>
                  <a:srgbClr val="58717B"/>
                </a:solidFill>
              </a:defRPr>
            </a:lvl8pPr>
            <a:lvl9pPr>
              <a:defRPr sz="1800" b="0">
                <a:solidFill>
                  <a:srgbClr val="58717B"/>
                </a:solidFill>
              </a:defRPr>
            </a:lvl9pPr>
          </a:lstStyle>
          <a:p xmlns:a="http://schemas.openxmlformats.org/drawingml/2006/main">
            <a:pPr>
              <a:defRPr sz="1800" b="0">
                <a:solidFill>
                  <a:srgbClr val="58717B"/>
                </a:solidFill>
              </a:defRPr>
            </a:pPr>
            <a:r>
              <a:rPr sz="1800" b="0">
                <a:solidFill>
                  <a:srgbClr val="58717B"/>
                </a:solidFill>
              </a:rPr>
              <a:t>One reviewed reference connects modeling, RTL and verification.</a:t>
            </a:r>
          </a:p>
        </p:txBody>
      </p:sp>
    </p:spTree>
    <p:extLst>
      <p:ext uri="{BB962C8B-B14F-4D97-AF65-F5344CB8AC3E}">
        <p14:creationId xmlns:p14="http://schemas.microsoft.com/office/powerpoint/2010/main" val="1995194526"/>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234375 0.000000 E" pathEditMode="relative" rAng="0">
                                      <p:cBhvr additive="base">
                                        <p:cTn id="6" dur="1000" fill="hold" accel="12000" decel="12000"/>
                                        <p:tgtEl>
                                          <p:spTgt spid="24"/>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fill="hold" nodeType="clickEffect">
                                  <p:stCondLst>
                                    <p:cond delay="0"/>
                                  </p:stCondLst>
                                  <p:childTnLst>
                                    <p:animMotion origin="layout" path="M 0.234375 0.000000 L 0.468750 0.000000 E" pathEditMode="relative" rAng="0">
                                      <p:cBhvr additive="base">
                                        <p:cTn id="10" dur="1000" fill="hold" accel="12000" decel="12000"/>
                                        <p:tgtEl>
                                          <p:spTgt spid="24"/>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fill="hold" nodeType="clickEffect">
                                  <p:stCondLst>
                                    <p:cond delay="0"/>
                                  </p:stCondLst>
                                  <p:childTnLst>
                                    <p:animMotion origin="layout" path="M 0.468750 0.000000 L 0.703125 0.000000 E" pathEditMode="relative" rAng="0">
                                      <p:cBhvr additive="base">
                                        <p:cTn id="14" dur="1000" fill="hold" accel="12000" decel="12000"/>
                                        <p:tgtEl>
                                          <p:spTgt spid="2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8389EE0-5040-4938-A389-08A4F020D902}"/>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63B46"/>
                </a:solidFill>
              </a:defRPr>
            </a:defPPr>
            <a:lvl1pPr>
              <a:defRPr sz="3450" b="1">
                <a:solidFill>
                  <a:srgbClr val="163B46"/>
                </a:solidFill>
              </a:defRPr>
            </a:lvl1pPr>
            <a:lvl2pPr>
              <a:defRPr sz="3450" b="1">
                <a:solidFill>
                  <a:srgbClr val="163B46"/>
                </a:solidFill>
              </a:defRPr>
            </a:lvl2pPr>
            <a:lvl3pPr>
              <a:defRPr sz="3450" b="1">
                <a:solidFill>
                  <a:srgbClr val="163B46"/>
                </a:solidFill>
              </a:defRPr>
            </a:lvl3pPr>
            <a:lvl4pPr>
              <a:defRPr sz="3450" b="1">
                <a:solidFill>
                  <a:srgbClr val="163B46"/>
                </a:solidFill>
              </a:defRPr>
            </a:lvl4pPr>
            <a:lvl5pPr>
              <a:defRPr sz="3450" b="1">
                <a:solidFill>
                  <a:srgbClr val="163B46"/>
                </a:solidFill>
              </a:defRPr>
            </a:lvl5pPr>
            <a:lvl6pPr>
              <a:defRPr sz="3450" b="1">
                <a:solidFill>
                  <a:srgbClr val="163B46"/>
                </a:solidFill>
              </a:defRPr>
            </a:lvl6pPr>
            <a:lvl7pPr>
              <a:defRPr sz="3450" b="1">
                <a:solidFill>
                  <a:srgbClr val="163B46"/>
                </a:solidFill>
              </a:defRPr>
            </a:lvl7pPr>
            <a:lvl8pPr>
              <a:defRPr sz="3450" b="1">
                <a:solidFill>
                  <a:srgbClr val="163B46"/>
                </a:solidFill>
              </a:defRPr>
            </a:lvl8pPr>
            <a:lvl9pPr>
              <a:defRPr sz="3450" b="1">
                <a:solidFill>
                  <a:srgbClr val="163B46"/>
                </a:solidFill>
              </a:defRPr>
            </a:lvl9pPr>
          </a:lstStyle>
          <a:p xmlns:a="http://schemas.openxmlformats.org/drawingml/2006/main">
            <a:pPr>
              <a:defRPr sz="3450" b="1">
                <a:solidFill>
                  <a:srgbClr val="163B46"/>
                </a:solidFill>
              </a:defRPr>
            </a:pPr>
            <a:r>
              <a:rPr sz="3450" b="1">
                <a:solidFill>
                  <a:srgbClr val="163B46"/>
                </a:solidFill>
              </a:rPr>
              <a:t>The MATLAB signal chain</a:t>
            </a:r>
          </a:p>
        </p:txBody>
      </p:sp>
      <p:sp>
        <p:nvSpPr>
          <p:cNvPr id="3" name="page">
            <a:extLst xmlns:a="http://schemas.openxmlformats.org/drawingml/2006/main">
              <a:ext uri="{FF2B5EF4-FFF2-40B4-BE49-F238E27FC236}">
                <a16:creationId xmlns:a16="http://schemas.microsoft.com/office/drawing/2014/main" id="{47FD8FE2-DEBA-4C92-AC03-F469F79E31D1}"/>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06</a:t>
            </a:r>
          </a:p>
        </p:txBody>
      </p:sp>
      <p:sp>
        <p:nvSpPr>
          <p:cNvPr id="4" name="mat-0">
            <a:extLst xmlns:a="http://schemas.openxmlformats.org/drawingml/2006/main">
              <a:ext uri="{FF2B5EF4-FFF2-40B4-BE49-F238E27FC236}">
                <a16:creationId xmlns:a16="http://schemas.microsoft.com/office/drawing/2014/main" id="{D5858364-B3CC-45AF-B441-21F4A8826274}"/>
              </a:ext>
            </a:extLst>
          </p:cNvPr>
          <p:cNvSpPr>
            <a:spLocks xmlns:a="http://schemas.openxmlformats.org/drawingml/2006/main" noGrp="1"/>
          </p:cNvSpPr>
          <p:nvPr/>
        </p:nvSpPr>
        <p:spPr>
          <a:xfrm xmlns:a="http://schemas.openxmlformats.org/drawingml/2006/main">
            <a:off x="609600" y="2228850"/>
            <a:ext cx="1285875" cy="1028700"/>
          </a:xfrm>
          <a:prstGeom xmlns:a="http://schemas.openxmlformats.org/drawingml/2006/main" prst="roundRect">
            <a:avLst>
              <a:gd name="adj" fmla="val 7407"/>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Bits</a:t>
            </a:r>
          </a:p>
        </p:txBody>
      </p:sp>
      <p:sp>
        <p:nvSpPr>
          <p:cNvPr id="5" name="mat-1">
            <a:extLst xmlns:a="http://schemas.openxmlformats.org/drawingml/2006/main">
              <a:ext uri="{FF2B5EF4-FFF2-40B4-BE49-F238E27FC236}">
                <a16:creationId xmlns:a16="http://schemas.microsoft.com/office/drawing/2014/main" id="{D11722F4-8F13-4198-9F45-0D92C5FE21ED}"/>
              </a:ext>
            </a:extLst>
          </p:cNvPr>
          <p:cNvSpPr>
            <a:spLocks xmlns:a="http://schemas.openxmlformats.org/drawingml/2006/main" noGrp="1"/>
          </p:cNvSpPr>
          <p:nvPr/>
        </p:nvSpPr>
        <p:spPr>
          <a:xfrm xmlns:a="http://schemas.openxmlformats.org/drawingml/2006/main">
            <a:off x="2200275" y="2228850"/>
            <a:ext cx="1285875" cy="1028700"/>
          </a:xfrm>
          <a:prstGeom xmlns:a="http://schemas.openxmlformats.org/drawingml/2006/main" prst="roundRect">
            <a:avLst>
              <a:gd name="adj" fmla="val 7407"/>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64-QAM</a:t>
            </a:r>
          </a:p>
        </p:txBody>
      </p:sp>
      <p:sp>
        <p:nvSpPr>
          <p:cNvPr id="6" name="mat-2">
            <a:extLst xmlns:a="http://schemas.openxmlformats.org/drawingml/2006/main">
              <a:ext uri="{FF2B5EF4-FFF2-40B4-BE49-F238E27FC236}">
                <a16:creationId xmlns:a16="http://schemas.microsoft.com/office/drawing/2014/main" id="{CAC3FB79-3E54-401F-854C-B061E9C36859}"/>
              </a:ext>
            </a:extLst>
          </p:cNvPr>
          <p:cNvSpPr>
            <a:spLocks xmlns:a="http://schemas.openxmlformats.org/drawingml/2006/main" noGrp="1"/>
          </p:cNvSpPr>
          <p:nvPr/>
        </p:nvSpPr>
        <p:spPr>
          <a:xfrm xmlns:a="http://schemas.openxmlformats.org/drawingml/2006/main">
            <a:off x="3790950" y="2228850"/>
            <a:ext cx="1285875" cy="1028700"/>
          </a:xfrm>
          <a:prstGeom xmlns:a="http://schemas.openxmlformats.org/drawingml/2006/main" prst="roundRect">
            <a:avLst>
              <a:gd name="adj" fmla="val 7407"/>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OFDM</a:t>
            </a:r>
          </a:p>
        </p:txBody>
      </p:sp>
      <p:sp>
        <p:nvSpPr>
          <p:cNvPr id="7" name="mat-3">
            <a:extLst xmlns:a="http://schemas.openxmlformats.org/drawingml/2006/main">
              <a:ext uri="{FF2B5EF4-FFF2-40B4-BE49-F238E27FC236}">
                <a16:creationId xmlns:a16="http://schemas.microsoft.com/office/drawing/2014/main" id="{7C934628-E30C-4083-A130-38EFF406898F}"/>
              </a:ext>
            </a:extLst>
          </p:cNvPr>
          <p:cNvSpPr>
            <a:spLocks xmlns:a="http://schemas.openxmlformats.org/drawingml/2006/main" noGrp="1"/>
          </p:cNvSpPr>
          <p:nvPr/>
        </p:nvSpPr>
        <p:spPr>
          <a:xfrm xmlns:a="http://schemas.openxmlformats.org/drawingml/2006/main">
            <a:off x="6972300" y="2228850"/>
            <a:ext cx="1285875" cy="1028700"/>
          </a:xfrm>
          <a:prstGeom xmlns:a="http://schemas.openxmlformats.org/drawingml/2006/main" prst="roundRect">
            <a:avLst>
              <a:gd name="adj" fmla="val 7407"/>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Channel</a:t>
            </a:r>
          </a:p>
        </p:txBody>
      </p:sp>
      <p:sp>
        <p:nvSpPr>
          <p:cNvPr id="8" name="mat-4">
            <a:extLst xmlns:a="http://schemas.openxmlformats.org/drawingml/2006/main">
              <a:ext uri="{FF2B5EF4-FFF2-40B4-BE49-F238E27FC236}">
                <a16:creationId xmlns:a16="http://schemas.microsoft.com/office/drawing/2014/main" id="{C310C1A7-BD11-4679-BFF0-9BC5D0186685}"/>
              </a:ext>
            </a:extLst>
          </p:cNvPr>
          <p:cNvSpPr>
            <a:spLocks xmlns:a="http://schemas.openxmlformats.org/drawingml/2006/main" noGrp="1"/>
          </p:cNvSpPr>
          <p:nvPr/>
        </p:nvSpPr>
        <p:spPr>
          <a:xfrm xmlns:a="http://schemas.openxmlformats.org/drawingml/2006/main">
            <a:off x="8562975" y="2228850"/>
            <a:ext cx="1285875" cy="1028700"/>
          </a:xfrm>
          <a:prstGeom xmlns:a="http://schemas.openxmlformats.org/drawingml/2006/main" prst="roundRect">
            <a:avLst>
              <a:gd name="adj" fmla="val 7407"/>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ADC</a:t>
            </a:r>
          </a:p>
        </p:txBody>
      </p:sp>
      <p:sp>
        <p:nvSpPr>
          <p:cNvPr id="9" name="mat-5">
            <a:extLst xmlns:a="http://schemas.openxmlformats.org/drawingml/2006/main">
              <a:ext uri="{FF2B5EF4-FFF2-40B4-BE49-F238E27FC236}">
                <a16:creationId xmlns:a16="http://schemas.microsoft.com/office/drawing/2014/main" id="{E4E35074-99AD-4745-8AEE-5D0A65A4C075}"/>
              </a:ext>
            </a:extLst>
          </p:cNvPr>
          <p:cNvSpPr>
            <a:spLocks xmlns:a="http://schemas.openxmlformats.org/drawingml/2006/main" noGrp="1"/>
          </p:cNvSpPr>
          <p:nvPr/>
        </p:nvSpPr>
        <p:spPr>
          <a:xfrm xmlns:a="http://schemas.openxmlformats.org/drawingml/2006/main">
            <a:off x="10153650" y="2228850"/>
            <a:ext cx="1285875" cy="1028700"/>
          </a:xfrm>
          <a:prstGeom xmlns:a="http://schemas.openxmlformats.org/drawingml/2006/main" prst="roundRect">
            <a:avLst>
              <a:gd name="adj" fmla="val 7407"/>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FFT /</a:t>
            </a:r>
          </a:p>
          <a:p xmlns:a="http://schemas.openxmlformats.org/drawingml/2006/main">
            <a:pPr algn="ctr">
              <a:defRPr sz="1950" b="1">
                <a:solidFill>
                  <a:srgbClr val="163B46"/>
                </a:solidFill>
              </a:defRPr>
            </a:pPr>
            <a:r>
              <a:rPr sz="1950" b="1">
                <a:solidFill>
                  <a:srgbClr val="163B46"/>
                </a:solidFill>
              </a:rPr>
              <a:t>MIMO</a:t>
            </a:r>
          </a:p>
        </p:txBody>
      </p:sp>
      <p:sp>
        <p:nvSpPr>
          <p:cNvPr id="10" name="label-44">
            <a:extLst xmlns:a="http://schemas.openxmlformats.org/drawingml/2006/main">
              <a:ext uri="{FF2B5EF4-FFF2-40B4-BE49-F238E27FC236}">
                <a16:creationId xmlns:a16="http://schemas.microsoft.com/office/drawing/2014/main" id="{47C636B4-B570-4881-ADE2-73E26E8793C3}"/>
              </a:ext>
            </a:extLst>
          </p:cNvPr>
          <p:cNvSpPr>
            <a:spLocks xmlns:a="http://schemas.openxmlformats.org/drawingml/2006/main" noGrp="1"/>
          </p:cNvSpPr>
          <p:nvPr/>
        </p:nvSpPr>
        <p:spPr>
          <a:xfrm xmlns:a="http://schemas.openxmlformats.org/drawingml/2006/main">
            <a:off x="666750" y="17907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007E87"/>
                </a:solidFill>
              </a:defRPr>
            </a:defPPr>
            <a:lvl1pPr>
              <a:defRPr sz="1800" b="1">
                <a:solidFill>
                  <a:srgbClr val="007E87"/>
                </a:solidFill>
              </a:defRPr>
            </a:lvl1pPr>
            <a:lvl2pPr>
              <a:defRPr sz="1800" b="1">
                <a:solidFill>
                  <a:srgbClr val="007E87"/>
                </a:solidFill>
              </a:defRPr>
            </a:lvl2pPr>
            <a:lvl3pPr>
              <a:defRPr sz="1800" b="1">
                <a:solidFill>
                  <a:srgbClr val="007E87"/>
                </a:solidFill>
              </a:defRPr>
            </a:lvl3pPr>
            <a:lvl4pPr>
              <a:defRPr sz="1800" b="1">
                <a:solidFill>
                  <a:srgbClr val="007E87"/>
                </a:solidFill>
              </a:defRPr>
            </a:lvl4pPr>
            <a:lvl5pPr>
              <a:defRPr sz="1800" b="1">
                <a:solidFill>
                  <a:srgbClr val="007E87"/>
                </a:solidFill>
              </a:defRPr>
            </a:lvl5pPr>
            <a:lvl6pPr>
              <a:defRPr sz="1800" b="1">
                <a:solidFill>
                  <a:srgbClr val="007E87"/>
                </a:solidFill>
              </a:defRPr>
            </a:lvl6pPr>
            <a:lvl7pPr>
              <a:defRPr sz="1800" b="1">
                <a:solidFill>
                  <a:srgbClr val="007E87"/>
                </a:solidFill>
              </a:defRPr>
            </a:lvl7pPr>
            <a:lvl8pPr>
              <a:defRPr sz="1800" b="1">
                <a:solidFill>
                  <a:srgbClr val="007E87"/>
                </a:solidFill>
              </a:defRPr>
            </a:lvl8pPr>
            <a:lvl9pPr>
              <a:defRPr sz="1800" b="1">
                <a:solidFill>
                  <a:srgbClr val="007E87"/>
                </a:solidFill>
              </a:defRPr>
            </a:lvl9pPr>
          </a:lstStyle>
          <a:p xmlns:a="http://schemas.openxmlformats.org/drawingml/2006/main">
            <a:pPr>
              <a:defRPr sz="1800" b="1">
                <a:solidFill>
                  <a:srgbClr val="007E87"/>
                </a:solidFill>
              </a:defRPr>
            </a:pPr>
            <a:r>
              <a:rPr sz="1800" b="1">
                <a:solidFill>
                  <a:srgbClr val="007E87"/>
                </a:solidFill>
              </a:rPr>
              <a:t>Transmitter</a:t>
            </a:r>
          </a:p>
        </p:txBody>
      </p:sp>
      <p:sp>
        <p:nvSpPr>
          <p:cNvPr id="11" name="label-45">
            <a:extLst xmlns:a="http://schemas.openxmlformats.org/drawingml/2006/main">
              <a:ext uri="{FF2B5EF4-FFF2-40B4-BE49-F238E27FC236}">
                <a16:creationId xmlns:a16="http://schemas.microsoft.com/office/drawing/2014/main" id="{6AE170C7-86B0-44BD-9F6E-0D776785655B}"/>
              </a:ext>
            </a:extLst>
          </p:cNvPr>
          <p:cNvSpPr>
            <a:spLocks xmlns:a="http://schemas.openxmlformats.org/drawingml/2006/main" noGrp="1"/>
          </p:cNvSpPr>
          <p:nvPr/>
        </p:nvSpPr>
        <p:spPr>
          <a:xfrm xmlns:a="http://schemas.openxmlformats.org/drawingml/2006/main">
            <a:off x="6096000" y="179070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007E87"/>
                </a:solidFill>
              </a:defRPr>
            </a:defPPr>
            <a:lvl1pPr>
              <a:defRPr sz="1800" b="1">
                <a:solidFill>
                  <a:srgbClr val="007E87"/>
                </a:solidFill>
              </a:defRPr>
            </a:lvl1pPr>
            <a:lvl2pPr>
              <a:defRPr sz="1800" b="1">
                <a:solidFill>
                  <a:srgbClr val="007E87"/>
                </a:solidFill>
              </a:defRPr>
            </a:lvl2pPr>
            <a:lvl3pPr>
              <a:defRPr sz="1800" b="1">
                <a:solidFill>
                  <a:srgbClr val="007E87"/>
                </a:solidFill>
              </a:defRPr>
            </a:lvl3pPr>
            <a:lvl4pPr>
              <a:defRPr sz="1800" b="1">
                <a:solidFill>
                  <a:srgbClr val="007E87"/>
                </a:solidFill>
              </a:defRPr>
            </a:lvl4pPr>
            <a:lvl5pPr>
              <a:defRPr sz="1800" b="1">
                <a:solidFill>
                  <a:srgbClr val="007E87"/>
                </a:solidFill>
              </a:defRPr>
            </a:lvl5pPr>
            <a:lvl6pPr>
              <a:defRPr sz="1800" b="1">
                <a:solidFill>
                  <a:srgbClr val="007E87"/>
                </a:solidFill>
              </a:defRPr>
            </a:lvl6pPr>
            <a:lvl7pPr>
              <a:defRPr sz="1800" b="1">
                <a:solidFill>
                  <a:srgbClr val="007E87"/>
                </a:solidFill>
              </a:defRPr>
            </a:lvl7pPr>
            <a:lvl8pPr>
              <a:defRPr sz="1800" b="1">
                <a:solidFill>
                  <a:srgbClr val="007E87"/>
                </a:solidFill>
              </a:defRPr>
            </a:lvl8pPr>
            <a:lvl9pPr>
              <a:defRPr sz="1800" b="1">
                <a:solidFill>
                  <a:srgbClr val="007E87"/>
                </a:solidFill>
              </a:defRPr>
            </a:lvl9pPr>
          </a:lstStyle>
          <a:p xmlns:a="http://schemas.openxmlformats.org/drawingml/2006/main">
            <a:pPr>
              <a:defRPr sz="1800" b="1">
                <a:solidFill>
                  <a:srgbClr val="007E87"/>
                </a:solidFill>
              </a:defRPr>
            </a:pPr>
            <a:r>
              <a:rPr sz="1800" b="1">
                <a:solidFill>
                  <a:srgbClr val="007E87"/>
                </a:solidFill>
              </a:rPr>
              <a:t>Physical-link model</a:t>
            </a:r>
          </a:p>
        </p:txBody>
      </p:sp>
      <p:sp>
        <p:nvSpPr>
          <p:cNvPr id="12" name="qam-symbol">
            <a:extLst xmlns:a="http://schemas.openxmlformats.org/drawingml/2006/main">
              <a:ext uri="{FF2B5EF4-FFF2-40B4-BE49-F238E27FC236}">
                <a16:creationId xmlns:a16="http://schemas.microsoft.com/office/drawing/2014/main" id="{7483AFEC-BED6-4E3E-9CF6-9D1731C57542}"/>
              </a:ext>
            </a:extLst>
          </p:cNvPr>
          <p:cNvSpPr>
            <a:spLocks xmlns:a="http://schemas.openxmlformats.org/drawingml/2006/main" noGrp="1"/>
          </p:cNvSpPr>
          <p:nvPr/>
        </p:nvSpPr>
        <p:spPr>
          <a:xfrm xmlns:a="http://schemas.openxmlformats.org/drawingml/2006/main">
            <a:off x="2466975" y="4000500"/>
            <a:ext cx="762000" cy="762000"/>
          </a:xfrm>
          <a:prstGeom xmlns:a="http://schemas.openxmlformats.org/drawingml/2006/main" prst="rect">
            <a:avLst/>
          </a:prstGeom>
          <a:solidFill xmlns:a="http://schemas.openxmlformats.org/drawingml/2006/main">
            <a:srgbClr val="FCFDFD"/>
          </a:solidFill>
          <a:ln xmlns:a="http://schemas.openxmlformats.org/drawingml/2006/main" w="19050">
            <a:solidFill>
              <a:srgbClr val="C7D6DB"/>
            </a:solidFill>
          </a:ln>
        </p:spPr>
      </p:sp>
      <p:sp>
        <p:nvSpPr>
          <p:cNvPr id="13" name="qam-point">
            <a:extLst xmlns:a="http://schemas.openxmlformats.org/drawingml/2006/main">
              <a:ext uri="{FF2B5EF4-FFF2-40B4-BE49-F238E27FC236}">
                <a16:creationId xmlns:a16="http://schemas.microsoft.com/office/drawing/2014/main" id="{C21CC57F-78DF-45C4-A913-1FF5E1D7ACF6}"/>
              </a:ext>
            </a:extLst>
          </p:cNvPr>
          <p:cNvSpPr>
            <a:spLocks xmlns:a="http://schemas.openxmlformats.org/drawingml/2006/main" noGrp="1"/>
          </p:cNvSpPr>
          <p:nvPr/>
        </p:nvSpPr>
        <p:spPr>
          <a:xfrm xmlns:a="http://schemas.openxmlformats.org/drawingml/2006/main">
            <a:off x="2971800" y="4181475"/>
            <a:ext cx="114300" cy="114300"/>
          </a:xfrm>
          <a:prstGeom xmlns:a="http://schemas.openxmlformats.org/drawingml/2006/main" prst="ellipse">
            <a:avLst/>
          </a:prstGeom>
          <a:solidFill xmlns:a="http://schemas.openxmlformats.org/drawingml/2006/main">
            <a:srgbClr val="007E87"/>
          </a:solidFill>
          <a:ln xmlns:a="http://schemas.openxmlformats.org/drawingml/2006/main" w="19050">
            <a:solidFill>
              <a:srgbClr val="007E87"/>
            </a:solidFill>
          </a:ln>
        </p:spPr>
      </p:sp>
      <p:sp>
        <p:nvSpPr>
          <p:cNvPr id="14" name="ofdm-frame">
            <a:extLst xmlns:a="http://schemas.openxmlformats.org/drawingml/2006/main">
              <a:ext uri="{FF2B5EF4-FFF2-40B4-BE49-F238E27FC236}">
                <a16:creationId xmlns:a16="http://schemas.microsoft.com/office/drawing/2014/main" id="{E2D8D6D9-89D4-45ED-ADAF-DA06BD12D831}"/>
              </a:ext>
            </a:extLst>
          </p:cNvPr>
          <p:cNvSpPr>
            <a:spLocks xmlns:a="http://schemas.openxmlformats.org/drawingml/2006/main" noGrp="1"/>
          </p:cNvSpPr>
          <p:nvPr/>
        </p:nvSpPr>
        <p:spPr>
          <a:xfrm xmlns:a="http://schemas.openxmlformats.org/drawingml/2006/main">
            <a:off x="3810000" y="4162425"/>
            <a:ext cx="1238250" cy="457200"/>
          </a:xfrm>
          <a:prstGeom xmlns:a="http://schemas.openxmlformats.org/drawingml/2006/main" prst="rect">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800" b="1">
                <a:solidFill>
                  <a:srgbClr val="163B46"/>
                </a:solidFill>
              </a:defRPr>
            </a:defPPr>
            <a:lvl1pPr algn="ctr">
              <a:defRPr sz="1800" b="1">
                <a:solidFill>
                  <a:srgbClr val="163B46"/>
                </a:solidFill>
              </a:defRPr>
            </a:lvl1pPr>
            <a:lvl2pPr algn="ctr">
              <a:defRPr sz="1800" b="1">
                <a:solidFill>
                  <a:srgbClr val="163B46"/>
                </a:solidFill>
              </a:defRPr>
            </a:lvl2pPr>
            <a:lvl3pPr algn="ctr">
              <a:defRPr sz="1800" b="1">
                <a:solidFill>
                  <a:srgbClr val="163B46"/>
                </a:solidFill>
              </a:defRPr>
            </a:lvl3pPr>
            <a:lvl4pPr algn="ctr">
              <a:defRPr sz="1800" b="1">
                <a:solidFill>
                  <a:srgbClr val="163B46"/>
                </a:solidFill>
              </a:defRPr>
            </a:lvl4pPr>
            <a:lvl5pPr algn="ctr">
              <a:defRPr sz="1800" b="1">
                <a:solidFill>
                  <a:srgbClr val="163B46"/>
                </a:solidFill>
              </a:defRPr>
            </a:lvl5pPr>
            <a:lvl6pPr algn="ctr">
              <a:defRPr sz="1800" b="1">
                <a:solidFill>
                  <a:srgbClr val="163B46"/>
                </a:solidFill>
              </a:defRPr>
            </a:lvl6pPr>
            <a:lvl7pPr algn="ctr">
              <a:defRPr sz="1800" b="1">
                <a:solidFill>
                  <a:srgbClr val="163B46"/>
                </a:solidFill>
              </a:defRPr>
            </a:lvl7pPr>
            <a:lvl8pPr algn="ctr">
              <a:defRPr sz="1800" b="1">
                <a:solidFill>
                  <a:srgbClr val="163B46"/>
                </a:solidFill>
              </a:defRPr>
            </a:lvl8pPr>
            <a:lvl9pPr algn="ctr">
              <a:defRPr sz="1800" b="1">
                <a:solidFill>
                  <a:srgbClr val="163B46"/>
                </a:solidFill>
              </a:defRPr>
            </a:lvl9pPr>
          </a:lstStyle>
          <a:p xmlns:a="http://schemas.openxmlformats.org/drawingml/2006/main">
            <a:pPr algn="ctr">
              <a:defRPr sz="1800" b="1">
                <a:solidFill>
                  <a:srgbClr val="163B46"/>
                </a:solidFill>
              </a:defRPr>
            </a:pPr>
            <a:r>
              <a:rPr sz="1800" b="1">
                <a:solidFill>
                  <a:srgbClr val="163B46"/>
                </a:solidFill>
              </a:rPr>
              <a:t>Frame</a:t>
            </a:r>
          </a:p>
        </p:txBody>
      </p:sp>
      <p:sp>
        <p:nvSpPr>
          <p:cNvPr id="15" name="label-46">
            <a:extLst xmlns:a="http://schemas.openxmlformats.org/drawingml/2006/main">
              <a:ext uri="{FF2B5EF4-FFF2-40B4-BE49-F238E27FC236}">
                <a16:creationId xmlns:a16="http://schemas.microsoft.com/office/drawing/2014/main" id="{B2CDB911-C4A4-4E8A-9FA2-FAB685CF3C81}"/>
              </a:ext>
            </a:extLst>
          </p:cNvPr>
          <p:cNvSpPr>
            <a:spLocks xmlns:a="http://schemas.openxmlformats.org/drawingml/2006/main" noGrp="1"/>
          </p:cNvSpPr>
          <p:nvPr/>
        </p:nvSpPr>
        <p:spPr>
          <a:xfrm xmlns:a="http://schemas.openxmlformats.org/drawingml/2006/main">
            <a:off x="6191250" y="43529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8717B"/>
                </a:solidFill>
              </a:defRPr>
            </a:defPPr>
            <a:lvl1pPr>
              <a:defRPr sz="2025" b="0">
                <a:solidFill>
                  <a:srgbClr val="58717B"/>
                </a:solidFill>
              </a:defRPr>
            </a:lvl1pPr>
            <a:lvl2pPr>
              <a:defRPr sz="2025" b="0">
                <a:solidFill>
                  <a:srgbClr val="58717B"/>
                </a:solidFill>
              </a:defRPr>
            </a:lvl2pPr>
            <a:lvl3pPr>
              <a:defRPr sz="2025" b="0">
                <a:solidFill>
                  <a:srgbClr val="58717B"/>
                </a:solidFill>
              </a:defRPr>
            </a:lvl3pPr>
            <a:lvl4pPr>
              <a:defRPr sz="2025" b="0">
                <a:solidFill>
                  <a:srgbClr val="58717B"/>
                </a:solidFill>
              </a:defRPr>
            </a:lvl4pPr>
            <a:lvl5pPr>
              <a:defRPr sz="2025" b="0">
                <a:solidFill>
                  <a:srgbClr val="58717B"/>
                </a:solidFill>
              </a:defRPr>
            </a:lvl5pPr>
            <a:lvl6pPr>
              <a:defRPr sz="2025" b="0">
                <a:solidFill>
                  <a:srgbClr val="58717B"/>
                </a:solidFill>
              </a:defRPr>
            </a:lvl6pPr>
            <a:lvl7pPr>
              <a:defRPr sz="2025" b="0">
                <a:solidFill>
                  <a:srgbClr val="58717B"/>
                </a:solidFill>
              </a:defRPr>
            </a:lvl7pPr>
            <a:lvl8pPr>
              <a:defRPr sz="2025" b="0">
                <a:solidFill>
                  <a:srgbClr val="58717B"/>
                </a:solidFill>
              </a:defRPr>
            </a:lvl8pPr>
            <a:lvl9pPr>
              <a:defRPr sz="2025" b="0">
                <a:solidFill>
                  <a:srgbClr val="58717B"/>
                </a:solidFill>
              </a:defRPr>
            </a:lvl9pPr>
          </a:lstStyle>
          <a:p xmlns:a="http://schemas.openxmlformats.org/drawingml/2006/main">
            <a:pPr>
              <a:defRPr sz="2025" b="0">
                <a:solidFill>
                  <a:srgbClr val="58717B"/>
                </a:solidFill>
              </a:defRPr>
            </a:pPr>
            <a:r>
              <a:rPr sz="2025" b="0">
                <a:solidFill>
                  <a:srgbClr val="58717B"/>
                </a:solidFill>
              </a:rPr>
              <a:t>Quantization, noise and jitter</a:t>
            </a:r>
          </a:p>
        </p:txBody>
      </p:sp>
      <p:sp>
        <p:nvSpPr>
          <p:cNvPr id="16" name="mat-packet">
            <a:extLst xmlns:a="http://schemas.openxmlformats.org/drawingml/2006/main">
              <a:ext uri="{FF2B5EF4-FFF2-40B4-BE49-F238E27FC236}">
                <a16:creationId xmlns:a16="http://schemas.microsoft.com/office/drawing/2014/main" id="{15901A82-8811-46E6-AA05-1E4B3074D321}"/>
              </a:ext>
            </a:extLst>
          </p:cNvPr>
          <p:cNvSpPr>
            <a:spLocks xmlns:a="http://schemas.openxmlformats.org/drawingml/2006/main" noGrp="1"/>
          </p:cNvSpPr>
          <p:nvPr/>
        </p:nvSpPr>
        <p:spPr>
          <a:xfrm xmlns:a="http://schemas.openxmlformats.org/drawingml/2006/main">
            <a:off x="1095375" y="3476625"/>
            <a:ext cx="304800" cy="209550"/>
          </a:xfrm>
          <a:prstGeom xmlns:a="http://schemas.openxmlformats.org/drawingml/2006/main" prst="roundRect">
            <a:avLst>
              <a:gd name="adj" fmla="val 36364"/>
            </a:avLst>
          </a:prstGeom>
          <a:solidFill xmlns:a="http://schemas.openxmlformats.org/drawingml/2006/main">
            <a:srgbClr val="CB6A32"/>
          </a:solidFill>
          <a:ln xmlns:a="http://schemas.openxmlformats.org/drawingml/2006/main" w="19050">
            <a:solidFill>
              <a:srgbClr val="CB6A32"/>
            </a:solidFill>
          </a:ln>
        </p:spPr>
      </p:sp>
      <p:sp>
        <p:nvSpPr>
          <p:cNvPr id="17" name="caption">
            <a:extLst xmlns:a="http://schemas.openxmlformats.org/drawingml/2006/main">
              <a:ext uri="{FF2B5EF4-FFF2-40B4-BE49-F238E27FC236}">
                <a16:creationId xmlns:a16="http://schemas.microsoft.com/office/drawing/2014/main" id="{3CB8DFE4-563E-4D9F-8AA2-569E77FF3DD6}"/>
              </a:ext>
            </a:extLst>
          </p:cNvPr>
          <p:cNvSpPr>
            <a:spLocks xmlns:a="http://schemas.openxmlformats.org/drawingml/2006/main" noGrp="1"/>
          </p:cNvSpPr>
          <p:nvPr/>
        </p:nvSpPr>
        <p:spPr>
          <a:xfrm xmlns:a="http://schemas.openxmlformats.org/drawingml/2006/main">
            <a:off x="60960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007E87"/>
                </a:solidFill>
              </a:defRPr>
            </a:defPPr>
            <a:lvl1pPr>
              <a:defRPr sz="1800" b="0">
                <a:solidFill>
                  <a:srgbClr val="007E87"/>
                </a:solidFill>
              </a:defRPr>
            </a:lvl1pPr>
            <a:lvl2pPr>
              <a:defRPr sz="1800" b="0">
                <a:solidFill>
                  <a:srgbClr val="007E87"/>
                </a:solidFill>
              </a:defRPr>
            </a:lvl2pPr>
            <a:lvl3pPr>
              <a:defRPr sz="1800" b="0">
                <a:solidFill>
                  <a:srgbClr val="007E87"/>
                </a:solidFill>
              </a:defRPr>
            </a:lvl3pPr>
            <a:lvl4pPr>
              <a:defRPr sz="1800" b="0">
                <a:solidFill>
                  <a:srgbClr val="007E87"/>
                </a:solidFill>
              </a:defRPr>
            </a:lvl4pPr>
            <a:lvl5pPr>
              <a:defRPr sz="1800" b="0">
                <a:solidFill>
                  <a:srgbClr val="007E87"/>
                </a:solidFill>
              </a:defRPr>
            </a:lvl5pPr>
            <a:lvl6pPr>
              <a:defRPr sz="1800" b="0">
                <a:solidFill>
                  <a:srgbClr val="007E87"/>
                </a:solidFill>
              </a:defRPr>
            </a:lvl6pPr>
            <a:lvl7pPr>
              <a:defRPr sz="1800" b="0">
                <a:solidFill>
                  <a:srgbClr val="007E87"/>
                </a:solidFill>
              </a:defRPr>
            </a:lvl7pPr>
            <a:lvl8pPr>
              <a:defRPr sz="1800" b="0">
                <a:solidFill>
                  <a:srgbClr val="007E87"/>
                </a:solidFill>
              </a:defRPr>
            </a:lvl8pPr>
            <a:lvl9pPr>
              <a:defRPr sz="1800" b="0">
                <a:solidFill>
                  <a:srgbClr val="007E87"/>
                </a:solidFill>
              </a:defRPr>
            </a:lvl9pPr>
          </a:lstStyle>
          <a:p xmlns:a="http://schemas.openxmlformats.org/drawingml/2006/main">
            <a:pPr>
              <a:defRPr sz="1800" b="0">
                <a:solidFill>
                  <a:srgbClr val="007E87"/>
                </a:solidFill>
              </a:defRPr>
            </a:pPr>
            <a:r>
              <a:rPr sz="1800" b="0">
                <a:solidFill>
                  <a:srgbClr val="007E87"/>
                </a:solidFill>
              </a:rPr>
              <a:t>Available now: 64-QAM MIMO-OFDM. The PAM-N DFE is proposed work.</a:t>
            </a:r>
          </a:p>
        </p:txBody>
      </p:sp>
      <p:sp>
        <p:nvSpPr>
          <p:cNvPr id="18" name="mat-dac">
            <a:extLst xmlns:a="http://schemas.openxmlformats.org/drawingml/2006/main">
              <a:ext uri="{FF2B5EF4-FFF2-40B4-BE49-F238E27FC236}">
                <a16:creationId xmlns:a16="http://schemas.microsoft.com/office/drawing/2014/main" id="{E9C0DE4B-D9EA-4A8D-8606-259AC903FB79}"/>
              </a:ext>
            </a:extLst>
          </p:cNvPr>
          <p:cNvSpPr>
            <a:spLocks xmlns:a="http://schemas.openxmlformats.org/drawingml/2006/main" noGrp="1"/>
          </p:cNvSpPr>
          <p:nvPr/>
        </p:nvSpPr>
        <p:spPr>
          <a:xfrm xmlns:a="http://schemas.openxmlformats.org/drawingml/2006/main">
            <a:off x="5381625" y="2228850"/>
            <a:ext cx="1285875" cy="1028700"/>
          </a:xfrm>
          <a:prstGeom xmlns:a="http://schemas.openxmlformats.org/drawingml/2006/main" prst="roundRect">
            <a:avLst>
              <a:gd name="adj" fmla="val 7407"/>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DAC</a:t>
            </a:r>
          </a:p>
        </p:txBody>
      </p:sp>
      <p:sp>
        <p:nvSpPr>
          <p:cNvPr id="19" name="mat-flow-0">
            <a:extLst xmlns:a="http://schemas.openxmlformats.org/drawingml/2006/main">
              <a:ext uri="{FF2B5EF4-FFF2-40B4-BE49-F238E27FC236}">
                <a16:creationId xmlns:a16="http://schemas.microsoft.com/office/drawing/2014/main" id="{72D24FFE-1CF1-45FB-B090-463B59BB0189}"/>
              </a:ext>
            </a:extLst>
          </p:cNvPr>
          <p:cNvSpPr>
            <a:spLocks xmlns:a="http://schemas.openxmlformats.org/drawingml/2006/main" noGrp="1"/>
          </p:cNvSpPr>
          <p:nvPr/>
        </p:nvSpPr>
        <p:spPr>
          <a:xfrm xmlns:a="http://schemas.openxmlformats.org/drawingml/2006/main">
            <a:off x="1943100" y="2667000"/>
            <a:ext cx="190500" cy="152400"/>
          </a:xfrm>
          <a:prstGeom xmlns:a="http://schemas.openxmlformats.org/drawingml/2006/main" prst="rightArrow">
            <a:avLst/>
          </a:prstGeom>
          <a:solidFill xmlns:a="http://schemas.openxmlformats.org/drawingml/2006/main">
            <a:srgbClr val="C7D6DB"/>
          </a:solidFill>
          <a:ln xmlns:a="http://schemas.openxmlformats.org/drawingml/2006/main" w="9525">
            <a:solidFill>
              <a:srgbClr val="C7D6DB"/>
            </a:solidFill>
          </a:ln>
        </p:spPr>
      </p:sp>
      <p:sp>
        <p:nvSpPr>
          <p:cNvPr id="20" name="mat-flow-1">
            <a:extLst xmlns:a="http://schemas.openxmlformats.org/drawingml/2006/main">
              <a:ext uri="{FF2B5EF4-FFF2-40B4-BE49-F238E27FC236}">
                <a16:creationId xmlns:a16="http://schemas.microsoft.com/office/drawing/2014/main" id="{CD299441-43EA-45AA-BBDE-154101EA1511}"/>
              </a:ext>
            </a:extLst>
          </p:cNvPr>
          <p:cNvSpPr>
            <a:spLocks xmlns:a="http://schemas.openxmlformats.org/drawingml/2006/main" noGrp="1"/>
          </p:cNvSpPr>
          <p:nvPr/>
        </p:nvSpPr>
        <p:spPr>
          <a:xfrm xmlns:a="http://schemas.openxmlformats.org/drawingml/2006/main">
            <a:off x="3533775" y="2667000"/>
            <a:ext cx="190500" cy="152400"/>
          </a:xfrm>
          <a:prstGeom xmlns:a="http://schemas.openxmlformats.org/drawingml/2006/main" prst="rightArrow">
            <a:avLst/>
          </a:prstGeom>
          <a:solidFill xmlns:a="http://schemas.openxmlformats.org/drawingml/2006/main">
            <a:srgbClr val="C7D6DB"/>
          </a:solidFill>
          <a:ln xmlns:a="http://schemas.openxmlformats.org/drawingml/2006/main" w="9525">
            <a:solidFill>
              <a:srgbClr val="C7D6DB"/>
            </a:solidFill>
          </a:ln>
        </p:spPr>
      </p:sp>
      <p:sp>
        <p:nvSpPr>
          <p:cNvPr id="21" name="mat-flow-2">
            <a:extLst xmlns:a="http://schemas.openxmlformats.org/drawingml/2006/main">
              <a:ext uri="{FF2B5EF4-FFF2-40B4-BE49-F238E27FC236}">
                <a16:creationId xmlns:a16="http://schemas.microsoft.com/office/drawing/2014/main" id="{C57161E5-4E4A-4675-9140-B890BB7AD688}"/>
              </a:ext>
            </a:extLst>
          </p:cNvPr>
          <p:cNvSpPr>
            <a:spLocks xmlns:a="http://schemas.openxmlformats.org/drawingml/2006/main" noGrp="1"/>
          </p:cNvSpPr>
          <p:nvPr/>
        </p:nvSpPr>
        <p:spPr>
          <a:xfrm xmlns:a="http://schemas.openxmlformats.org/drawingml/2006/main">
            <a:off x="5124450" y="2667000"/>
            <a:ext cx="190500" cy="152400"/>
          </a:xfrm>
          <a:prstGeom xmlns:a="http://schemas.openxmlformats.org/drawingml/2006/main" prst="rightArrow">
            <a:avLst/>
          </a:prstGeom>
          <a:solidFill xmlns:a="http://schemas.openxmlformats.org/drawingml/2006/main">
            <a:srgbClr val="C7D6DB"/>
          </a:solidFill>
          <a:ln xmlns:a="http://schemas.openxmlformats.org/drawingml/2006/main" w="9525">
            <a:solidFill>
              <a:srgbClr val="C7D6DB"/>
            </a:solidFill>
          </a:ln>
        </p:spPr>
      </p:sp>
      <p:sp>
        <p:nvSpPr>
          <p:cNvPr id="22" name="mat-flow-3">
            <a:extLst xmlns:a="http://schemas.openxmlformats.org/drawingml/2006/main">
              <a:ext uri="{FF2B5EF4-FFF2-40B4-BE49-F238E27FC236}">
                <a16:creationId xmlns:a16="http://schemas.microsoft.com/office/drawing/2014/main" id="{9A30000A-7694-4D02-8683-51D308DE6743}"/>
              </a:ext>
            </a:extLst>
          </p:cNvPr>
          <p:cNvSpPr>
            <a:spLocks xmlns:a="http://schemas.openxmlformats.org/drawingml/2006/main" noGrp="1"/>
          </p:cNvSpPr>
          <p:nvPr/>
        </p:nvSpPr>
        <p:spPr>
          <a:xfrm xmlns:a="http://schemas.openxmlformats.org/drawingml/2006/main">
            <a:off x="6715125" y="2667000"/>
            <a:ext cx="190500" cy="152400"/>
          </a:xfrm>
          <a:prstGeom xmlns:a="http://schemas.openxmlformats.org/drawingml/2006/main" prst="rightArrow">
            <a:avLst/>
          </a:prstGeom>
          <a:solidFill xmlns:a="http://schemas.openxmlformats.org/drawingml/2006/main">
            <a:srgbClr val="C7D6DB"/>
          </a:solidFill>
          <a:ln xmlns:a="http://schemas.openxmlformats.org/drawingml/2006/main" w="9525">
            <a:solidFill>
              <a:srgbClr val="C7D6DB"/>
            </a:solidFill>
          </a:ln>
        </p:spPr>
      </p:sp>
      <p:sp>
        <p:nvSpPr>
          <p:cNvPr id="23" name="mat-flow-4">
            <a:extLst xmlns:a="http://schemas.openxmlformats.org/drawingml/2006/main">
              <a:ext uri="{FF2B5EF4-FFF2-40B4-BE49-F238E27FC236}">
                <a16:creationId xmlns:a16="http://schemas.microsoft.com/office/drawing/2014/main" id="{C165546C-DE41-4215-BA4F-11EB5CD2741C}"/>
              </a:ext>
            </a:extLst>
          </p:cNvPr>
          <p:cNvSpPr>
            <a:spLocks xmlns:a="http://schemas.openxmlformats.org/drawingml/2006/main" noGrp="1"/>
          </p:cNvSpPr>
          <p:nvPr/>
        </p:nvSpPr>
        <p:spPr>
          <a:xfrm xmlns:a="http://schemas.openxmlformats.org/drawingml/2006/main">
            <a:off x="8305800" y="2667000"/>
            <a:ext cx="190500" cy="152400"/>
          </a:xfrm>
          <a:prstGeom xmlns:a="http://schemas.openxmlformats.org/drawingml/2006/main" prst="rightArrow">
            <a:avLst/>
          </a:prstGeom>
          <a:solidFill xmlns:a="http://schemas.openxmlformats.org/drawingml/2006/main">
            <a:srgbClr val="C7D6DB"/>
          </a:solidFill>
          <a:ln xmlns:a="http://schemas.openxmlformats.org/drawingml/2006/main" w="9525">
            <a:solidFill>
              <a:srgbClr val="C7D6DB"/>
            </a:solidFill>
          </a:ln>
        </p:spPr>
      </p:sp>
      <p:sp>
        <p:nvSpPr>
          <p:cNvPr id="24" name="mat-flow-5">
            <a:extLst xmlns:a="http://schemas.openxmlformats.org/drawingml/2006/main">
              <a:ext uri="{FF2B5EF4-FFF2-40B4-BE49-F238E27FC236}">
                <a16:creationId xmlns:a16="http://schemas.microsoft.com/office/drawing/2014/main" id="{1EF9B627-E150-41E9-9450-42023606ABA6}"/>
              </a:ext>
            </a:extLst>
          </p:cNvPr>
          <p:cNvSpPr>
            <a:spLocks xmlns:a="http://schemas.openxmlformats.org/drawingml/2006/main" noGrp="1"/>
          </p:cNvSpPr>
          <p:nvPr/>
        </p:nvSpPr>
        <p:spPr>
          <a:xfrm xmlns:a="http://schemas.openxmlformats.org/drawingml/2006/main">
            <a:off x="9896475" y="2667000"/>
            <a:ext cx="190500" cy="152400"/>
          </a:xfrm>
          <a:prstGeom xmlns:a="http://schemas.openxmlformats.org/drawingml/2006/main" prst="rightArrow">
            <a:avLst/>
          </a:prstGeom>
          <a:solidFill xmlns:a="http://schemas.openxmlformats.org/drawingml/2006/main">
            <a:srgbClr val="C7D6DB"/>
          </a:solidFill>
          <a:ln xmlns:a="http://schemas.openxmlformats.org/drawingml/2006/main" w="9525">
            <a:solidFill>
              <a:srgbClr val="C7D6DB"/>
            </a:solidFill>
          </a:ln>
        </p:spPr>
      </p:sp>
    </p:spTree>
    <p:extLst>
      <p:ext uri="{BB962C8B-B14F-4D97-AF65-F5344CB8AC3E}">
        <p14:creationId xmlns:p14="http://schemas.microsoft.com/office/powerpoint/2010/main" val="1025613711"/>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130469 0.000000 E" pathEditMode="relative" rAng="0">
                                      <p:cBhvr additive="base">
                                        <p:cTn id="6" dur="850" fill="hold" accel="12000" decel="12000"/>
                                        <p:tgtEl>
                                          <p:spTgt spid="16"/>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fill="hold" nodeType="clickEffect">
                                  <p:stCondLst>
                                    <p:cond delay="0"/>
                                  </p:stCondLst>
                                  <p:childTnLst>
                                    <p:animMotion origin="layout" path="M 0.130469 0.000000 L 0.260937 0.000000 E" pathEditMode="relative" rAng="0">
                                      <p:cBhvr additive="base">
                                        <p:cTn id="10" dur="850" fill="hold" accel="12000" decel="12000"/>
                                        <p:tgtEl>
                                          <p:spTgt spid="16"/>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fill="hold" nodeType="clickEffect">
                                  <p:stCondLst>
                                    <p:cond delay="0"/>
                                  </p:stCondLst>
                                  <p:childTnLst>
                                    <p:animMotion origin="layout" path="M 0.260937 0.000000 L 0.391406 0.000000 E" pathEditMode="relative" rAng="0">
                                      <p:cBhvr additive="base">
                                        <p:cTn id="14" dur="850" fill="hold" accel="12000" decel="12000"/>
                                        <p:tgtEl>
                                          <p:spTgt spid="16"/>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fill="hold" nodeType="clickEffect">
                                  <p:stCondLst>
                                    <p:cond delay="0"/>
                                  </p:stCondLst>
                                  <p:childTnLst>
                                    <p:animMotion origin="layout" path="M 0.391406 0.000000 L 0.521875 0.000000 E" pathEditMode="relative" rAng="0">
                                      <p:cBhvr additive="base">
                                        <p:cTn id="18" dur="850" fill="hold" accel="12000" decel="12000"/>
                                        <p:tgtEl>
                                          <p:spTgt spid="16"/>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0" presetClass="path" presetSubtype="0" fill="hold" nodeType="clickEffect">
                                  <p:stCondLst>
                                    <p:cond delay="0"/>
                                  </p:stCondLst>
                                  <p:childTnLst>
                                    <p:animMotion origin="layout" path="M 0.521875 0.000000 L 0.652344 0.000000 E" pathEditMode="relative" rAng="0">
                                      <p:cBhvr additive="base">
                                        <p:cTn id="22" dur="850" fill="hold" accel="12000" decel="12000"/>
                                        <p:tgtEl>
                                          <p:spTgt spid="16"/>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0" presetClass="path" presetSubtype="0" fill="hold" nodeType="clickEffect">
                                  <p:stCondLst>
                                    <p:cond delay="0"/>
                                  </p:stCondLst>
                                  <p:childTnLst>
                                    <p:animMotion origin="layout" path="M 0.652344 0.000000 L 0.782813 0.000000 E" pathEditMode="relative" rAng="0">
                                      <p:cBhvr additive="base">
                                        <p:cTn id="26" dur="850" fill="hold" accel="12000" decel="12000"/>
                                        <p:tgtEl>
                                          <p:spTgt spid="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800114E-184F-469D-B269-F9E6922E19E9}"/>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63B46"/>
                </a:solidFill>
              </a:defRPr>
            </a:defPPr>
            <a:lvl1pPr>
              <a:defRPr sz="3450" b="1">
                <a:solidFill>
                  <a:srgbClr val="163B46"/>
                </a:solidFill>
              </a:defRPr>
            </a:lvl1pPr>
            <a:lvl2pPr>
              <a:defRPr sz="3450" b="1">
                <a:solidFill>
                  <a:srgbClr val="163B46"/>
                </a:solidFill>
              </a:defRPr>
            </a:lvl2pPr>
            <a:lvl3pPr>
              <a:defRPr sz="3450" b="1">
                <a:solidFill>
                  <a:srgbClr val="163B46"/>
                </a:solidFill>
              </a:defRPr>
            </a:lvl3pPr>
            <a:lvl4pPr>
              <a:defRPr sz="3450" b="1">
                <a:solidFill>
                  <a:srgbClr val="163B46"/>
                </a:solidFill>
              </a:defRPr>
            </a:lvl4pPr>
            <a:lvl5pPr>
              <a:defRPr sz="3450" b="1">
                <a:solidFill>
                  <a:srgbClr val="163B46"/>
                </a:solidFill>
              </a:defRPr>
            </a:lvl5pPr>
            <a:lvl6pPr>
              <a:defRPr sz="3450" b="1">
                <a:solidFill>
                  <a:srgbClr val="163B46"/>
                </a:solidFill>
              </a:defRPr>
            </a:lvl6pPr>
            <a:lvl7pPr>
              <a:defRPr sz="3450" b="1">
                <a:solidFill>
                  <a:srgbClr val="163B46"/>
                </a:solidFill>
              </a:defRPr>
            </a:lvl7pPr>
            <a:lvl8pPr>
              <a:defRPr sz="3450" b="1">
                <a:solidFill>
                  <a:srgbClr val="163B46"/>
                </a:solidFill>
              </a:defRPr>
            </a:lvl8pPr>
            <a:lvl9pPr>
              <a:defRPr sz="3450" b="1">
                <a:solidFill>
                  <a:srgbClr val="163B46"/>
                </a:solidFill>
              </a:defRPr>
            </a:lvl9pPr>
          </a:lstStyle>
          <a:p xmlns:a="http://schemas.openxmlformats.org/drawingml/2006/main">
            <a:pPr>
              <a:defRPr sz="3450" b="1">
                <a:solidFill>
                  <a:srgbClr val="163B46"/>
                </a:solidFill>
              </a:defRPr>
            </a:pPr>
            <a:r>
              <a:rPr sz="3450" b="1">
                <a:solidFill>
                  <a:srgbClr val="163B46"/>
                </a:solidFill>
              </a:rPr>
              <a:t>What each test checks</a:t>
            </a:r>
          </a:p>
        </p:txBody>
      </p:sp>
      <p:sp>
        <p:nvSpPr>
          <p:cNvPr id="3" name="page">
            <a:extLst xmlns:a="http://schemas.openxmlformats.org/drawingml/2006/main">
              <a:ext uri="{FF2B5EF4-FFF2-40B4-BE49-F238E27FC236}">
                <a16:creationId xmlns:a16="http://schemas.microsoft.com/office/drawing/2014/main" id="{99777240-AD09-4D6A-B78A-6EDB7D5E5EAB}"/>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07</a:t>
            </a:r>
          </a:p>
        </p:txBody>
      </p:sp>
      <p:sp>
        <p:nvSpPr>
          <p:cNvPr id="4" name="test-0">
            <a:extLst xmlns:a="http://schemas.openxmlformats.org/drawingml/2006/main">
              <a:ext uri="{FF2B5EF4-FFF2-40B4-BE49-F238E27FC236}">
                <a16:creationId xmlns:a16="http://schemas.microsoft.com/office/drawing/2014/main" id="{27F03D0F-E132-40F1-8F77-446B63A2FC59}"/>
              </a:ext>
            </a:extLst>
          </p:cNvPr>
          <p:cNvSpPr>
            <a:spLocks xmlns:a="http://schemas.openxmlformats.org/drawingml/2006/main" noGrp="1"/>
          </p:cNvSpPr>
          <p:nvPr/>
        </p:nvSpPr>
        <p:spPr>
          <a:xfrm xmlns:a="http://schemas.openxmlformats.org/drawingml/2006/main">
            <a:off x="1047750" y="2305050"/>
            <a:ext cx="723900" cy="723900"/>
          </a:xfrm>
          <a:prstGeom xmlns:a="http://schemas.openxmlformats.org/drawingml/2006/main" prst="ellipse">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2400" b="1">
                <a:solidFill>
                  <a:srgbClr val="163B46"/>
                </a:solidFill>
              </a:defRPr>
            </a:defPPr>
            <a:lvl1pPr algn="ctr">
              <a:defRPr sz="2400" b="1">
                <a:solidFill>
                  <a:srgbClr val="163B46"/>
                </a:solidFill>
              </a:defRPr>
            </a:lvl1pPr>
            <a:lvl2pPr algn="ctr">
              <a:defRPr sz="2400" b="1">
                <a:solidFill>
                  <a:srgbClr val="163B46"/>
                </a:solidFill>
              </a:defRPr>
            </a:lvl2pPr>
            <a:lvl3pPr algn="ctr">
              <a:defRPr sz="2400" b="1">
                <a:solidFill>
                  <a:srgbClr val="163B46"/>
                </a:solidFill>
              </a:defRPr>
            </a:lvl3pPr>
            <a:lvl4pPr algn="ctr">
              <a:defRPr sz="2400" b="1">
                <a:solidFill>
                  <a:srgbClr val="163B46"/>
                </a:solidFill>
              </a:defRPr>
            </a:lvl4pPr>
            <a:lvl5pPr algn="ctr">
              <a:defRPr sz="2400" b="1">
                <a:solidFill>
                  <a:srgbClr val="163B46"/>
                </a:solidFill>
              </a:defRPr>
            </a:lvl5pPr>
            <a:lvl6pPr algn="ctr">
              <a:defRPr sz="2400" b="1">
                <a:solidFill>
                  <a:srgbClr val="163B46"/>
                </a:solidFill>
              </a:defRPr>
            </a:lvl6pPr>
            <a:lvl7pPr algn="ctr">
              <a:defRPr sz="2400" b="1">
                <a:solidFill>
                  <a:srgbClr val="163B46"/>
                </a:solidFill>
              </a:defRPr>
            </a:lvl7pPr>
            <a:lvl8pPr algn="ctr">
              <a:defRPr sz="2400" b="1">
                <a:solidFill>
                  <a:srgbClr val="163B46"/>
                </a:solidFill>
              </a:defRPr>
            </a:lvl8pPr>
            <a:lvl9pPr algn="ctr">
              <a:defRPr sz="2400" b="1">
                <a:solidFill>
                  <a:srgbClr val="163B46"/>
                </a:solidFill>
              </a:defRPr>
            </a:lvl9pPr>
          </a:lstStyle>
          <a:p xmlns:a="http://schemas.openxmlformats.org/drawingml/2006/main">
            <a:pPr algn="ctr">
              <a:defRPr sz="2400" b="1">
                <a:solidFill>
                  <a:srgbClr val="163B46"/>
                </a:solidFill>
              </a:defRPr>
            </a:pPr>
            <a:r>
              <a:rPr sz="2400" b="1">
                <a:solidFill>
                  <a:srgbClr val="163B46"/>
                </a:solidFill>
              </a:rPr>
              <a:t>1</a:t>
            </a:r>
          </a:p>
        </p:txBody>
      </p:sp>
      <p:sp>
        <p:nvSpPr>
          <p:cNvPr id="5" name="label-47">
            <a:extLst xmlns:a="http://schemas.openxmlformats.org/drawingml/2006/main">
              <a:ext uri="{FF2B5EF4-FFF2-40B4-BE49-F238E27FC236}">
                <a16:creationId xmlns:a16="http://schemas.microsoft.com/office/drawing/2014/main" id="{50C634F1-3398-410A-9AA6-204814B39C61}"/>
              </a:ext>
            </a:extLst>
          </p:cNvPr>
          <p:cNvSpPr>
            <a:spLocks xmlns:a="http://schemas.openxmlformats.org/drawingml/2006/main" noGrp="1"/>
          </p:cNvSpPr>
          <p:nvPr/>
        </p:nvSpPr>
        <p:spPr>
          <a:xfrm xmlns:a="http://schemas.openxmlformats.org/drawingml/2006/main">
            <a:off x="1962150" y="2466975"/>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B46"/>
                </a:solidFill>
              </a:defRPr>
            </a:defPPr>
            <a:lvl1pPr>
              <a:defRPr sz="2175" b="1">
                <a:solidFill>
                  <a:srgbClr val="163B46"/>
                </a:solidFill>
              </a:defRPr>
            </a:lvl1pPr>
            <a:lvl2pPr>
              <a:defRPr sz="2175" b="1">
                <a:solidFill>
                  <a:srgbClr val="163B46"/>
                </a:solidFill>
              </a:defRPr>
            </a:lvl2pPr>
            <a:lvl3pPr>
              <a:defRPr sz="2175" b="1">
                <a:solidFill>
                  <a:srgbClr val="163B46"/>
                </a:solidFill>
              </a:defRPr>
            </a:lvl3pPr>
            <a:lvl4pPr>
              <a:defRPr sz="2175" b="1">
                <a:solidFill>
                  <a:srgbClr val="163B46"/>
                </a:solidFill>
              </a:defRPr>
            </a:lvl4pPr>
            <a:lvl5pPr>
              <a:defRPr sz="2175" b="1">
                <a:solidFill>
                  <a:srgbClr val="163B46"/>
                </a:solidFill>
              </a:defRPr>
            </a:lvl5pPr>
            <a:lvl6pPr>
              <a:defRPr sz="2175" b="1">
                <a:solidFill>
                  <a:srgbClr val="163B46"/>
                </a:solidFill>
              </a:defRPr>
            </a:lvl6pPr>
            <a:lvl7pPr>
              <a:defRPr sz="2175" b="1">
                <a:solidFill>
                  <a:srgbClr val="163B46"/>
                </a:solidFill>
              </a:defRPr>
            </a:lvl7pPr>
            <a:lvl8pPr>
              <a:defRPr sz="2175" b="1">
                <a:solidFill>
                  <a:srgbClr val="163B46"/>
                </a:solidFill>
              </a:defRPr>
            </a:lvl8pPr>
            <a:lvl9pPr>
              <a:defRPr sz="2175" b="1">
                <a:solidFill>
                  <a:srgbClr val="163B46"/>
                </a:solidFill>
              </a:defRPr>
            </a:lvl9pPr>
          </a:lstStyle>
          <a:p xmlns:a="http://schemas.openxmlformats.org/drawingml/2006/main">
            <a:pPr>
              <a:defRPr sz="2175" b="1">
                <a:solidFill>
                  <a:srgbClr val="163B46"/>
                </a:solidFill>
              </a:defRPr>
            </a:pPr>
            <a:r>
              <a:rPr sz="2175" b="1">
                <a:solidFill>
                  <a:srgbClr val="163B46"/>
                </a:solidFill>
              </a:rPr>
              <a:t>QAM theory</a:t>
            </a:r>
          </a:p>
        </p:txBody>
      </p:sp>
      <p:sp>
        <p:nvSpPr>
          <p:cNvPr id="6" name="test-1">
            <a:extLst xmlns:a="http://schemas.openxmlformats.org/drawingml/2006/main">
              <a:ext uri="{FF2B5EF4-FFF2-40B4-BE49-F238E27FC236}">
                <a16:creationId xmlns:a16="http://schemas.microsoft.com/office/drawing/2014/main" id="{4DC2FE65-EA4C-4337-A854-DB1EFDC1718F}"/>
              </a:ext>
            </a:extLst>
          </p:cNvPr>
          <p:cNvSpPr>
            <a:spLocks xmlns:a="http://schemas.openxmlformats.org/drawingml/2006/main" noGrp="1"/>
          </p:cNvSpPr>
          <p:nvPr/>
        </p:nvSpPr>
        <p:spPr>
          <a:xfrm xmlns:a="http://schemas.openxmlformats.org/drawingml/2006/main">
            <a:off x="4667250" y="2305050"/>
            <a:ext cx="723900" cy="723900"/>
          </a:xfrm>
          <a:prstGeom xmlns:a="http://schemas.openxmlformats.org/drawingml/2006/main" prst="ellipse">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2400" b="1">
                <a:solidFill>
                  <a:srgbClr val="163B46"/>
                </a:solidFill>
              </a:defRPr>
            </a:defPPr>
            <a:lvl1pPr algn="ctr">
              <a:defRPr sz="2400" b="1">
                <a:solidFill>
                  <a:srgbClr val="163B46"/>
                </a:solidFill>
              </a:defRPr>
            </a:lvl1pPr>
            <a:lvl2pPr algn="ctr">
              <a:defRPr sz="2400" b="1">
                <a:solidFill>
                  <a:srgbClr val="163B46"/>
                </a:solidFill>
              </a:defRPr>
            </a:lvl2pPr>
            <a:lvl3pPr algn="ctr">
              <a:defRPr sz="2400" b="1">
                <a:solidFill>
                  <a:srgbClr val="163B46"/>
                </a:solidFill>
              </a:defRPr>
            </a:lvl3pPr>
            <a:lvl4pPr algn="ctr">
              <a:defRPr sz="2400" b="1">
                <a:solidFill>
                  <a:srgbClr val="163B46"/>
                </a:solidFill>
              </a:defRPr>
            </a:lvl4pPr>
            <a:lvl5pPr algn="ctr">
              <a:defRPr sz="2400" b="1">
                <a:solidFill>
                  <a:srgbClr val="163B46"/>
                </a:solidFill>
              </a:defRPr>
            </a:lvl5pPr>
            <a:lvl6pPr algn="ctr">
              <a:defRPr sz="2400" b="1">
                <a:solidFill>
                  <a:srgbClr val="163B46"/>
                </a:solidFill>
              </a:defRPr>
            </a:lvl6pPr>
            <a:lvl7pPr algn="ctr">
              <a:defRPr sz="2400" b="1">
                <a:solidFill>
                  <a:srgbClr val="163B46"/>
                </a:solidFill>
              </a:defRPr>
            </a:lvl7pPr>
            <a:lvl8pPr algn="ctr">
              <a:defRPr sz="2400" b="1">
                <a:solidFill>
                  <a:srgbClr val="163B46"/>
                </a:solidFill>
              </a:defRPr>
            </a:lvl8pPr>
            <a:lvl9pPr algn="ctr">
              <a:defRPr sz="2400" b="1">
                <a:solidFill>
                  <a:srgbClr val="163B46"/>
                </a:solidFill>
              </a:defRPr>
            </a:lvl9pPr>
          </a:lstStyle>
          <a:p xmlns:a="http://schemas.openxmlformats.org/drawingml/2006/main">
            <a:pPr algn="ctr">
              <a:defRPr sz="2400" b="1">
                <a:solidFill>
                  <a:srgbClr val="163B46"/>
                </a:solidFill>
              </a:defRPr>
            </a:pPr>
            <a:r>
              <a:rPr sz="2400" b="1">
                <a:solidFill>
                  <a:srgbClr val="163B46"/>
                </a:solidFill>
              </a:rPr>
              <a:t>2</a:t>
            </a:r>
          </a:p>
        </p:txBody>
      </p:sp>
      <p:sp>
        <p:nvSpPr>
          <p:cNvPr id="7" name="label-48">
            <a:extLst xmlns:a="http://schemas.openxmlformats.org/drawingml/2006/main">
              <a:ext uri="{FF2B5EF4-FFF2-40B4-BE49-F238E27FC236}">
                <a16:creationId xmlns:a16="http://schemas.microsoft.com/office/drawing/2014/main" id="{DB47D442-EF9F-401A-8C8D-448593A13A24}"/>
              </a:ext>
            </a:extLst>
          </p:cNvPr>
          <p:cNvSpPr>
            <a:spLocks xmlns:a="http://schemas.openxmlformats.org/drawingml/2006/main" noGrp="1"/>
          </p:cNvSpPr>
          <p:nvPr/>
        </p:nvSpPr>
        <p:spPr>
          <a:xfrm xmlns:a="http://schemas.openxmlformats.org/drawingml/2006/main">
            <a:off x="5581650" y="2466975"/>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B46"/>
                </a:solidFill>
              </a:defRPr>
            </a:defPPr>
            <a:lvl1pPr>
              <a:defRPr sz="2175" b="1">
                <a:solidFill>
                  <a:srgbClr val="163B46"/>
                </a:solidFill>
              </a:defRPr>
            </a:lvl1pPr>
            <a:lvl2pPr>
              <a:defRPr sz="2175" b="1">
                <a:solidFill>
                  <a:srgbClr val="163B46"/>
                </a:solidFill>
              </a:defRPr>
            </a:lvl2pPr>
            <a:lvl3pPr>
              <a:defRPr sz="2175" b="1">
                <a:solidFill>
                  <a:srgbClr val="163B46"/>
                </a:solidFill>
              </a:defRPr>
            </a:lvl3pPr>
            <a:lvl4pPr>
              <a:defRPr sz="2175" b="1">
                <a:solidFill>
                  <a:srgbClr val="163B46"/>
                </a:solidFill>
              </a:defRPr>
            </a:lvl4pPr>
            <a:lvl5pPr>
              <a:defRPr sz="2175" b="1">
                <a:solidFill>
                  <a:srgbClr val="163B46"/>
                </a:solidFill>
              </a:defRPr>
            </a:lvl5pPr>
            <a:lvl6pPr>
              <a:defRPr sz="2175" b="1">
                <a:solidFill>
                  <a:srgbClr val="163B46"/>
                </a:solidFill>
              </a:defRPr>
            </a:lvl6pPr>
            <a:lvl7pPr>
              <a:defRPr sz="2175" b="1">
                <a:solidFill>
                  <a:srgbClr val="163B46"/>
                </a:solidFill>
              </a:defRPr>
            </a:lvl7pPr>
            <a:lvl8pPr>
              <a:defRPr sz="2175" b="1">
                <a:solidFill>
                  <a:srgbClr val="163B46"/>
                </a:solidFill>
              </a:defRPr>
            </a:lvl8pPr>
            <a:lvl9pPr>
              <a:defRPr sz="2175" b="1">
                <a:solidFill>
                  <a:srgbClr val="163B46"/>
                </a:solidFill>
              </a:defRPr>
            </a:lvl9pPr>
          </a:lstStyle>
          <a:p xmlns:a="http://schemas.openxmlformats.org/drawingml/2006/main">
            <a:pPr>
              <a:defRPr sz="2175" b="1">
                <a:solidFill>
                  <a:srgbClr val="163B46"/>
                </a:solidFill>
              </a:defRPr>
            </a:pPr>
            <a:r>
              <a:rPr sz="2175" b="1">
                <a:solidFill>
                  <a:srgbClr val="163B46"/>
                </a:solidFill>
              </a:rPr>
              <a:t>Main channel</a:t>
            </a:r>
          </a:p>
        </p:txBody>
      </p:sp>
      <p:sp>
        <p:nvSpPr>
          <p:cNvPr id="8" name="test-2">
            <a:extLst xmlns:a="http://schemas.openxmlformats.org/drawingml/2006/main">
              <a:ext uri="{FF2B5EF4-FFF2-40B4-BE49-F238E27FC236}">
                <a16:creationId xmlns:a16="http://schemas.microsoft.com/office/drawing/2014/main" id="{1B3D8CC1-46BA-4B43-9F16-536E7C8A2C1B}"/>
              </a:ext>
            </a:extLst>
          </p:cNvPr>
          <p:cNvSpPr>
            <a:spLocks xmlns:a="http://schemas.openxmlformats.org/drawingml/2006/main" noGrp="1"/>
          </p:cNvSpPr>
          <p:nvPr/>
        </p:nvSpPr>
        <p:spPr>
          <a:xfrm xmlns:a="http://schemas.openxmlformats.org/drawingml/2006/main">
            <a:off x="8286750" y="2305050"/>
            <a:ext cx="723900" cy="723900"/>
          </a:xfrm>
          <a:prstGeom xmlns:a="http://schemas.openxmlformats.org/drawingml/2006/main" prst="ellipse">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2400" b="1">
                <a:solidFill>
                  <a:srgbClr val="163B46"/>
                </a:solidFill>
              </a:defRPr>
            </a:defPPr>
            <a:lvl1pPr algn="ctr">
              <a:defRPr sz="2400" b="1">
                <a:solidFill>
                  <a:srgbClr val="163B46"/>
                </a:solidFill>
              </a:defRPr>
            </a:lvl1pPr>
            <a:lvl2pPr algn="ctr">
              <a:defRPr sz="2400" b="1">
                <a:solidFill>
                  <a:srgbClr val="163B46"/>
                </a:solidFill>
              </a:defRPr>
            </a:lvl2pPr>
            <a:lvl3pPr algn="ctr">
              <a:defRPr sz="2400" b="1">
                <a:solidFill>
                  <a:srgbClr val="163B46"/>
                </a:solidFill>
              </a:defRPr>
            </a:lvl3pPr>
            <a:lvl4pPr algn="ctr">
              <a:defRPr sz="2400" b="1">
                <a:solidFill>
                  <a:srgbClr val="163B46"/>
                </a:solidFill>
              </a:defRPr>
            </a:lvl4pPr>
            <a:lvl5pPr algn="ctr">
              <a:defRPr sz="2400" b="1">
                <a:solidFill>
                  <a:srgbClr val="163B46"/>
                </a:solidFill>
              </a:defRPr>
            </a:lvl5pPr>
            <a:lvl6pPr algn="ctr">
              <a:defRPr sz="2400" b="1">
                <a:solidFill>
                  <a:srgbClr val="163B46"/>
                </a:solidFill>
              </a:defRPr>
            </a:lvl6pPr>
            <a:lvl7pPr algn="ctr">
              <a:defRPr sz="2400" b="1">
                <a:solidFill>
                  <a:srgbClr val="163B46"/>
                </a:solidFill>
              </a:defRPr>
            </a:lvl7pPr>
            <a:lvl8pPr algn="ctr">
              <a:defRPr sz="2400" b="1">
                <a:solidFill>
                  <a:srgbClr val="163B46"/>
                </a:solidFill>
              </a:defRPr>
            </a:lvl8pPr>
            <a:lvl9pPr algn="ctr">
              <a:defRPr sz="2400" b="1">
                <a:solidFill>
                  <a:srgbClr val="163B46"/>
                </a:solidFill>
              </a:defRPr>
            </a:lvl9pPr>
          </a:lstStyle>
          <a:p xmlns:a="http://schemas.openxmlformats.org/drawingml/2006/main">
            <a:pPr algn="ctr">
              <a:defRPr sz="2400" b="1">
                <a:solidFill>
                  <a:srgbClr val="163B46"/>
                </a:solidFill>
              </a:defRPr>
            </a:pPr>
            <a:r>
              <a:rPr sz="2400" b="1">
                <a:solidFill>
                  <a:srgbClr val="163B46"/>
                </a:solidFill>
              </a:rPr>
              <a:t>3</a:t>
            </a:r>
          </a:p>
        </p:txBody>
      </p:sp>
      <p:sp>
        <p:nvSpPr>
          <p:cNvPr id="9" name="label-49">
            <a:extLst xmlns:a="http://schemas.openxmlformats.org/drawingml/2006/main">
              <a:ext uri="{FF2B5EF4-FFF2-40B4-BE49-F238E27FC236}">
                <a16:creationId xmlns:a16="http://schemas.microsoft.com/office/drawing/2014/main" id="{564BA1B7-5DCB-4E8B-811C-AB669D63C00B}"/>
              </a:ext>
            </a:extLst>
          </p:cNvPr>
          <p:cNvSpPr>
            <a:spLocks xmlns:a="http://schemas.openxmlformats.org/drawingml/2006/main" noGrp="1"/>
          </p:cNvSpPr>
          <p:nvPr/>
        </p:nvSpPr>
        <p:spPr>
          <a:xfrm xmlns:a="http://schemas.openxmlformats.org/drawingml/2006/main">
            <a:off x="9201150" y="2466975"/>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B46"/>
                </a:solidFill>
              </a:defRPr>
            </a:defPPr>
            <a:lvl1pPr>
              <a:defRPr sz="2175" b="1">
                <a:solidFill>
                  <a:srgbClr val="163B46"/>
                </a:solidFill>
              </a:defRPr>
            </a:lvl1pPr>
            <a:lvl2pPr>
              <a:defRPr sz="2175" b="1">
                <a:solidFill>
                  <a:srgbClr val="163B46"/>
                </a:solidFill>
              </a:defRPr>
            </a:lvl2pPr>
            <a:lvl3pPr>
              <a:defRPr sz="2175" b="1">
                <a:solidFill>
                  <a:srgbClr val="163B46"/>
                </a:solidFill>
              </a:defRPr>
            </a:lvl3pPr>
            <a:lvl4pPr>
              <a:defRPr sz="2175" b="1">
                <a:solidFill>
                  <a:srgbClr val="163B46"/>
                </a:solidFill>
              </a:defRPr>
            </a:lvl4pPr>
            <a:lvl5pPr>
              <a:defRPr sz="2175" b="1">
                <a:solidFill>
                  <a:srgbClr val="163B46"/>
                </a:solidFill>
              </a:defRPr>
            </a:lvl5pPr>
            <a:lvl6pPr>
              <a:defRPr sz="2175" b="1">
                <a:solidFill>
                  <a:srgbClr val="163B46"/>
                </a:solidFill>
              </a:defRPr>
            </a:lvl6pPr>
            <a:lvl7pPr>
              <a:defRPr sz="2175" b="1">
                <a:solidFill>
                  <a:srgbClr val="163B46"/>
                </a:solidFill>
              </a:defRPr>
            </a:lvl7pPr>
            <a:lvl8pPr>
              <a:defRPr sz="2175" b="1">
                <a:solidFill>
                  <a:srgbClr val="163B46"/>
                </a:solidFill>
              </a:defRPr>
            </a:lvl8pPr>
            <a:lvl9pPr>
              <a:defRPr sz="2175" b="1">
                <a:solidFill>
                  <a:srgbClr val="163B46"/>
                </a:solidFill>
              </a:defRPr>
            </a:lvl9pPr>
          </a:lstStyle>
          <a:p xmlns:a="http://schemas.openxmlformats.org/drawingml/2006/main">
            <a:pPr>
              <a:defRPr sz="2175" b="1">
                <a:solidFill>
                  <a:srgbClr val="163B46"/>
                </a:solidFill>
              </a:defRPr>
            </a:pPr>
            <a:r>
              <a:rPr sz="2175" b="1">
                <a:solidFill>
                  <a:srgbClr val="163B46"/>
                </a:solidFill>
              </a:rPr>
              <a:t>FEXT</a:t>
            </a:r>
          </a:p>
        </p:txBody>
      </p:sp>
      <p:sp>
        <p:nvSpPr>
          <p:cNvPr id="10" name="test-3">
            <a:extLst xmlns:a="http://schemas.openxmlformats.org/drawingml/2006/main">
              <a:ext uri="{FF2B5EF4-FFF2-40B4-BE49-F238E27FC236}">
                <a16:creationId xmlns:a16="http://schemas.microsoft.com/office/drawing/2014/main" id="{809FE7AC-3804-44A5-BAED-451976736943}"/>
              </a:ext>
            </a:extLst>
          </p:cNvPr>
          <p:cNvSpPr>
            <a:spLocks xmlns:a="http://schemas.openxmlformats.org/drawingml/2006/main" noGrp="1"/>
          </p:cNvSpPr>
          <p:nvPr/>
        </p:nvSpPr>
        <p:spPr>
          <a:xfrm xmlns:a="http://schemas.openxmlformats.org/drawingml/2006/main">
            <a:off x="1047750" y="4352925"/>
            <a:ext cx="723900" cy="723900"/>
          </a:xfrm>
          <a:prstGeom xmlns:a="http://schemas.openxmlformats.org/drawingml/2006/main" prst="ellipse">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2400" b="1">
                <a:solidFill>
                  <a:srgbClr val="163B46"/>
                </a:solidFill>
              </a:defRPr>
            </a:defPPr>
            <a:lvl1pPr algn="ctr">
              <a:defRPr sz="2400" b="1">
                <a:solidFill>
                  <a:srgbClr val="163B46"/>
                </a:solidFill>
              </a:defRPr>
            </a:lvl1pPr>
            <a:lvl2pPr algn="ctr">
              <a:defRPr sz="2400" b="1">
                <a:solidFill>
                  <a:srgbClr val="163B46"/>
                </a:solidFill>
              </a:defRPr>
            </a:lvl2pPr>
            <a:lvl3pPr algn="ctr">
              <a:defRPr sz="2400" b="1">
                <a:solidFill>
                  <a:srgbClr val="163B46"/>
                </a:solidFill>
              </a:defRPr>
            </a:lvl3pPr>
            <a:lvl4pPr algn="ctr">
              <a:defRPr sz="2400" b="1">
                <a:solidFill>
                  <a:srgbClr val="163B46"/>
                </a:solidFill>
              </a:defRPr>
            </a:lvl4pPr>
            <a:lvl5pPr algn="ctr">
              <a:defRPr sz="2400" b="1">
                <a:solidFill>
                  <a:srgbClr val="163B46"/>
                </a:solidFill>
              </a:defRPr>
            </a:lvl5pPr>
            <a:lvl6pPr algn="ctr">
              <a:defRPr sz="2400" b="1">
                <a:solidFill>
                  <a:srgbClr val="163B46"/>
                </a:solidFill>
              </a:defRPr>
            </a:lvl6pPr>
            <a:lvl7pPr algn="ctr">
              <a:defRPr sz="2400" b="1">
                <a:solidFill>
                  <a:srgbClr val="163B46"/>
                </a:solidFill>
              </a:defRPr>
            </a:lvl7pPr>
            <a:lvl8pPr algn="ctr">
              <a:defRPr sz="2400" b="1">
                <a:solidFill>
                  <a:srgbClr val="163B46"/>
                </a:solidFill>
              </a:defRPr>
            </a:lvl8pPr>
            <a:lvl9pPr algn="ctr">
              <a:defRPr sz="2400" b="1">
                <a:solidFill>
                  <a:srgbClr val="163B46"/>
                </a:solidFill>
              </a:defRPr>
            </a:lvl9pPr>
          </a:lstStyle>
          <a:p xmlns:a="http://schemas.openxmlformats.org/drawingml/2006/main">
            <a:pPr algn="ctr">
              <a:defRPr sz="2400" b="1">
                <a:solidFill>
                  <a:srgbClr val="163B46"/>
                </a:solidFill>
              </a:defRPr>
            </a:pPr>
            <a:r>
              <a:rPr sz="2400" b="1">
                <a:solidFill>
                  <a:srgbClr val="163B46"/>
                </a:solidFill>
              </a:rPr>
              <a:t>4</a:t>
            </a:r>
          </a:p>
        </p:txBody>
      </p:sp>
      <p:sp>
        <p:nvSpPr>
          <p:cNvPr id="11" name="label-50">
            <a:extLst xmlns:a="http://schemas.openxmlformats.org/drawingml/2006/main">
              <a:ext uri="{FF2B5EF4-FFF2-40B4-BE49-F238E27FC236}">
                <a16:creationId xmlns:a16="http://schemas.microsoft.com/office/drawing/2014/main" id="{B0066F53-7DFB-43D4-BF92-2F64B24EEE31}"/>
              </a:ext>
            </a:extLst>
          </p:cNvPr>
          <p:cNvSpPr>
            <a:spLocks xmlns:a="http://schemas.openxmlformats.org/drawingml/2006/main" noGrp="1"/>
          </p:cNvSpPr>
          <p:nvPr/>
        </p:nvSpPr>
        <p:spPr>
          <a:xfrm xmlns:a="http://schemas.openxmlformats.org/drawingml/2006/main">
            <a:off x="1962150" y="4514850"/>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B46"/>
                </a:solidFill>
              </a:defRPr>
            </a:defPPr>
            <a:lvl1pPr>
              <a:defRPr sz="2175" b="1">
                <a:solidFill>
                  <a:srgbClr val="163B46"/>
                </a:solidFill>
              </a:defRPr>
            </a:lvl1pPr>
            <a:lvl2pPr>
              <a:defRPr sz="2175" b="1">
                <a:solidFill>
                  <a:srgbClr val="163B46"/>
                </a:solidFill>
              </a:defRPr>
            </a:lvl2pPr>
            <a:lvl3pPr>
              <a:defRPr sz="2175" b="1">
                <a:solidFill>
                  <a:srgbClr val="163B46"/>
                </a:solidFill>
              </a:defRPr>
            </a:lvl3pPr>
            <a:lvl4pPr>
              <a:defRPr sz="2175" b="1">
                <a:solidFill>
                  <a:srgbClr val="163B46"/>
                </a:solidFill>
              </a:defRPr>
            </a:lvl4pPr>
            <a:lvl5pPr>
              <a:defRPr sz="2175" b="1">
                <a:solidFill>
                  <a:srgbClr val="163B46"/>
                </a:solidFill>
              </a:defRPr>
            </a:lvl5pPr>
            <a:lvl6pPr>
              <a:defRPr sz="2175" b="1">
                <a:solidFill>
                  <a:srgbClr val="163B46"/>
                </a:solidFill>
              </a:defRPr>
            </a:lvl6pPr>
            <a:lvl7pPr>
              <a:defRPr sz="2175" b="1">
                <a:solidFill>
                  <a:srgbClr val="163B46"/>
                </a:solidFill>
              </a:defRPr>
            </a:lvl7pPr>
            <a:lvl8pPr>
              <a:defRPr sz="2175" b="1">
                <a:solidFill>
                  <a:srgbClr val="163B46"/>
                </a:solidFill>
              </a:defRPr>
            </a:lvl8pPr>
            <a:lvl9pPr>
              <a:defRPr sz="2175" b="1">
                <a:solidFill>
                  <a:srgbClr val="163B46"/>
                </a:solidFill>
              </a:defRPr>
            </a:lvl9pPr>
          </a:lstStyle>
          <a:p xmlns:a="http://schemas.openxmlformats.org/drawingml/2006/main">
            <a:pPr>
              <a:defRPr sz="2175" b="1">
                <a:solidFill>
                  <a:srgbClr val="163B46"/>
                </a:solidFill>
              </a:defRPr>
            </a:pPr>
            <a:r>
              <a:rPr sz="2175" b="1">
                <a:solidFill>
                  <a:srgbClr val="163B46"/>
                </a:solidFill>
              </a:rPr>
              <a:t>Cancellation</a:t>
            </a:r>
          </a:p>
        </p:txBody>
      </p:sp>
      <p:sp>
        <p:nvSpPr>
          <p:cNvPr id="12" name="test-4">
            <a:extLst xmlns:a="http://schemas.openxmlformats.org/drawingml/2006/main">
              <a:ext uri="{FF2B5EF4-FFF2-40B4-BE49-F238E27FC236}">
                <a16:creationId xmlns:a16="http://schemas.microsoft.com/office/drawing/2014/main" id="{E4869C7A-885B-4670-B321-7B0003453641}"/>
              </a:ext>
            </a:extLst>
          </p:cNvPr>
          <p:cNvSpPr>
            <a:spLocks xmlns:a="http://schemas.openxmlformats.org/drawingml/2006/main" noGrp="1"/>
          </p:cNvSpPr>
          <p:nvPr/>
        </p:nvSpPr>
        <p:spPr>
          <a:xfrm xmlns:a="http://schemas.openxmlformats.org/drawingml/2006/main">
            <a:off x="4667250" y="4352925"/>
            <a:ext cx="723900" cy="723900"/>
          </a:xfrm>
          <a:prstGeom xmlns:a="http://schemas.openxmlformats.org/drawingml/2006/main" prst="ellipse">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2400" b="1">
                <a:solidFill>
                  <a:srgbClr val="163B46"/>
                </a:solidFill>
              </a:defRPr>
            </a:defPPr>
            <a:lvl1pPr algn="ctr">
              <a:defRPr sz="2400" b="1">
                <a:solidFill>
                  <a:srgbClr val="163B46"/>
                </a:solidFill>
              </a:defRPr>
            </a:lvl1pPr>
            <a:lvl2pPr algn="ctr">
              <a:defRPr sz="2400" b="1">
                <a:solidFill>
                  <a:srgbClr val="163B46"/>
                </a:solidFill>
              </a:defRPr>
            </a:lvl2pPr>
            <a:lvl3pPr algn="ctr">
              <a:defRPr sz="2400" b="1">
                <a:solidFill>
                  <a:srgbClr val="163B46"/>
                </a:solidFill>
              </a:defRPr>
            </a:lvl3pPr>
            <a:lvl4pPr algn="ctr">
              <a:defRPr sz="2400" b="1">
                <a:solidFill>
                  <a:srgbClr val="163B46"/>
                </a:solidFill>
              </a:defRPr>
            </a:lvl4pPr>
            <a:lvl5pPr algn="ctr">
              <a:defRPr sz="2400" b="1">
                <a:solidFill>
                  <a:srgbClr val="163B46"/>
                </a:solidFill>
              </a:defRPr>
            </a:lvl5pPr>
            <a:lvl6pPr algn="ctr">
              <a:defRPr sz="2400" b="1">
                <a:solidFill>
                  <a:srgbClr val="163B46"/>
                </a:solidFill>
              </a:defRPr>
            </a:lvl6pPr>
            <a:lvl7pPr algn="ctr">
              <a:defRPr sz="2400" b="1">
                <a:solidFill>
                  <a:srgbClr val="163B46"/>
                </a:solidFill>
              </a:defRPr>
            </a:lvl7pPr>
            <a:lvl8pPr algn="ctr">
              <a:defRPr sz="2400" b="1">
                <a:solidFill>
                  <a:srgbClr val="163B46"/>
                </a:solidFill>
              </a:defRPr>
            </a:lvl8pPr>
            <a:lvl9pPr algn="ctr">
              <a:defRPr sz="2400" b="1">
                <a:solidFill>
                  <a:srgbClr val="163B46"/>
                </a:solidFill>
              </a:defRPr>
            </a:lvl9pPr>
          </a:lstStyle>
          <a:p xmlns:a="http://schemas.openxmlformats.org/drawingml/2006/main">
            <a:pPr algn="ctr">
              <a:defRPr sz="2400" b="1">
                <a:solidFill>
                  <a:srgbClr val="163B46"/>
                </a:solidFill>
              </a:defRPr>
            </a:pPr>
            <a:r>
              <a:rPr sz="2400" b="1">
                <a:solidFill>
                  <a:srgbClr val="163B46"/>
                </a:solidFill>
              </a:rPr>
              <a:t>5</a:t>
            </a:r>
          </a:p>
        </p:txBody>
      </p:sp>
      <p:sp>
        <p:nvSpPr>
          <p:cNvPr id="13" name="label-51">
            <a:extLst xmlns:a="http://schemas.openxmlformats.org/drawingml/2006/main">
              <a:ext uri="{FF2B5EF4-FFF2-40B4-BE49-F238E27FC236}">
                <a16:creationId xmlns:a16="http://schemas.microsoft.com/office/drawing/2014/main" id="{3C63A191-5416-4932-A083-E8DB348CDDD3}"/>
              </a:ext>
            </a:extLst>
          </p:cNvPr>
          <p:cNvSpPr>
            <a:spLocks xmlns:a="http://schemas.openxmlformats.org/drawingml/2006/main" noGrp="1"/>
          </p:cNvSpPr>
          <p:nvPr/>
        </p:nvSpPr>
        <p:spPr>
          <a:xfrm xmlns:a="http://schemas.openxmlformats.org/drawingml/2006/main">
            <a:off x="5581650" y="4514850"/>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B46"/>
                </a:solidFill>
              </a:defRPr>
            </a:defPPr>
            <a:lvl1pPr>
              <a:defRPr sz="2175" b="1">
                <a:solidFill>
                  <a:srgbClr val="163B46"/>
                </a:solidFill>
              </a:defRPr>
            </a:lvl1pPr>
            <a:lvl2pPr>
              <a:defRPr sz="2175" b="1">
                <a:solidFill>
                  <a:srgbClr val="163B46"/>
                </a:solidFill>
              </a:defRPr>
            </a:lvl2pPr>
            <a:lvl3pPr>
              <a:defRPr sz="2175" b="1">
                <a:solidFill>
                  <a:srgbClr val="163B46"/>
                </a:solidFill>
              </a:defRPr>
            </a:lvl3pPr>
            <a:lvl4pPr>
              <a:defRPr sz="2175" b="1">
                <a:solidFill>
                  <a:srgbClr val="163B46"/>
                </a:solidFill>
              </a:defRPr>
            </a:lvl4pPr>
            <a:lvl5pPr>
              <a:defRPr sz="2175" b="1">
                <a:solidFill>
                  <a:srgbClr val="163B46"/>
                </a:solidFill>
              </a:defRPr>
            </a:lvl5pPr>
            <a:lvl6pPr>
              <a:defRPr sz="2175" b="1">
                <a:solidFill>
                  <a:srgbClr val="163B46"/>
                </a:solidFill>
              </a:defRPr>
            </a:lvl6pPr>
            <a:lvl7pPr>
              <a:defRPr sz="2175" b="1">
                <a:solidFill>
                  <a:srgbClr val="163B46"/>
                </a:solidFill>
              </a:defRPr>
            </a:lvl7pPr>
            <a:lvl8pPr>
              <a:defRPr sz="2175" b="1">
                <a:solidFill>
                  <a:srgbClr val="163B46"/>
                </a:solidFill>
              </a:defRPr>
            </a:lvl8pPr>
            <a:lvl9pPr>
              <a:defRPr sz="2175" b="1">
                <a:solidFill>
                  <a:srgbClr val="163B46"/>
                </a:solidFill>
              </a:defRPr>
            </a:lvl9pPr>
          </a:lstStyle>
          <a:p xmlns:a="http://schemas.openxmlformats.org/drawingml/2006/main">
            <a:pPr>
              <a:defRPr sz="2175" b="1">
                <a:solidFill>
                  <a:srgbClr val="163B46"/>
                </a:solidFill>
              </a:defRPr>
            </a:pPr>
            <a:r>
              <a:rPr sz="2175" b="1">
                <a:solidFill>
                  <a:srgbClr val="163B46"/>
                </a:solidFill>
              </a:rPr>
              <a:t>Short training</a:t>
            </a:r>
          </a:p>
        </p:txBody>
      </p:sp>
      <p:sp>
        <p:nvSpPr>
          <p:cNvPr id="14" name="test-5">
            <a:extLst xmlns:a="http://schemas.openxmlformats.org/drawingml/2006/main">
              <a:ext uri="{FF2B5EF4-FFF2-40B4-BE49-F238E27FC236}">
                <a16:creationId xmlns:a16="http://schemas.microsoft.com/office/drawing/2014/main" id="{5FE03E46-88F2-404D-988F-3501A3AF0CD3}"/>
              </a:ext>
            </a:extLst>
          </p:cNvPr>
          <p:cNvSpPr>
            <a:spLocks xmlns:a="http://schemas.openxmlformats.org/drawingml/2006/main" noGrp="1"/>
          </p:cNvSpPr>
          <p:nvPr/>
        </p:nvSpPr>
        <p:spPr>
          <a:xfrm xmlns:a="http://schemas.openxmlformats.org/drawingml/2006/main">
            <a:off x="8286750" y="4352925"/>
            <a:ext cx="723900" cy="723900"/>
          </a:xfrm>
          <a:prstGeom xmlns:a="http://schemas.openxmlformats.org/drawingml/2006/main" prst="ellipse">
            <a:avLst/>
          </a:prstGeom>
          <a:solidFill xmlns:a="http://schemas.openxmlformats.org/drawingml/2006/main">
            <a:srgbClr val="007E87"/>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2400" b="1">
                <a:solidFill>
                  <a:srgbClr val="FFFFFF"/>
                </a:solidFill>
              </a:defRPr>
            </a:defPPr>
            <a:lvl1pPr algn="ctr">
              <a:defRPr sz="2400" b="1">
                <a:solidFill>
                  <a:srgbClr val="FFFFFF"/>
                </a:solidFill>
              </a:defRPr>
            </a:lvl1pPr>
            <a:lvl2pPr algn="ctr">
              <a:defRPr sz="2400" b="1">
                <a:solidFill>
                  <a:srgbClr val="FFFFFF"/>
                </a:solidFill>
              </a:defRPr>
            </a:lvl2pPr>
            <a:lvl3pPr algn="ctr">
              <a:defRPr sz="2400" b="1">
                <a:solidFill>
                  <a:srgbClr val="FFFFFF"/>
                </a:solidFill>
              </a:defRPr>
            </a:lvl3pPr>
            <a:lvl4pPr algn="ctr">
              <a:defRPr sz="2400" b="1">
                <a:solidFill>
                  <a:srgbClr val="FFFFFF"/>
                </a:solidFill>
              </a:defRPr>
            </a:lvl4pPr>
            <a:lvl5pPr algn="ctr">
              <a:defRPr sz="2400" b="1">
                <a:solidFill>
                  <a:srgbClr val="FFFFFF"/>
                </a:solidFill>
              </a:defRPr>
            </a:lvl5pPr>
            <a:lvl6pPr algn="ctr">
              <a:defRPr sz="2400" b="1">
                <a:solidFill>
                  <a:srgbClr val="FFFFFF"/>
                </a:solidFill>
              </a:defRPr>
            </a:lvl6pPr>
            <a:lvl7pPr algn="ctr">
              <a:defRPr sz="2400" b="1">
                <a:solidFill>
                  <a:srgbClr val="FFFFFF"/>
                </a:solidFill>
              </a:defRPr>
            </a:lvl7pPr>
            <a:lvl8pPr algn="ctr">
              <a:defRPr sz="2400" b="1">
                <a:solidFill>
                  <a:srgbClr val="FFFFFF"/>
                </a:solidFill>
              </a:defRPr>
            </a:lvl8pPr>
            <a:lvl9pPr algn="ctr">
              <a:defRPr sz="2400" b="1">
                <a:solidFill>
                  <a:srgbClr val="FFFFFF"/>
                </a:solidFill>
              </a:defRPr>
            </a:lvl9pPr>
          </a:lstStyle>
          <a:p xmlns:a="http://schemas.openxmlformats.org/drawingml/2006/main">
            <a:pPr algn="ctr">
              <a:defRPr sz="2400" b="1">
                <a:solidFill>
                  <a:srgbClr val="163B46"/>
                </a:solidFill>
              </a:defRPr>
            </a:pPr>
            <a:r>
              <a:rPr sz="2400" b="1">
                <a:solidFill>
                  <a:srgbClr val="FFFFFF"/>
                </a:solidFill>
              </a:rPr>
              <a:t>6</a:t>
            </a:r>
          </a:p>
        </p:txBody>
      </p:sp>
      <p:sp>
        <p:nvSpPr>
          <p:cNvPr id="15" name="label-52">
            <a:extLst xmlns:a="http://schemas.openxmlformats.org/drawingml/2006/main">
              <a:ext uri="{FF2B5EF4-FFF2-40B4-BE49-F238E27FC236}">
                <a16:creationId xmlns:a16="http://schemas.microsoft.com/office/drawing/2014/main" id="{0CE78C08-8CCB-4627-B864-494FED0CEE90}"/>
              </a:ext>
            </a:extLst>
          </p:cNvPr>
          <p:cNvSpPr>
            <a:spLocks xmlns:a="http://schemas.openxmlformats.org/drawingml/2006/main" noGrp="1"/>
          </p:cNvSpPr>
          <p:nvPr/>
        </p:nvSpPr>
        <p:spPr>
          <a:xfrm xmlns:a="http://schemas.openxmlformats.org/drawingml/2006/main">
            <a:off x="9201150" y="4514850"/>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B46"/>
                </a:solidFill>
              </a:defRPr>
            </a:defPPr>
            <a:lvl1pPr>
              <a:defRPr sz="2175" b="1">
                <a:solidFill>
                  <a:srgbClr val="163B46"/>
                </a:solidFill>
              </a:defRPr>
            </a:lvl1pPr>
            <a:lvl2pPr>
              <a:defRPr sz="2175" b="1">
                <a:solidFill>
                  <a:srgbClr val="163B46"/>
                </a:solidFill>
              </a:defRPr>
            </a:lvl2pPr>
            <a:lvl3pPr>
              <a:defRPr sz="2175" b="1">
                <a:solidFill>
                  <a:srgbClr val="163B46"/>
                </a:solidFill>
              </a:defRPr>
            </a:lvl3pPr>
            <a:lvl4pPr>
              <a:defRPr sz="2175" b="1">
                <a:solidFill>
                  <a:srgbClr val="163B46"/>
                </a:solidFill>
              </a:defRPr>
            </a:lvl4pPr>
            <a:lvl5pPr>
              <a:defRPr sz="2175" b="1">
                <a:solidFill>
                  <a:srgbClr val="163B46"/>
                </a:solidFill>
              </a:defRPr>
            </a:lvl5pPr>
            <a:lvl6pPr>
              <a:defRPr sz="2175" b="1">
                <a:solidFill>
                  <a:srgbClr val="163B46"/>
                </a:solidFill>
              </a:defRPr>
            </a:lvl6pPr>
            <a:lvl7pPr>
              <a:defRPr sz="2175" b="1">
                <a:solidFill>
                  <a:srgbClr val="163B46"/>
                </a:solidFill>
              </a:defRPr>
            </a:lvl7pPr>
            <a:lvl8pPr>
              <a:defRPr sz="2175" b="1">
                <a:solidFill>
                  <a:srgbClr val="163B46"/>
                </a:solidFill>
              </a:defRPr>
            </a:lvl8pPr>
            <a:lvl9pPr>
              <a:defRPr sz="2175" b="1">
                <a:solidFill>
                  <a:srgbClr val="163B46"/>
                </a:solidFill>
              </a:defRPr>
            </a:lvl9pPr>
          </a:lstStyle>
          <a:p xmlns:a="http://schemas.openxmlformats.org/drawingml/2006/main">
            <a:pPr>
              <a:defRPr sz="2175" b="1">
                <a:solidFill>
                  <a:srgbClr val="163B46"/>
                </a:solidFill>
              </a:defRPr>
            </a:pPr>
            <a:r>
              <a:rPr sz="2175" b="1">
                <a:solidFill>
                  <a:srgbClr val="163B46"/>
                </a:solidFill>
              </a:rPr>
              <a:t>Full baseline</a:t>
            </a:r>
          </a:p>
        </p:txBody>
      </p:sp>
      <p:sp>
        <p:nvSpPr>
          <p:cNvPr id="16" name="line-53">
            <a:extLst xmlns:a="http://schemas.openxmlformats.org/drawingml/2006/main">
              <a:ext uri="{FF2B5EF4-FFF2-40B4-BE49-F238E27FC236}">
                <a16:creationId xmlns:a16="http://schemas.microsoft.com/office/drawing/2014/main" id="{AE01383D-606E-40AB-B7BC-B64F8361FA7F}"/>
              </a:ext>
            </a:extLst>
          </p:cNvPr>
          <p:cNvSpPr>
            <a:spLocks xmlns:a="http://schemas.openxmlformats.org/drawingml/2006/main" noGrp="1"/>
          </p:cNvSpPr>
          <p:nvPr/>
        </p:nvSpPr>
        <p:spPr>
          <a:xfrm xmlns:a="http://schemas.openxmlformats.org/drawingml/2006/main">
            <a:off x="1428750" y="3124200"/>
            <a:ext cx="7239000" cy="19050"/>
          </a:xfrm>
          <a:prstGeom xmlns:a="http://schemas.openxmlformats.org/drawingml/2006/main" prst="rect">
            <a:avLst/>
          </a:prstGeom>
          <a:solidFill xmlns:a="http://schemas.openxmlformats.org/drawingml/2006/main">
            <a:srgbClr val="C7D6DB"/>
          </a:solidFill>
          <a:ln xmlns:a="http://schemas.openxmlformats.org/drawingml/2006/main" w="19050">
            <a:solidFill>
              <a:srgbClr val="C7D6DB"/>
            </a:solidFill>
          </a:ln>
        </p:spPr>
      </p:sp>
      <p:sp>
        <p:nvSpPr>
          <p:cNvPr id="17" name="line-54">
            <a:extLst xmlns:a="http://schemas.openxmlformats.org/drawingml/2006/main">
              <a:ext uri="{FF2B5EF4-FFF2-40B4-BE49-F238E27FC236}">
                <a16:creationId xmlns:a16="http://schemas.microsoft.com/office/drawing/2014/main" id="{F8730602-EC29-44D7-8D1C-D5D25BBD3746}"/>
              </a:ext>
            </a:extLst>
          </p:cNvPr>
          <p:cNvSpPr>
            <a:spLocks xmlns:a="http://schemas.openxmlformats.org/drawingml/2006/main" noGrp="1"/>
          </p:cNvSpPr>
          <p:nvPr/>
        </p:nvSpPr>
        <p:spPr>
          <a:xfrm xmlns:a="http://schemas.openxmlformats.org/drawingml/2006/main">
            <a:off x="1428750" y="5172075"/>
            <a:ext cx="7239000" cy="19050"/>
          </a:xfrm>
          <a:prstGeom xmlns:a="http://schemas.openxmlformats.org/drawingml/2006/main" prst="rect">
            <a:avLst/>
          </a:prstGeom>
          <a:solidFill xmlns:a="http://schemas.openxmlformats.org/drawingml/2006/main">
            <a:srgbClr val="C7D6DB"/>
          </a:solidFill>
          <a:ln xmlns:a="http://schemas.openxmlformats.org/drawingml/2006/main" w="19050">
            <a:solidFill>
              <a:srgbClr val="C7D6DB"/>
            </a:solidFill>
          </a:ln>
        </p:spPr>
      </p:sp>
      <p:sp>
        <p:nvSpPr>
          <p:cNvPr id="18" name="test-token">
            <a:extLst xmlns:a="http://schemas.openxmlformats.org/drawingml/2006/main">
              <a:ext uri="{FF2B5EF4-FFF2-40B4-BE49-F238E27FC236}">
                <a16:creationId xmlns:a16="http://schemas.microsoft.com/office/drawing/2014/main" id="{27CEF821-C590-4EFD-82B1-53FA82B9FA25}"/>
              </a:ext>
            </a:extLst>
          </p:cNvPr>
          <p:cNvSpPr>
            <a:spLocks xmlns:a="http://schemas.openxmlformats.org/drawingml/2006/main" noGrp="1"/>
          </p:cNvSpPr>
          <p:nvPr/>
        </p:nvSpPr>
        <p:spPr>
          <a:xfrm xmlns:a="http://schemas.openxmlformats.org/drawingml/2006/main">
            <a:off x="1219200" y="3048000"/>
            <a:ext cx="304800" cy="209550"/>
          </a:xfrm>
          <a:prstGeom xmlns:a="http://schemas.openxmlformats.org/drawingml/2006/main" prst="roundRect">
            <a:avLst>
              <a:gd name="adj" fmla="val 36364"/>
            </a:avLst>
          </a:prstGeom>
          <a:solidFill xmlns:a="http://schemas.openxmlformats.org/drawingml/2006/main">
            <a:srgbClr val="CB6A32"/>
          </a:solidFill>
          <a:ln xmlns:a="http://schemas.openxmlformats.org/drawingml/2006/main" w="19050">
            <a:solidFill>
              <a:srgbClr val="CB6A32"/>
            </a:solidFill>
          </a:ln>
        </p:spPr>
      </p:sp>
      <p:sp>
        <p:nvSpPr>
          <p:cNvPr id="19" name="caption">
            <a:extLst xmlns:a="http://schemas.openxmlformats.org/drawingml/2006/main">
              <a:ext uri="{FF2B5EF4-FFF2-40B4-BE49-F238E27FC236}">
                <a16:creationId xmlns:a16="http://schemas.microsoft.com/office/drawing/2014/main" id="{087262F3-122E-455C-AF73-CB0049BA101F}"/>
              </a:ext>
            </a:extLst>
          </p:cNvPr>
          <p:cNvSpPr>
            <a:spLocks xmlns:a="http://schemas.openxmlformats.org/drawingml/2006/main" noGrp="1"/>
          </p:cNvSpPr>
          <p:nvPr/>
        </p:nvSpPr>
        <p:spPr>
          <a:xfrm xmlns:a="http://schemas.openxmlformats.org/drawingml/2006/main">
            <a:off x="60960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8717B"/>
                </a:solidFill>
              </a:defRPr>
            </a:defPPr>
            <a:lvl1pPr>
              <a:defRPr sz="1800" b="0">
                <a:solidFill>
                  <a:srgbClr val="58717B"/>
                </a:solidFill>
              </a:defRPr>
            </a:lvl1pPr>
            <a:lvl2pPr>
              <a:defRPr sz="1800" b="0">
                <a:solidFill>
                  <a:srgbClr val="58717B"/>
                </a:solidFill>
              </a:defRPr>
            </a:lvl2pPr>
            <a:lvl3pPr>
              <a:defRPr sz="1800" b="0">
                <a:solidFill>
                  <a:srgbClr val="58717B"/>
                </a:solidFill>
              </a:defRPr>
            </a:lvl3pPr>
            <a:lvl4pPr>
              <a:defRPr sz="1800" b="0">
                <a:solidFill>
                  <a:srgbClr val="58717B"/>
                </a:solidFill>
              </a:defRPr>
            </a:lvl4pPr>
            <a:lvl5pPr>
              <a:defRPr sz="1800" b="0">
                <a:solidFill>
                  <a:srgbClr val="58717B"/>
                </a:solidFill>
              </a:defRPr>
            </a:lvl5pPr>
            <a:lvl6pPr>
              <a:defRPr sz="1800" b="0">
                <a:solidFill>
                  <a:srgbClr val="58717B"/>
                </a:solidFill>
              </a:defRPr>
            </a:lvl6pPr>
            <a:lvl7pPr>
              <a:defRPr sz="1800" b="0">
                <a:solidFill>
                  <a:srgbClr val="58717B"/>
                </a:solidFill>
              </a:defRPr>
            </a:lvl7pPr>
            <a:lvl8pPr>
              <a:defRPr sz="1800" b="0">
                <a:solidFill>
                  <a:srgbClr val="58717B"/>
                </a:solidFill>
              </a:defRPr>
            </a:lvl8pPr>
            <a:lvl9pPr>
              <a:defRPr sz="1800" b="0">
                <a:solidFill>
                  <a:srgbClr val="58717B"/>
                </a:solidFill>
              </a:defRPr>
            </a:lvl9pPr>
          </a:lstStyle>
          <a:p xmlns:a="http://schemas.openxmlformats.org/drawingml/2006/main">
            <a:pPr>
              <a:defRPr sz="1800" b="0">
                <a:solidFill>
                  <a:srgbClr val="58717B"/>
                </a:solidFill>
              </a:defRPr>
            </a:pPr>
            <a:r>
              <a:rPr sz="1800" b="0">
                <a:solidFill>
                  <a:srgbClr val="58717B"/>
                </a:solidFill>
              </a:rPr>
              <a:t>Each test isolates a different part of the receiver.</a:t>
            </a:r>
          </a:p>
        </p:txBody>
      </p:sp>
    </p:spTree>
    <p:extLst>
      <p:ext uri="{BB962C8B-B14F-4D97-AF65-F5344CB8AC3E}">
        <p14:creationId xmlns:p14="http://schemas.microsoft.com/office/powerpoint/2010/main" val="1719902297"/>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296875 0.000000 E" pathEditMode="relative" rAng="0">
                                      <p:cBhvr additive="base">
                                        <p:cTn id="6" dur="800" fill="hold" accel="12000" decel="12000"/>
                                        <p:tgtEl>
                                          <p:spTgt spid="18"/>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fill="hold" nodeType="clickEffect">
                                  <p:stCondLst>
                                    <p:cond delay="0"/>
                                  </p:stCondLst>
                                  <p:childTnLst>
                                    <p:animMotion origin="layout" path="M 0.296875 0.000000 L 0.593750 0.000000 E" pathEditMode="relative" rAng="0">
                                      <p:cBhvr additive="base">
                                        <p:cTn id="10" dur="800" fill="hold" accel="12000" decel="12000"/>
                                        <p:tgtEl>
                                          <p:spTgt spid="18"/>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fill="hold" nodeType="clickEffect">
                                  <p:stCondLst>
                                    <p:cond delay="0"/>
                                  </p:stCondLst>
                                  <p:childTnLst>
                                    <p:animMotion origin="layout" path="M 0.593750 0.000000 L 0.593750 0.148611 L 0.000000 0.148611 L 0.000000 0.298611 E" pathEditMode="relative" rAng="0">
                                      <p:cBhvr additive="base">
                                        <p:cTn id="14" dur="1350" fill="hold" accel="12000" decel="12000"/>
                                        <p:tgtEl>
                                          <p:spTgt spid="18"/>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fill="hold" nodeType="clickEffect">
                                  <p:stCondLst>
                                    <p:cond delay="0"/>
                                  </p:stCondLst>
                                  <p:childTnLst>
                                    <p:animMotion origin="layout" path="M 0.000000 0.298611 L 0.296875 0.298611 E" pathEditMode="relative" rAng="0">
                                      <p:cBhvr additive="base">
                                        <p:cTn id="18" dur="800" fill="hold" accel="12000" decel="12000"/>
                                        <p:tgtEl>
                                          <p:spTgt spid="18"/>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0" presetClass="path" presetSubtype="0" fill="hold" nodeType="clickEffect">
                                  <p:stCondLst>
                                    <p:cond delay="0"/>
                                  </p:stCondLst>
                                  <p:childTnLst>
                                    <p:animMotion origin="layout" path="M 0.296875 0.298611 L 0.593750 0.298611 E" pathEditMode="relative" rAng="0">
                                      <p:cBhvr additive="base">
                                        <p:cTn id="22" dur="800" fill="hold" accel="12000" decel="12000"/>
                                        <p:tgtEl>
                                          <p:spTgt spid="1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FE4AF0F-7E02-4E53-8BEA-7758DA602C3C}"/>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63B46"/>
                </a:solidFill>
              </a:defRPr>
            </a:defPPr>
            <a:lvl1pPr>
              <a:defRPr sz="3450" b="1">
                <a:solidFill>
                  <a:srgbClr val="163B46"/>
                </a:solidFill>
              </a:defRPr>
            </a:lvl1pPr>
            <a:lvl2pPr>
              <a:defRPr sz="3450" b="1">
                <a:solidFill>
                  <a:srgbClr val="163B46"/>
                </a:solidFill>
              </a:defRPr>
            </a:lvl2pPr>
            <a:lvl3pPr>
              <a:defRPr sz="3450" b="1">
                <a:solidFill>
                  <a:srgbClr val="163B46"/>
                </a:solidFill>
              </a:defRPr>
            </a:lvl3pPr>
            <a:lvl4pPr>
              <a:defRPr sz="3450" b="1">
                <a:solidFill>
                  <a:srgbClr val="163B46"/>
                </a:solidFill>
              </a:defRPr>
            </a:lvl4pPr>
            <a:lvl5pPr>
              <a:defRPr sz="3450" b="1">
                <a:solidFill>
                  <a:srgbClr val="163B46"/>
                </a:solidFill>
              </a:defRPr>
            </a:lvl5pPr>
            <a:lvl6pPr>
              <a:defRPr sz="3450" b="1">
                <a:solidFill>
                  <a:srgbClr val="163B46"/>
                </a:solidFill>
              </a:defRPr>
            </a:lvl6pPr>
            <a:lvl7pPr>
              <a:defRPr sz="3450" b="1">
                <a:solidFill>
                  <a:srgbClr val="163B46"/>
                </a:solidFill>
              </a:defRPr>
            </a:lvl7pPr>
            <a:lvl8pPr>
              <a:defRPr sz="3450" b="1">
                <a:solidFill>
                  <a:srgbClr val="163B46"/>
                </a:solidFill>
              </a:defRPr>
            </a:lvl8pPr>
            <a:lvl9pPr>
              <a:defRPr sz="3450" b="1">
                <a:solidFill>
                  <a:srgbClr val="163B46"/>
                </a:solidFill>
              </a:defRPr>
            </a:lvl9pPr>
          </a:lstStyle>
          <a:p xmlns:a="http://schemas.openxmlformats.org/drawingml/2006/main">
            <a:pPr>
              <a:defRPr sz="3450" b="1">
                <a:solidFill>
                  <a:srgbClr val="163B46"/>
                </a:solidFill>
              </a:defRPr>
            </a:pPr>
            <a:r>
              <a:rPr sz="3450" b="1">
                <a:solidFill>
                  <a:srgbClr val="163B46"/>
                </a:solidFill>
              </a:rPr>
              <a:t>How symbol recovery works</a:t>
            </a:r>
          </a:p>
        </p:txBody>
      </p:sp>
      <p:sp>
        <p:nvSpPr>
          <p:cNvPr id="3" name="page">
            <a:extLst xmlns:a="http://schemas.openxmlformats.org/drawingml/2006/main">
              <a:ext uri="{FF2B5EF4-FFF2-40B4-BE49-F238E27FC236}">
                <a16:creationId xmlns:a16="http://schemas.microsoft.com/office/drawing/2014/main" id="{4B126F9B-AE0B-4FCC-9D80-D8A8BD08073C}"/>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08</a:t>
            </a:r>
          </a:p>
        </p:txBody>
      </p:sp>
      <p:sp>
        <p:nvSpPr>
          <p:cNvPr id="4" name="line-55">
            <a:extLst xmlns:a="http://schemas.openxmlformats.org/drawingml/2006/main">
              <a:ext uri="{FF2B5EF4-FFF2-40B4-BE49-F238E27FC236}">
                <a16:creationId xmlns:a16="http://schemas.microsoft.com/office/drawing/2014/main" id="{A8D94A6C-FDF2-4096-95D9-E324541EF99E}"/>
              </a:ext>
            </a:extLst>
          </p:cNvPr>
          <p:cNvSpPr>
            <a:spLocks xmlns:a="http://schemas.openxmlformats.org/drawingml/2006/main" noGrp="1"/>
          </p:cNvSpPr>
          <p:nvPr/>
        </p:nvSpPr>
        <p:spPr>
          <a:xfrm xmlns:a="http://schemas.openxmlformats.org/drawingml/2006/main">
            <a:off x="1638300" y="3429000"/>
            <a:ext cx="4762500" cy="19050"/>
          </a:xfrm>
          <a:prstGeom xmlns:a="http://schemas.openxmlformats.org/drawingml/2006/main" prst="rect">
            <a:avLst/>
          </a:prstGeom>
          <a:solidFill xmlns:a="http://schemas.openxmlformats.org/drawingml/2006/main">
            <a:srgbClr val="C7D6DB"/>
          </a:solidFill>
          <a:ln xmlns:a="http://schemas.openxmlformats.org/drawingml/2006/main" w="19050">
            <a:solidFill>
              <a:srgbClr val="C7D6DB"/>
            </a:solidFill>
          </a:ln>
        </p:spPr>
      </p:sp>
      <p:sp>
        <p:nvSpPr>
          <p:cNvPr id="5" name="line-56">
            <a:extLst xmlns:a="http://schemas.openxmlformats.org/drawingml/2006/main">
              <a:ext uri="{FF2B5EF4-FFF2-40B4-BE49-F238E27FC236}">
                <a16:creationId xmlns:a16="http://schemas.microsoft.com/office/drawing/2014/main" id="{C65F8910-AC5B-4B55-9CD2-716C57AF910A}"/>
              </a:ext>
            </a:extLst>
          </p:cNvPr>
          <p:cNvSpPr>
            <a:spLocks xmlns:a="http://schemas.openxmlformats.org/drawingml/2006/main" noGrp="1"/>
          </p:cNvSpPr>
          <p:nvPr/>
        </p:nvSpPr>
        <p:spPr>
          <a:xfrm xmlns:a="http://schemas.openxmlformats.org/drawingml/2006/main">
            <a:off x="4000500" y="1714500"/>
            <a:ext cx="19050" cy="3429000"/>
          </a:xfrm>
          <a:prstGeom xmlns:a="http://schemas.openxmlformats.org/drawingml/2006/main" prst="rect">
            <a:avLst/>
          </a:prstGeom>
          <a:solidFill xmlns:a="http://schemas.openxmlformats.org/drawingml/2006/main">
            <a:srgbClr val="C7D6DB"/>
          </a:solidFill>
          <a:ln xmlns:a="http://schemas.openxmlformats.org/drawingml/2006/main" w="19050">
            <a:solidFill>
              <a:srgbClr val="C7D6DB"/>
            </a:solidFill>
          </a:ln>
        </p:spPr>
      </p:sp>
      <p:sp>
        <p:nvSpPr>
          <p:cNvPr id="6" name="ideal-0">
            <a:extLst xmlns:a="http://schemas.openxmlformats.org/drawingml/2006/main">
              <a:ext uri="{FF2B5EF4-FFF2-40B4-BE49-F238E27FC236}">
                <a16:creationId xmlns:a16="http://schemas.microsoft.com/office/drawing/2014/main" id="{FF388287-A7EE-464A-9C8C-1E8DC51556CB}"/>
              </a:ext>
            </a:extLst>
          </p:cNvPr>
          <p:cNvSpPr>
            <a:spLocks xmlns:a="http://schemas.openxmlformats.org/drawingml/2006/main" noGrp="1"/>
          </p:cNvSpPr>
          <p:nvPr/>
        </p:nvSpPr>
        <p:spPr>
          <a:xfrm xmlns:a="http://schemas.openxmlformats.org/drawingml/2006/main">
            <a:off x="2447925" y="1876425"/>
            <a:ext cx="247650" cy="247650"/>
          </a:xfrm>
          <a:prstGeom xmlns:a="http://schemas.openxmlformats.org/drawingml/2006/main" prst="ellipse">
            <a:avLst/>
          </a:prstGeom>
          <a:solidFill xmlns:a="http://schemas.openxmlformats.org/drawingml/2006/main">
            <a:srgbClr val="FCFDFD"/>
          </a:solidFill>
          <a:ln xmlns:a="http://schemas.openxmlformats.org/drawingml/2006/main" w="19050">
            <a:solidFill>
              <a:srgbClr val="C7D6DB"/>
            </a:solidFill>
          </a:ln>
        </p:spPr>
      </p:sp>
      <p:sp>
        <p:nvSpPr>
          <p:cNvPr id="7" name="symbol-0">
            <a:extLst xmlns:a="http://schemas.openxmlformats.org/drawingml/2006/main">
              <a:ext uri="{FF2B5EF4-FFF2-40B4-BE49-F238E27FC236}">
                <a16:creationId xmlns:a16="http://schemas.microsoft.com/office/drawing/2014/main" id="{031D8343-30B5-4B49-99E2-45F5C6242DF1}"/>
              </a:ext>
            </a:extLst>
          </p:cNvPr>
          <p:cNvSpPr>
            <a:spLocks xmlns:a="http://schemas.openxmlformats.org/drawingml/2006/main" noGrp="1"/>
          </p:cNvSpPr>
          <p:nvPr/>
        </p:nvSpPr>
        <p:spPr>
          <a:xfrm xmlns:a="http://schemas.openxmlformats.org/drawingml/2006/main">
            <a:off x="2171700" y="2162175"/>
            <a:ext cx="152400" cy="152400"/>
          </a:xfrm>
          <a:prstGeom xmlns:a="http://schemas.openxmlformats.org/drawingml/2006/main" prst="ellipse">
            <a:avLst/>
          </a:prstGeom>
          <a:solidFill xmlns:a="http://schemas.openxmlformats.org/drawingml/2006/main">
            <a:srgbClr val="CB6A32"/>
          </a:solidFill>
          <a:ln xmlns:a="http://schemas.openxmlformats.org/drawingml/2006/main" w="19050">
            <a:solidFill>
              <a:srgbClr val="CB6A32"/>
            </a:solidFill>
          </a:ln>
        </p:spPr>
      </p:sp>
      <p:sp>
        <p:nvSpPr>
          <p:cNvPr id="8" name="ideal-1">
            <a:extLst xmlns:a="http://schemas.openxmlformats.org/drawingml/2006/main">
              <a:ext uri="{FF2B5EF4-FFF2-40B4-BE49-F238E27FC236}">
                <a16:creationId xmlns:a16="http://schemas.microsoft.com/office/drawing/2014/main" id="{6DB78470-9970-4ACB-9A60-1160D9D3ED68}"/>
              </a:ext>
            </a:extLst>
          </p:cNvPr>
          <p:cNvSpPr>
            <a:spLocks xmlns:a="http://schemas.openxmlformats.org/drawingml/2006/main" noGrp="1"/>
          </p:cNvSpPr>
          <p:nvPr/>
        </p:nvSpPr>
        <p:spPr>
          <a:xfrm xmlns:a="http://schemas.openxmlformats.org/drawingml/2006/main">
            <a:off x="3400425" y="1876425"/>
            <a:ext cx="247650" cy="247650"/>
          </a:xfrm>
          <a:prstGeom xmlns:a="http://schemas.openxmlformats.org/drawingml/2006/main" prst="ellipse">
            <a:avLst/>
          </a:prstGeom>
          <a:solidFill xmlns:a="http://schemas.openxmlformats.org/drawingml/2006/main">
            <a:srgbClr val="FCFDFD"/>
          </a:solidFill>
          <a:ln xmlns:a="http://schemas.openxmlformats.org/drawingml/2006/main" w="19050">
            <a:solidFill>
              <a:srgbClr val="C7D6DB"/>
            </a:solidFill>
          </a:ln>
        </p:spPr>
      </p:sp>
      <p:sp>
        <p:nvSpPr>
          <p:cNvPr id="9" name="symbol-1">
            <a:extLst xmlns:a="http://schemas.openxmlformats.org/drawingml/2006/main">
              <a:ext uri="{FF2B5EF4-FFF2-40B4-BE49-F238E27FC236}">
                <a16:creationId xmlns:a16="http://schemas.microsoft.com/office/drawing/2014/main" id="{AAFEA401-1CFE-4A85-87F9-7B4A900FB286}"/>
              </a:ext>
            </a:extLst>
          </p:cNvPr>
          <p:cNvSpPr>
            <a:spLocks xmlns:a="http://schemas.openxmlformats.org/drawingml/2006/main" noGrp="1"/>
          </p:cNvSpPr>
          <p:nvPr/>
        </p:nvSpPr>
        <p:spPr>
          <a:xfrm xmlns:a="http://schemas.openxmlformats.org/drawingml/2006/main">
            <a:off x="3695700" y="1638300"/>
            <a:ext cx="152400" cy="152400"/>
          </a:xfrm>
          <a:prstGeom xmlns:a="http://schemas.openxmlformats.org/drawingml/2006/main" prst="ellipse">
            <a:avLst/>
          </a:prstGeom>
          <a:solidFill xmlns:a="http://schemas.openxmlformats.org/drawingml/2006/main">
            <a:srgbClr val="CB6A32"/>
          </a:solidFill>
          <a:ln xmlns:a="http://schemas.openxmlformats.org/drawingml/2006/main" w="19050">
            <a:solidFill>
              <a:srgbClr val="CB6A32"/>
            </a:solidFill>
          </a:ln>
        </p:spPr>
      </p:sp>
      <p:sp>
        <p:nvSpPr>
          <p:cNvPr id="10" name="ideal-2">
            <a:extLst xmlns:a="http://schemas.openxmlformats.org/drawingml/2006/main">
              <a:ext uri="{FF2B5EF4-FFF2-40B4-BE49-F238E27FC236}">
                <a16:creationId xmlns:a16="http://schemas.microsoft.com/office/drawing/2014/main" id="{0631FC2A-0F3D-48F2-8645-8D91CEEB9D58}"/>
              </a:ext>
            </a:extLst>
          </p:cNvPr>
          <p:cNvSpPr>
            <a:spLocks xmlns:a="http://schemas.openxmlformats.org/drawingml/2006/main" noGrp="1"/>
          </p:cNvSpPr>
          <p:nvPr/>
        </p:nvSpPr>
        <p:spPr>
          <a:xfrm xmlns:a="http://schemas.openxmlformats.org/drawingml/2006/main">
            <a:off x="4352925" y="1876425"/>
            <a:ext cx="247650" cy="247650"/>
          </a:xfrm>
          <a:prstGeom xmlns:a="http://schemas.openxmlformats.org/drawingml/2006/main" prst="ellipse">
            <a:avLst/>
          </a:prstGeom>
          <a:solidFill xmlns:a="http://schemas.openxmlformats.org/drawingml/2006/main">
            <a:srgbClr val="FCFDFD"/>
          </a:solidFill>
          <a:ln xmlns:a="http://schemas.openxmlformats.org/drawingml/2006/main" w="19050">
            <a:solidFill>
              <a:srgbClr val="C7D6DB"/>
            </a:solidFill>
          </a:ln>
        </p:spPr>
      </p:sp>
      <p:sp>
        <p:nvSpPr>
          <p:cNvPr id="11" name="symbol-2">
            <a:extLst xmlns:a="http://schemas.openxmlformats.org/drawingml/2006/main">
              <a:ext uri="{FF2B5EF4-FFF2-40B4-BE49-F238E27FC236}">
                <a16:creationId xmlns:a16="http://schemas.microsoft.com/office/drawing/2014/main" id="{3FB8958C-8516-4859-8905-771CAF9C4924}"/>
              </a:ext>
            </a:extLst>
          </p:cNvPr>
          <p:cNvSpPr>
            <a:spLocks xmlns:a="http://schemas.openxmlformats.org/drawingml/2006/main" noGrp="1"/>
          </p:cNvSpPr>
          <p:nvPr/>
        </p:nvSpPr>
        <p:spPr>
          <a:xfrm xmlns:a="http://schemas.openxmlformats.org/drawingml/2006/main">
            <a:off x="4181475" y="2247900"/>
            <a:ext cx="152400" cy="152400"/>
          </a:xfrm>
          <a:prstGeom xmlns:a="http://schemas.openxmlformats.org/drawingml/2006/main" prst="ellipse">
            <a:avLst/>
          </a:prstGeom>
          <a:solidFill xmlns:a="http://schemas.openxmlformats.org/drawingml/2006/main">
            <a:srgbClr val="CB6A32"/>
          </a:solidFill>
          <a:ln xmlns:a="http://schemas.openxmlformats.org/drawingml/2006/main" w="19050">
            <a:solidFill>
              <a:srgbClr val="CB6A32"/>
            </a:solidFill>
          </a:ln>
        </p:spPr>
      </p:sp>
      <p:sp>
        <p:nvSpPr>
          <p:cNvPr id="12" name="ideal-3">
            <a:extLst xmlns:a="http://schemas.openxmlformats.org/drawingml/2006/main">
              <a:ext uri="{FF2B5EF4-FFF2-40B4-BE49-F238E27FC236}">
                <a16:creationId xmlns:a16="http://schemas.microsoft.com/office/drawing/2014/main" id="{DBDDEC72-ECC1-4C01-A180-55DB8F6A3802}"/>
              </a:ext>
            </a:extLst>
          </p:cNvPr>
          <p:cNvSpPr>
            <a:spLocks xmlns:a="http://schemas.openxmlformats.org/drawingml/2006/main" noGrp="1"/>
          </p:cNvSpPr>
          <p:nvPr/>
        </p:nvSpPr>
        <p:spPr>
          <a:xfrm xmlns:a="http://schemas.openxmlformats.org/drawingml/2006/main">
            <a:off x="5305425" y="1876425"/>
            <a:ext cx="247650" cy="247650"/>
          </a:xfrm>
          <a:prstGeom xmlns:a="http://schemas.openxmlformats.org/drawingml/2006/main" prst="ellipse">
            <a:avLst/>
          </a:prstGeom>
          <a:solidFill xmlns:a="http://schemas.openxmlformats.org/drawingml/2006/main">
            <a:srgbClr val="FCFDFD"/>
          </a:solidFill>
          <a:ln xmlns:a="http://schemas.openxmlformats.org/drawingml/2006/main" w="19050">
            <a:solidFill>
              <a:srgbClr val="C7D6DB"/>
            </a:solidFill>
          </a:ln>
        </p:spPr>
      </p:sp>
      <p:sp>
        <p:nvSpPr>
          <p:cNvPr id="13" name="symbol-3">
            <a:extLst xmlns:a="http://schemas.openxmlformats.org/drawingml/2006/main">
              <a:ext uri="{FF2B5EF4-FFF2-40B4-BE49-F238E27FC236}">
                <a16:creationId xmlns:a16="http://schemas.microsoft.com/office/drawing/2014/main" id="{C160771F-0588-4866-9CE7-03D7BCDA5741}"/>
              </a:ext>
            </a:extLst>
          </p:cNvPr>
          <p:cNvSpPr>
            <a:spLocks xmlns:a="http://schemas.openxmlformats.org/drawingml/2006/main" noGrp="1"/>
          </p:cNvSpPr>
          <p:nvPr/>
        </p:nvSpPr>
        <p:spPr>
          <a:xfrm xmlns:a="http://schemas.openxmlformats.org/drawingml/2006/main">
            <a:off x="5657850" y="1676400"/>
            <a:ext cx="152400" cy="152400"/>
          </a:xfrm>
          <a:prstGeom xmlns:a="http://schemas.openxmlformats.org/drawingml/2006/main" prst="ellipse">
            <a:avLst/>
          </a:prstGeom>
          <a:solidFill xmlns:a="http://schemas.openxmlformats.org/drawingml/2006/main">
            <a:srgbClr val="CB6A32"/>
          </a:solidFill>
          <a:ln xmlns:a="http://schemas.openxmlformats.org/drawingml/2006/main" w="19050">
            <a:solidFill>
              <a:srgbClr val="CB6A32"/>
            </a:solidFill>
          </a:ln>
        </p:spPr>
      </p:sp>
      <p:sp>
        <p:nvSpPr>
          <p:cNvPr id="14" name="ideal-4">
            <a:extLst xmlns:a="http://schemas.openxmlformats.org/drawingml/2006/main">
              <a:ext uri="{FF2B5EF4-FFF2-40B4-BE49-F238E27FC236}">
                <a16:creationId xmlns:a16="http://schemas.microsoft.com/office/drawing/2014/main" id="{11CF4EDA-51E5-4ADE-8EE6-8B0D9DC4AE9D}"/>
              </a:ext>
            </a:extLst>
          </p:cNvPr>
          <p:cNvSpPr>
            <a:spLocks xmlns:a="http://schemas.openxmlformats.org/drawingml/2006/main" noGrp="1"/>
          </p:cNvSpPr>
          <p:nvPr/>
        </p:nvSpPr>
        <p:spPr>
          <a:xfrm xmlns:a="http://schemas.openxmlformats.org/drawingml/2006/main">
            <a:off x="2447925" y="4733925"/>
            <a:ext cx="247650" cy="247650"/>
          </a:xfrm>
          <a:prstGeom xmlns:a="http://schemas.openxmlformats.org/drawingml/2006/main" prst="ellipse">
            <a:avLst/>
          </a:prstGeom>
          <a:solidFill xmlns:a="http://schemas.openxmlformats.org/drawingml/2006/main">
            <a:srgbClr val="FCFDFD"/>
          </a:solidFill>
          <a:ln xmlns:a="http://schemas.openxmlformats.org/drawingml/2006/main" w="19050">
            <a:solidFill>
              <a:srgbClr val="C7D6DB"/>
            </a:solidFill>
          </a:ln>
        </p:spPr>
      </p:sp>
      <p:sp>
        <p:nvSpPr>
          <p:cNvPr id="15" name="symbol-4">
            <a:extLst xmlns:a="http://schemas.openxmlformats.org/drawingml/2006/main">
              <a:ext uri="{FF2B5EF4-FFF2-40B4-BE49-F238E27FC236}">
                <a16:creationId xmlns:a16="http://schemas.microsoft.com/office/drawing/2014/main" id="{CBCFBB02-7520-4673-9DC8-FBBFB970DBCF}"/>
              </a:ext>
            </a:extLst>
          </p:cNvPr>
          <p:cNvSpPr>
            <a:spLocks xmlns:a="http://schemas.openxmlformats.org/drawingml/2006/main" noGrp="1"/>
          </p:cNvSpPr>
          <p:nvPr/>
        </p:nvSpPr>
        <p:spPr>
          <a:xfrm xmlns:a="http://schemas.openxmlformats.org/drawingml/2006/main">
            <a:off x="2152650" y="5019675"/>
            <a:ext cx="152400" cy="152400"/>
          </a:xfrm>
          <a:prstGeom xmlns:a="http://schemas.openxmlformats.org/drawingml/2006/main" prst="ellipse">
            <a:avLst/>
          </a:prstGeom>
          <a:solidFill xmlns:a="http://schemas.openxmlformats.org/drawingml/2006/main">
            <a:srgbClr val="CB6A32"/>
          </a:solidFill>
          <a:ln xmlns:a="http://schemas.openxmlformats.org/drawingml/2006/main" w="19050">
            <a:solidFill>
              <a:srgbClr val="CB6A32"/>
            </a:solidFill>
          </a:ln>
        </p:spPr>
      </p:sp>
      <p:sp>
        <p:nvSpPr>
          <p:cNvPr id="16" name="ideal-5">
            <a:extLst xmlns:a="http://schemas.openxmlformats.org/drawingml/2006/main">
              <a:ext uri="{FF2B5EF4-FFF2-40B4-BE49-F238E27FC236}">
                <a16:creationId xmlns:a16="http://schemas.microsoft.com/office/drawing/2014/main" id="{704D1C4D-772F-4BD8-9918-76289118E6FD}"/>
              </a:ext>
            </a:extLst>
          </p:cNvPr>
          <p:cNvSpPr>
            <a:spLocks xmlns:a="http://schemas.openxmlformats.org/drawingml/2006/main" noGrp="1"/>
          </p:cNvSpPr>
          <p:nvPr/>
        </p:nvSpPr>
        <p:spPr>
          <a:xfrm xmlns:a="http://schemas.openxmlformats.org/drawingml/2006/main">
            <a:off x="3400425" y="4733925"/>
            <a:ext cx="247650" cy="247650"/>
          </a:xfrm>
          <a:prstGeom xmlns:a="http://schemas.openxmlformats.org/drawingml/2006/main" prst="ellipse">
            <a:avLst/>
          </a:prstGeom>
          <a:solidFill xmlns:a="http://schemas.openxmlformats.org/drawingml/2006/main">
            <a:srgbClr val="FCFDFD"/>
          </a:solidFill>
          <a:ln xmlns:a="http://schemas.openxmlformats.org/drawingml/2006/main" w="19050">
            <a:solidFill>
              <a:srgbClr val="C7D6DB"/>
            </a:solidFill>
          </a:ln>
        </p:spPr>
      </p:sp>
      <p:sp>
        <p:nvSpPr>
          <p:cNvPr id="17" name="symbol-5">
            <a:extLst xmlns:a="http://schemas.openxmlformats.org/drawingml/2006/main">
              <a:ext uri="{FF2B5EF4-FFF2-40B4-BE49-F238E27FC236}">
                <a16:creationId xmlns:a16="http://schemas.microsoft.com/office/drawing/2014/main" id="{B9F33717-F343-493D-BD71-E906B160597B}"/>
              </a:ext>
            </a:extLst>
          </p:cNvPr>
          <p:cNvSpPr>
            <a:spLocks xmlns:a="http://schemas.openxmlformats.org/drawingml/2006/main" noGrp="1"/>
          </p:cNvSpPr>
          <p:nvPr/>
        </p:nvSpPr>
        <p:spPr>
          <a:xfrm xmlns:a="http://schemas.openxmlformats.org/drawingml/2006/main">
            <a:off x="3724275" y="4486275"/>
            <a:ext cx="152400" cy="152400"/>
          </a:xfrm>
          <a:prstGeom xmlns:a="http://schemas.openxmlformats.org/drawingml/2006/main" prst="ellipse">
            <a:avLst/>
          </a:prstGeom>
          <a:solidFill xmlns:a="http://schemas.openxmlformats.org/drawingml/2006/main">
            <a:srgbClr val="CB6A32"/>
          </a:solidFill>
          <a:ln xmlns:a="http://schemas.openxmlformats.org/drawingml/2006/main" w="19050">
            <a:solidFill>
              <a:srgbClr val="CB6A32"/>
            </a:solidFill>
          </a:ln>
        </p:spPr>
      </p:sp>
      <p:sp>
        <p:nvSpPr>
          <p:cNvPr id="18" name="ideal-6">
            <a:extLst xmlns:a="http://schemas.openxmlformats.org/drawingml/2006/main">
              <a:ext uri="{FF2B5EF4-FFF2-40B4-BE49-F238E27FC236}">
                <a16:creationId xmlns:a16="http://schemas.microsoft.com/office/drawing/2014/main" id="{8E25CCD0-68A7-4A47-A157-0F5E271AA2E1}"/>
              </a:ext>
            </a:extLst>
          </p:cNvPr>
          <p:cNvSpPr>
            <a:spLocks xmlns:a="http://schemas.openxmlformats.org/drawingml/2006/main" noGrp="1"/>
          </p:cNvSpPr>
          <p:nvPr/>
        </p:nvSpPr>
        <p:spPr>
          <a:xfrm xmlns:a="http://schemas.openxmlformats.org/drawingml/2006/main">
            <a:off x="4352925" y="4733925"/>
            <a:ext cx="247650" cy="247650"/>
          </a:xfrm>
          <a:prstGeom xmlns:a="http://schemas.openxmlformats.org/drawingml/2006/main" prst="ellipse">
            <a:avLst/>
          </a:prstGeom>
          <a:solidFill xmlns:a="http://schemas.openxmlformats.org/drawingml/2006/main">
            <a:srgbClr val="FCFDFD"/>
          </a:solidFill>
          <a:ln xmlns:a="http://schemas.openxmlformats.org/drawingml/2006/main" w="19050">
            <a:solidFill>
              <a:srgbClr val="C7D6DB"/>
            </a:solidFill>
          </a:ln>
        </p:spPr>
      </p:sp>
      <p:sp>
        <p:nvSpPr>
          <p:cNvPr id="19" name="symbol-6">
            <a:extLst xmlns:a="http://schemas.openxmlformats.org/drawingml/2006/main">
              <a:ext uri="{FF2B5EF4-FFF2-40B4-BE49-F238E27FC236}">
                <a16:creationId xmlns:a16="http://schemas.microsoft.com/office/drawing/2014/main" id="{A9913DDD-FF8E-4381-A77B-792091530D39}"/>
              </a:ext>
            </a:extLst>
          </p:cNvPr>
          <p:cNvSpPr>
            <a:spLocks xmlns:a="http://schemas.openxmlformats.org/drawingml/2006/main" noGrp="1"/>
          </p:cNvSpPr>
          <p:nvPr/>
        </p:nvSpPr>
        <p:spPr>
          <a:xfrm xmlns:a="http://schemas.openxmlformats.org/drawingml/2006/main">
            <a:off x="4638675" y="5038725"/>
            <a:ext cx="152400" cy="152400"/>
          </a:xfrm>
          <a:prstGeom xmlns:a="http://schemas.openxmlformats.org/drawingml/2006/main" prst="ellipse">
            <a:avLst/>
          </a:prstGeom>
          <a:solidFill xmlns:a="http://schemas.openxmlformats.org/drawingml/2006/main">
            <a:srgbClr val="CB6A32"/>
          </a:solidFill>
          <a:ln xmlns:a="http://schemas.openxmlformats.org/drawingml/2006/main" w="19050">
            <a:solidFill>
              <a:srgbClr val="CB6A32"/>
            </a:solidFill>
          </a:ln>
        </p:spPr>
      </p:sp>
      <p:sp>
        <p:nvSpPr>
          <p:cNvPr id="20" name="ideal-7">
            <a:extLst xmlns:a="http://schemas.openxmlformats.org/drawingml/2006/main">
              <a:ext uri="{FF2B5EF4-FFF2-40B4-BE49-F238E27FC236}">
                <a16:creationId xmlns:a16="http://schemas.microsoft.com/office/drawing/2014/main" id="{AD3BAA48-55B7-469D-91EF-6A6BE72E5C2E}"/>
              </a:ext>
            </a:extLst>
          </p:cNvPr>
          <p:cNvSpPr>
            <a:spLocks xmlns:a="http://schemas.openxmlformats.org/drawingml/2006/main" noGrp="1"/>
          </p:cNvSpPr>
          <p:nvPr/>
        </p:nvSpPr>
        <p:spPr>
          <a:xfrm xmlns:a="http://schemas.openxmlformats.org/drawingml/2006/main">
            <a:off x="5305425" y="4733925"/>
            <a:ext cx="247650" cy="247650"/>
          </a:xfrm>
          <a:prstGeom xmlns:a="http://schemas.openxmlformats.org/drawingml/2006/main" prst="ellipse">
            <a:avLst/>
          </a:prstGeom>
          <a:solidFill xmlns:a="http://schemas.openxmlformats.org/drawingml/2006/main">
            <a:srgbClr val="FCFDFD"/>
          </a:solidFill>
          <a:ln xmlns:a="http://schemas.openxmlformats.org/drawingml/2006/main" w="19050">
            <a:solidFill>
              <a:srgbClr val="C7D6DB"/>
            </a:solidFill>
          </a:ln>
        </p:spPr>
      </p:sp>
      <p:sp>
        <p:nvSpPr>
          <p:cNvPr id="21" name="symbol-7">
            <a:extLst xmlns:a="http://schemas.openxmlformats.org/drawingml/2006/main">
              <a:ext uri="{FF2B5EF4-FFF2-40B4-BE49-F238E27FC236}">
                <a16:creationId xmlns:a16="http://schemas.microsoft.com/office/drawing/2014/main" id="{37E4EBFE-33E6-4034-8CDB-6D105F3E23A0}"/>
              </a:ext>
            </a:extLst>
          </p:cNvPr>
          <p:cNvSpPr>
            <a:spLocks xmlns:a="http://schemas.openxmlformats.org/drawingml/2006/main" noGrp="1"/>
          </p:cNvSpPr>
          <p:nvPr/>
        </p:nvSpPr>
        <p:spPr>
          <a:xfrm xmlns:a="http://schemas.openxmlformats.org/drawingml/2006/main">
            <a:off x="5067300" y="4543425"/>
            <a:ext cx="152400" cy="152400"/>
          </a:xfrm>
          <a:prstGeom xmlns:a="http://schemas.openxmlformats.org/drawingml/2006/main" prst="ellipse">
            <a:avLst/>
          </a:prstGeom>
          <a:solidFill xmlns:a="http://schemas.openxmlformats.org/drawingml/2006/main">
            <a:srgbClr val="CB6A32"/>
          </a:solidFill>
          <a:ln xmlns:a="http://schemas.openxmlformats.org/drawingml/2006/main" w="19050">
            <a:solidFill>
              <a:srgbClr val="CB6A32"/>
            </a:solidFill>
          </a:ln>
        </p:spPr>
      </p:sp>
      <p:sp>
        <p:nvSpPr>
          <p:cNvPr id="22" name="label-57">
            <a:extLst xmlns:a="http://schemas.openxmlformats.org/drawingml/2006/main">
              <a:ext uri="{FF2B5EF4-FFF2-40B4-BE49-F238E27FC236}">
                <a16:creationId xmlns:a16="http://schemas.microsoft.com/office/drawing/2014/main" id="{8AF8F7E2-2E15-43BB-9EF4-1F88648DEC86}"/>
              </a:ext>
            </a:extLst>
          </p:cNvPr>
          <p:cNvSpPr>
            <a:spLocks xmlns:a="http://schemas.openxmlformats.org/drawingml/2006/main" noGrp="1"/>
          </p:cNvSpPr>
          <p:nvPr/>
        </p:nvSpPr>
        <p:spPr>
          <a:xfrm xmlns:a="http://schemas.openxmlformats.org/drawingml/2006/main">
            <a:off x="7620000" y="228600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CB6A32"/>
                </a:solidFill>
              </a:defRPr>
            </a:defPPr>
            <a:lvl1pPr>
              <a:defRPr sz="2550" b="1">
                <a:solidFill>
                  <a:srgbClr val="CB6A32"/>
                </a:solidFill>
              </a:defRPr>
            </a:lvl1pPr>
            <a:lvl2pPr>
              <a:defRPr sz="2550" b="1">
                <a:solidFill>
                  <a:srgbClr val="CB6A32"/>
                </a:solidFill>
              </a:defRPr>
            </a:lvl2pPr>
            <a:lvl3pPr>
              <a:defRPr sz="2550" b="1">
                <a:solidFill>
                  <a:srgbClr val="CB6A32"/>
                </a:solidFill>
              </a:defRPr>
            </a:lvl3pPr>
            <a:lvl4pPr>
              <a:defRPr sz="2550" b="1">
                <a:solidFill>
                  <a:srgbClr val="CB6A32"/>
                </a:solidFill>
              </a:defRPr>
            </a:lvl4pPr>
            <a:lvl5pPr>
              <a:defRPr sz="2550" b="1">
                <a:solidFill>
                  <a:srgbClr val="CB6A32"/>
                </a:solidFill>
              </a:defRPr>
            </a:lvl5pPr>
            <a:lvl6pPr>
              <a:defRPr sz="2550" b="1">
                <a:solidFill>
                  <a:srgbClr val="CB6A32"/>
                </a:solidFill>
              </a:defRPr>
            </a:lvl6pPr>
            <a:lvl7pPr>
              <a:defRPr sz="2550" b="1">
                <a:solidFill>
                  <a:srgbClr val="CB6A32"/>
                </a:solidFill>
              </a:defRPr>
            </a:lvl7pPr>
            <a:lvl8pPr>
              <a:defRPr sz="2550" b="1">
                <a:solidFill>
                  <a:srgbClr val="CB6A32"/>
                </a:solidFill>
              </a:defRPr>
            </a:lvl8pPr>
            <a:lvl9pPr>
              <a:defRPr sz="2550" b="1">
                <a:solidFill>
                  <a:srgbClr val="CB6A32"/>
                </a:solidFill>
              </a:defRPr>
            </a:lvl9pPr>
          </a:lstStyle>
          <a:p xmlns:a="http://schemas.openxmlformats.org/drawingml/2006/main">
            <a:pPr>
              <a:defRPr sz="2550" b="1">
                <a:solidFill>
                  <a:srgbClr val="CB6A32"/>
                </a:solidFill>
              </a:defRPr>
            </a:pPr>
            <a:r>
              <a:rPr sz="2550" b="1">
                <a:solidFill>
                  <a:srgbClr val="CB6A32"/>
                </a:solidFill>
              </a:rPr>
              <a:t>Received samples</a:t>
            </a:r>
          </a:p>
        </p:txBody>
      </p:sp>
      <p:sp>
        <p:nvSpPr>
          <p:cNvPr id="23" name="label-58">
            <a:extLst xmlns:a="http://schemas.openxmlformats.org/drawingml/2006/main">
              <a:ext uri="{FF2B5EF4-FFF2-40B4-BE49-F238E27FC236}">
                <a16:creationId xmlns:a16="http://schemas.microsoft.com/office/drawing/2014/main" id="{96249769-560F-4E47-8936-5AFCA4B319D9}"/>
              </a:ext>
            </a:extLst>
          </p:cNvPr>
          <p:cNvSpPr>
            <a:spLocks xmlns:a="http://schemas.openxmlformats.org/drawingml/2006/main" noGrp="1"/>
          </p:cNvSpPr>
          <p:nvPr/>
        </p:nvSpPr>
        <p:spPr>
          <a:xfrm xmlns:a="http://schemas.openxmlformats.org/drawingml/2006/main">
            <a:off x="7620000" y="3143250"/>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07E87"/>
                </a:solidFill>
              </a:defRPr>
            </a:defPPr>
            <a:lvl1pPr>
              <a:defRPr sz="2250" b="1">
                <a:solidFill>
                  <a:srgbClr val="007E87"/>
                </a:solidFill>
              </a:defRPr>
            </a:lvl1pPr>
            <a:lvl2pPr>
              <a:defRPr sz="2250" b="1">
                <a:solidFill>
                  <a:srgbClr val="007E87"/>
                </a:solidFill>
              </a:defRPr>
            </a:lvl2pPr>
            <a:lvl3pPr>
              <a:defRPr sz="2250" b="1">
                <a:solidFill>
                  <a:srgbClr val="007E87"/>
                </a:solidFill>
              </a:defRPr>
            </a:lvl3pPr>
            <a:lvl4pPr>
              <a:defRPr sz="2250" b="1">
                <a:solidFill>
                  <a:srgbClr val="007E87"/>
                </a:solidFill>
              </a:defRPr>
            </a:lvl4pPr>
            <a:lvl5pPr>
              <a:defRPr sz="2250" b="1">
                <a:solidFill>
                  <a:srgbClr val="007E87"/>
                </a:solidFill>
              </a:defRPr>
            </a:lvl5pPr>
            <a:lvl6pPr>
              <a:defRPr sz="2250" b="1">
                <a:solidFill>
                  <a:srgbClr val="007E87"/>
                </a:solidFill>
              </a:defRPr>
            </a:lvl6pPr>
            <a:lvl7pPr>
              <a:defRPr sz="2250" b="1">
                <a:solidFill>
                  <a:srgbClr val="007E87"/>
                </a:solidFill>
              </a:defRPr>
            </a:lvl7pPr>
            <a:lvl8pPr>
              <a:defRPr sz="2250" b="1">
                <a:solidFill>
                  <a:srgbClr val="007E87"/>
                </a:solidFill>
              </a:defRPr>
            </a:lvl8pPr>
            <a:lvl9pPr>
              <a:defRPr sz="2250" b="1">
                <a:solidFill>
                  <a:srgbClr val="007E87"/>
                </a:solidFill>
              </a:defRPr>
            </a:lvl9pPr>
          </a:lstStyle>
          <a:p xmlns:a="http://schemas.openxmlformats.org/drawingml/2006/main">
            <a:pPr>
              <a:defRPr sz="2250" b="1">
                <a:solidFill>
                  <a:srgbClr val="007E87"/>
                </a:solidFill>
              </a:defRPr>
            </a:pPr>
            <a:r>
              <a:rPr sz="2250" b="1">
                <a:solidFill>
                  <a:srgbClr val="007E87"/>
                </a:solidFill>
              </a:rPr>
              <a:t>Ideal decision points</a:t>
            </a:r>
          </a:p>
        </p:txBody>
      </p:sp>
      <p:sp>
        <p:nvSpPr>
          <p:cNvPr id="24" name="label-59">
            <a:extLst xmlns:a="http://schemas.openxmlformats.org/drawingml/2006/main">
              <a:ext uri="{FF2B5EF4-FFF2-40B4-BE49-F238E27FC236}">
                <a16:creationId xmlns:a16="http://schemas.microsoft.com/office/drawing/2014/main" id="{55EA904F-0143-4C6C-9F18-DA6A822783B5}"/>
              </a:ext>
            </a:extLst>
          </p:cNvPr>
          <p:cNvSpPr>
            <a:spLocks xmlns:a="http://schemas.openxmlformats.org/drawingml/2006/main" noGrp="1"/>
          </p:cNvSpPr>
          <p:nvPr/>
        </p:nvSpPr>
        <p:spPr>
          <a:xfrm xmlns:a="http://schemas.openxmlformats.org/drawingml/2006/main">
            <a:off x="7620000" y="4152900"/>
            <a:ext cx="342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B46"/>
                </a:solidFill>
              </a:defRPr>
            </a:defPPr>
            <a:lvl1pPr>
              <a:defRPr sz="2250" b="0">
                <a:solidFill>
                  <a:srgbClr val="163B46"/>
                </a:solidFill>
              </a:defRPr>
            </a:lvl1pPr>
            <a:lvl2pPr>
              <a:defRPr sz="2250" b="0">
                <a:solidFill>
                  <a:srgbClr val="163B46"/>
                </a:solidFill>
              </a:defRPr>
            </a:lvl2pPr>
            <a:lvl3pPr>
              <a:defRPr sz="2250" b="0">
                <a:solidFill>
                  <a:srgbClr val="163B46"/>
                </a:solidFill>
              </a:defRPr>
            </a:lvl3pPr>
            <a:lvl4pPr>
              <a:defRPr sz="2250" b="0">
                <a:solidFill>
                  <a:srgbClr val="163B46"/>
                </a:solidFill>
              </a:defRPr>
            </a:lvl4pPr>
            <a:lvl5pPr>
              <a:defRPr sz="2250" b="0">
                <a:solidFill>
                  <a:srgbClr val="163B46"/>
                </a:solidFill>
              </a:defRPr>
            </a:lvl5pPr>
            <a:lvl6pPr>
              <a:defRPr sz="2250" b="0">
                <a:solidFill>
                  <a:srgbClr val="163B46"/>
                </a:solidFill>
              </a:defRPr>
            </a:lvl6pPr>
            <a:lvl7pPr>
              <a:defRPr sz="2250" b="0">
                <a:solidFill>
                  <a:srgbClr val="163B46"/>
                </a:solidFill>
              </a:defRPr>
            </a:lvl7pPr>
            <a:lvl8pPr>
              <a:defRPr sz="2250" b="0">
                <a:solidFill>
                  <a:srgbClr val="163B46"/>
                </a:solidFill>
              </a:defRPr>
            </a:lvl8pPr>
            <a:lvl9pPr>
              <a:defRPr sz="2250" b="0">
                <a:solidFill>
                  <a:srgbClr val="163B46"/>
                </a:solidFill>
              </a:defRPr>
            </a:lvl9pPr>
          </a:lstStyle>
          <a:p xmlns:a="http://schemas.openxmlformats.org/drawingml/2006/main">
            <a:pPr>
              <a:defRPr sz="2250" b="0">
                <a:solidFill>
                  <a:srgbClr val="163B46"/>
                </a:solidFill>
              </a:defRPr>
            </a:pPr>
            <a:r>
              <a:rPr sz="2250" b="0">
                <a:solidFill>
                  <a:srgbClr val="163B46"/>
                </a:solidFill>
              </a:rPr>
              <a:t>Equalization and detection</a:t>
            </a:r>
          </a:p>
        </p:txBody>
      </p:sp>
      <p:sp>
        <p:nvSpPr>
          <p:cNvPr id="25" name="caption">
            <a:extLst xmlns:a="http://schemas.openxmlformats.org/drawingml/2006/main">
              <a:ext uri="{FF2B5EF4-FFF2-40B4-BE49-F238E27FC236}">
                <a16:creationId xmlns:a16="http://schemas.microsoft.com/office/drawing/2014/main" id="{A0C6ABA1-55BA-4339-ABAE-F34D1CF76185}"/>
              </a:ext>
            </a:extLst>
          </p:cNvPr>
          <p:cNvSpPr>
            <a:spLocks xmlns:a="http://schemas.openxmlformats.org/drawingml/2006/main" noGrp="1"/>
          </p:cNvSpPr>
          <p:nvPr/>
        </p:nvSpPr>
        <p:spPr>
          <a:xfrm xmlns:a="http://schemas.openxmlformats.org/drawingml/2006/main">
            <a:off x="60960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8717B"/>
                </a:solidFill>
              </a:defRPr>
            </a:defPPr>
            <a:lvl1pPr>
              <a:defRPr sz="1800" b="0">
                <a:solidFill>
                  <a:srgbClr val="58717B"/>
                </a:solidFill>
              </a:defRPr>
            </a:lvl1pPr>
            <a:lvl2pPr>
              <a:defRPr sz="1800" b="0">
                <a:solidFill>
                  <a:srgbClr val="58717B"/>
                </a:solidFill>
              </a:defRPr>
            </a:lvl2pPr>
            <a:lvl3pPr>
              <a:defRPr sz="1800" b="0">
                <a:solidFill>
                  <a:srgbClr val="58717B"/>
                </a:solidFill>
              </a:defRPr>
            </a:lvl3pPr>
            <a:lvl4pPr>
              <a:defRPr sz="1800" b="0">
                <a:solidFill>
                  <a:srgbClr val="58717B"/>
                </a:solidFill>
              </a:defRPr>
            </a:lvl4pPr>
            <a:lvl5pPr>
              <a:defRPr sz="1800" b="0">
                <a:solidFill>
                  <a:srgbClr val="58717B"/>
                </a:solidFill>
              </a:defRPr>
            </a:lvl5pPr>
            <a:lvl6pPr>
              <a:defRPr sz="1800" b="0">
                <a:solidFill>
                  <a:srgbClr val="58717B"/>
                </a:solidFill>
              </a:defRPr>
            </a:lvl6pPr>
            <a:lvl7pPr>
              <a:defRPr sz="1800" b="0">
                <a:solidFill>
                  <a:srgbClr val="58717B"/>
                </a:solidFill>
              </a:defRPr>
            </a:lvl7pPr>
            <a:lvl8pPr>
              <a:defRPr sz="1800" b="0">
                <a:solidFill>
                  <a:srgbClr val="58717B"/>
                </a:solidFill>
              </a:defRPr>
            </a:lvl8pPr>
            <a:lvl9pPr>
              <a:defRPr sz="1800" b="0">
                <a:solidFill>
                  <a:srgbClr val="58717B"/>
                </a:solidFill>
              </a:defRPr>
            </a:lvl9pPr>
          </a:lstStyle>
          <a:p xmlns:a="http://schemas.openxmlformats.org/drawingml/2006/main">
            <a:pPr>
              <a:defRPr sz="1800" b="0">
                <a:solidFill>
                  <a:srgbClr val="58717B"/>
                </a:solidFill>
              </a:defRPr>
            </a:pPr>
            <a:r>
              <a:rPr sz="1800" b="0">
                <a:solidFill>
                  <a:srgbClr val="58717B"/>
                </a:solidFill>
              </a:rPr>
              <a:t>Illustrative subset of QAM points. Actual BER results follow.</a:t>
            </a:r>
          </a:p>
        </p:txBody>
      </p:sp>
    </p:spTree>
    <p:extLst>
      <p:ext uri="{BB962C8B-B14F-4D97-AF65-F5344CB8AC3E}">
        <p14:creationId xmlns:p14="http://schemas.microsoft.com/office/powerpoint/2010/main" val="223045037"/>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026562 -0.034722 E" pathEditMode="relative" rAng="0">
                                      <p:cBhvr additive="base">
                                        <p:cTn id="6" dur="1500" fill="hold" accel="12000" decel="12000"/>
                                        <p:tgtEl>
                                          <p:spTgt spid="7"/>
                                        </p:tgtEl>
                                        <p:attrNameLst>
                                          <p:attrName>ppt_x</p:attrName>
                                          <p:attrName>ppt_y</p:attrName>
                                        </p:attrNameLst>
                                      </p:cBhvr>
                                    </p:animMotion>
                                  </p:childTnLst>
                                </p:cTn>
                              </p:par>
                              <p:par>
                                <p:cTn id="7" presetID="0" presetClass="path" presetSubtype="0" fill="hold" nodeType="withEffect">
                                  <p:stCondLst>
                                    <p:cond delay="0"/>
                                  </p:stCondLst>
                                  <p:childTnLst>
                                    <p:animMotion origin="layout" path="M 0.000000 0.000000 L -0.020313 0.041667 E" pathEditMode="relative" rAng="0">
                                      <p:cBhvr additive="base">
                                        <p:cTn id="8" dur="1500" fill="hold" accel="12000" decel="12000"/>
                                        <p:tgtEl>
                                          <p:spTgt spid="9"/>
                                        </p:tgtEl>
                                        <p:attrNameLst>
                                          <p:attrName>ppt_x</p:attrName>
                                          <p:attrName>ppt_y</p:attrName>
                                        </p:attrNameLst>
                                      </p:cBhvr>
                                    </p:animMotion>
                                  </p:childTnLst>
                                </p:cTn>
                              </p:par>
                              <p:par>
                                <p:cTn id="9" presetID="0" presetClass="path" presetSubtype="0" fill="hold" nodeType="withEffect">
                                  <p:stCondLst>
                                    <p:cond delay="0"/>
                                  </p:stCondLst>
                                  <p:childTnLst>
                                    <p:animMotion origin="layout" path="M 0.000000 0.000000 L 0.017969 -0.047222 E" pathEditMode="relative" rAng="0">
                                      <p:cBhvr additive="base">
                                        <p:cTn id="10" dur="1500" fill="hold" accel="12000" decel="12000"/>
                                        <p:tgtEl>
                                          <p:spTgt spid="11"/>
                                        </p:tgtEl>
                                        <p:attrNameLst>
                                          <p:attrName>ppt_x</p:attrName>
                                          <p:attrName>ppt_y</p:attrName>
                                        </p:attrNameLst>
                                      </p:cBhvr>
                                    </p:animMotion>
                                  </p:childTnLst>
                                </p:cTn>
                              </p:par>
                              <p:par>
                                <p:cTn id="11" presetID="0" presetClass="path" presetSubtype="0" fill="hold" nodeType="withEffect">
                                  <p:stCondLst>
                                    <p:cond delay="0"/>
                                  </p:stCondLst>
                                  <p:childTnLst>
                                    <p:animMotion origin="layout" path="M 0.000000 0.000000 L -0.025000 0.036111 E" pathEditMode="relative" rAng="0">
                                      <p:cBhvr additive="base">
                                        <p:cTn id="12" dur="1500" fill="hold" accel="12000" decel="12000"/>
                                        <p:tgtEl>
                                          <p:spTgt spid="13"/>
                                        </p:tgtEl>
                                        <p:attrNameLst>
                                          <p:attrName>ppt_x</p:attrName>
                                          <p:attrName>ppt_y</p:attrName>
                                        </p:attrNameLst>
                                      </p:cBhvr>
                                    </p:animMotion>
                                  </p:childTnLst>
                                </p:cTn>
                              </p:par>
                              <p:par>
                                <p:cTn id="13" presetID="0" presetClass="path" presetSubtype="0" fill="hold" nodeType="withEffect">
                                  <p:stCondLst>
                                    <p:cond delay="0"/>
                                  </p:stCondLst>
                                  <p:childTnLst>
                                    <p:animMotion origin="layout" path="M 0.000000 0.000000 L 0.028125 -0.034722 E" pathEditMode="relative" rAng="0">
                                      <p:cBhvr additive="base">
                                        <p:cTn id="14" dur="1500" fill="hold" accel="12000" decel="12000"/>
                                        <p:tgtEl>
                                          <p:spTgt spid="15"/>
                                        </p:tgtEl>
                                        <p:attrNameLst>
                                          <p:attrName>ppt_x</p:attrName>
                                          <p:attrName>ppt_y</p:attrName>
                                        </p:attrNameLst>
                                      </p:cBhvr>
                                    </p:animMotion>
                                  </p:childTnLst>
                                </p:cTn>
                              </p:par>
                              <p:par>
                                <p:cTn id="15" presetID="0" presetClass="path" presetSubtype="0" fill="hold" nodeType="withEffect">
                                  <p:stCondLst>
                                    <p:cond delay="0"/>
                                  </p:stCondLst>
                                  <p:childTnLst>
                                    <p:animMotion origin="layout" path="M 0.000000 0.000000 L -0.022656 0.043056 E" pathEditMode="relative" rAng="0">
                                      <p:cBhvr additive="base">
                                        <p:cTn id="16" dur="1500" fill="hold" accel="12000" decel="12000"/>
                                        <p:tgtEl>
                                          <p:spTgt spid="17"/>
                                        </p:tgtEl>
                                        <p:attrNameLst>
                                          <p:attrName>ppt_x</p:attrName>
                                          <p:attrName>ppt_y</p:attrName>
                                        </p:attrNameLst>
                                      </p:cBhvr>
                                    </p:animMotion>
                                  </p:childTnLst>
                                </p:cTn>
                              </p:par>
                              <p:par>
                                <p:cTn id="17" presetID="0" presetClass="path" presetSubtype="0" fill="hold" nodeType="withEffect">
                                  <p:stCondLst>
                                    <p:cond delay="0"/>
                                  </p:stCondLst>
                                  <p:childTnLst>
                                    <p:animMotion origin="layout" path="M 0.000000 0.000000 L -0.019531 -0.037500 E" pathEditMode="relative" rAng="0">
                                      <p:cBhvr additive="base">
                                        <p:cTn id="18" dur="1500" fill="hold" accel="12000" decel="12000"/>
                                        <p:tgtEl>
                                          <p:spTgt spid="19"/>
                                        </p:tgtEl>
                                        <p:attrNameLst>
                                          <p:attrName>ppt_x</p:attrName>
                                          <p:attrName>ppt_y</p:attrName>
                                        </p:attrNameLst>
                                      </p:cBhvr>
                                    </p:animMotion>
                                  </p:childTnLst>
                                </p:cTn>
                              </p:par>
                              <p:par>
                                <p:cTn id="19" presetID="0" presetClass="path" presetSubtype="0" fill="hold" nodeType="withEffect">
                                  <p:stCondLst>
                                    <p:cond delay="0"/>
                                  </p:stCondLst>
                                  <p:childTnLst>
                                    <p:animMotion origin="layout" path="M 0.000000 0.000000 L 0.023438 0.034722 E" pathEditMode="relative" rAng="0">
                                      <p:cBhvr additive="base">
                                        <p:cTn id="20" dur="1500" fill="hold" accel="12000" decel="12000"/>
                                        <p:tgtEl>
                                          <p:spTgt spid="2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2C8C7E6-C055-4AD5-96F3-693C88D21249}"/>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63B46"/>
                </a:solidFill>
              </a:defRPr>
            </a:defPPr>
            <a:lvl1pPr>
              <a:defRPr sz="3450" b="1">
                <a:solidFill>
                  <a:srgbClr val="163B46"/>
                </a:solidFill>
              </a:defRPr>
            </a:lvl1pPr>
            <a:lvl2pPr>
              <a:defRPr sz="3450" b="1">
                <a:solidFill>
                  <a:srgbClr val="163B46"/>
                </a:solidFill>
              </a:defRPr>
            </a:lvl2pPr>
            <a:lvl3pPr>
              <a:defRPr sz="3450" b="1">
                <a:solidFill>
                  <a:srgbClr val="163B46"/>
                </a:solidFill>
              </a:defRPr>
            </a:lvl3pPr>
            <a:lvl4pPr>
              <a:defRPr sz="3450" b="1">
                <a:solidFill>
                  <a:srgbClr val="163B46"/>
                </a:solidFill>
              </a:defRPr>
            </a:lvl4pPr>
            <a:lvl5pPr>
              <a:defRPr sz="3450" b="1">
                <a:solidFill>
                  <a:srgbClr val="163B46"/>
                </a:solidFill>
              </a:defRPr>
            </a:lvl5pPr>
            <a:lvl6pPr>
              <a:defRPr sz="3450" b="1">
                <a:solidFill>
                  <a:srgbClr val="163B46"/>
                </a:solidFill>
              </a:defRPr>
            </a:lvl6pPr>
            <a:lvl7pPr>
              <a:defRPr sz="3450" b="1">
                <a:solidFill>
                  <a:srgbClr val="163B46"/>
                </a:solidFill>
              </a:defRPr>
            </a:lvl7pPr>
            <a:lvl8pPr>
              <a:defRPr sz="3450" b="1">
                <a:solidFill>
                  <a:srgbClr val="163B46"/>
                </a:solidFill>
              </a:defRPr>
            </a:lvl8pPr>
            <a:lvl9pPr>
              <a:defRPr sz="3450" b="1">
                <a:solidFill>
                  <a:srgbClr val="163B46"/>
                </a:solidFill>
              </a:defRPr>
            </a:lvl9pPr>
          </a:lstStyle>
          <a:p xmlns:a="http://schemas.openxmlformats.org/drawingml/2006/main">
            <a:pPr>
              <a:defRPr sz="3450" b="1">
                <a:solidFill>
                  <a:srgbClr val="163B46"/>
                </a:solidFill>
              </a:defRPr>
            </a:pPr>
            <a:r>
              <a:rPr sz="3450" b="1">
                <a:solidFill>
                  <a:srgbClr val="163B46"/>
                </a:solidFill>
              </a:rPr>
              <a:t>The current result</a:t>
            </a:r>
          </a:p>
        </p:txBody>
      </p:sp>
      <p:sp>
        <p:nvSpPr>
          <p:cNvPr id="3" name="page">
            <a:extLst xmlns:a="http://schemas.openxmlformats.org/drawingml/2006/main">
              <a:ext uri="{FF2B5EF4-FFF2-40B4-BE49-F238E27FC236}">
                <a16:creationId xmlns:a16="http://schemas.microsoft.com/office/drawing/2014/main" id="{93D5B9B8-AF03-432D-8E1B-6FB9EF88857C}"/>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09</a:t>
            </a:r>
          </a:p>
        </p:txBody>
      </p:sp>
      <p:graphicFrame>
        <p:nvGraphicFramePr>
          <p:cNvPr id="4" name="Chart">
            <a:extLst xmlns:a="http://schemas.openxmlformats.org/drawingml/2006/main">
              <a:ext uri="{FF2B5EF4-FFF2-40B4-BE49-F238E27FC236}">
                <a16:creationId xmlns:a16="http://schemas.microsoft.com/office/drawing/2014/main" id="{D1AD3231-1A1F-4FC8-A609-4F4059A2DEC1}"/>
              </a:ext>
            </a:extLst>
          </p:cNvPr>
          <p:cNvGraphicFramePr/>
          <p:nvPr/>
        </p:nvGraphicFramePr>
        <p:xfrm>
          <a:off xmlns:a="http://schemas.openxmlformats.org/drawingml/2006/main" x="609600" y="1809750"/>
          <a:ext xmlns:a="http://schemas.openxmlformats.org/drawingml/2006/main" cx="7239000" cy="3619500"/>
        </p:xfrm>
        <a:graphic xmlns:a="http://schemas.openxmlformats.org/drawingml/2006/main">
          <a:graphicData uri="http://schemas.openxmlformats.org/drawingml/2006/chart">
            <c:chart xmlns:r="http://schemas.openxmlformats.org/officeDocument/2006/relationships" xmlns:c="http://schemas.openxmlformats.org/drawingml/2006/chart" r:id="R49ae8e33307c42fa"/>
          </a:graphicData>
        </a:graphic>
      </p:graphicFrame>
      <p:sp>
        <p:nvSpPr>
          <p:cNvPr id="5" name="label-60">
            <a:extLst xmlns:a="http://schemas.openxmlformats.org/drawingml/2006/main">
              <a:ext uri="{FF2B5EF4-FFF2-40B4-BE49-F238E27FC236}">
                <a16:creationId xmlns:a16="http://schemas.microsoft.com/office/drawing/2014/main" id="{EBCD44C1-FE2D-4D67-A2D2-24BC0A8B5001}"/>
              </a:ext>
            </a:extLst>
          </p:cNvPr>
          <p:cNvSpPr>
            <a:spLocks xmlns:a="http://schemas.openxmlformats.org/drawingml/2006/main" noGrp="1"/>
          </p:cNvSpPr>
          <p:nvPr/>
        </p:nvSpPr>
        <p:spPr>
          <a:xfrm xmlns:a="http://schemas.openxmlformats.org/drawingml/2006/main">
            <a:off x="8343900" y="21621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400" b="1">
                <a:solidFill>
                  <a:srgbClr val="007E87"/>
                </a:solidFill>
              </a:defRPr>
            </a:defPPr>
            <a:lvl1pPr>
              <a:defRPr sz="5400" b="1">
                <a:solidFill>
                  <a:srgbClr val="007E87"/>
                </a:solidFill>
              </a:defRPr>
            </a:lvl1pPr>
            <a:lvl2pPr>
              <a:defRPr sz="5400" b="1">
                <a:solidFill>
                  <a:srgbClr val="007E87"/>
                </a:solidFill>
              </a:defRPr>
            </a:lvl2pPr>
            <a:lvl3pPr>
              <a:defRPr sz="5400" b="1">
                <a:solidFill>
                  <a:srgbClr val="007E87"/>
                </a:solidFill>
              </a:defRPr>
            </a:lvl3pPr>
            <a:lvl4pPr>
              <a:defRPr sz="5400" b="1">
                <a:solidFill>
                  <a:srgbClr val="007E87"/>
                </a:solidFill>
              </a:defRPr>
            </a:lvl4pPr>
            <a:lvl5pPr>
              <a:defRPr sz="5400" b="1">
                <a:solidFill>
                  <a:srgbClr val="007E87"/>
                </a:solidFill>
              </a:defRPr>
            </a:lvl5pPr>
            <a:lvl6pPr>
              <a:defRPr sz="5400" b="1">
                <a:solidFill>
                  <a:srgbClr val="007E87"/>
                </a:solidFill>
              </a:defRPr>
            </a:lvl6pPr>
            <a:lvl7pPr>
              <a:defRPr sz="5400" b="1">
                <a:solidFill>
                  <a:srgbClr val="007E87"/>
                </a:solidFill>
              </a:defRPr>
            </a:lvl7pPr>
            <a:lvl8pPr>
              <a:defRPr sz="5400" b="1">
                <a:solidFill>
                  <a:srgbClr val="007E87"/>
                </a:solidFill>
              </a:defRPr>
            </a:lvl8pPr>
            <a:lvl9pPr>
              <a:defRPr sz="5400" b="1">
                <a:solidFill>
                  <a:srgbClr val="007E87"/>
                </a:solidFill>
              </a:defRPr>
            </a:lvl9pPr>
          </a:lstStyle>
          <a:p xmlns:a="http://schemas.openxmlformats.org/drawingml/2006/main">
            <a:pPr>
              <a:defRPr sz="5400" b="1">
                <a:solidFill>
                  <a:srgbClr val="007E87"/>
                </a:solidFill>
              </a:defRPr>
            </a:pPr>
            <a:r>
              <a:rPr sz="5400" b="1">
                <a:solidFill>
                  <a:srgbClr val="007E87"/>
                </a:solidFill>
              </a:rPr>
              <a:t>5.16×</a:t>
            </a:r>
          </a:p>
        </p:txBody>
      </p:sp>
      <p:sp>
        <p:nvSpPr>
          <p:cNvPr id="6" name="label-61">
            <a:extLst xmlns:a="http://schemas.openxmlformats.org/drawingml/2006/main">
              <a:ext uri="{FF2B5EF4-FFF2-40B4-BE49-F238E27FC236}">
                <a16:creationId xmlns:a16="http://schemas.microsoft.com/office/drawing/2014/main" id="{87C9FC37-ED99-4593-87AE-5911A4DCE99F}"/>
              </a:ext>
            </a:extLst>
          </p:cNvPr>
          <p:cNvSpPr>
            <a:spLocks xmlns:a="http://schemas.openxmlformats.org/drawingml/2006/main" noGrp="1"/>
          </p:cNvSpPr>
          <p:nvPr/>
        </p:nvSpPr>
        <p:spPr>
          <a:xfrm xmlns:a="http://schemas.openxmlformats.org/drawingml/2006/main">
            <a:off x="8343900" y="320040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3B46"/>
                </a:solidFill>
              </a:defRPr>
            </a:defPPr>
            <a:lvl1pPr>
              <a:defRPr sz="2250" b="1">
                <a:solidFill>
                  <a:srgbClr val="163B46"/>
                </a:solidFill>
              </a:defRPr>
            </a:lvl1pPr>
            <a:lvl2pPr>
              <a:defRPr sz="2250" b="1">
                <a:solidFill>
                  <a:srgbClr val="163B46"/>
                </a:solidFill>
              </a:defRPr>
            </a:lvl2pPr>
            <a:lvl3pPr>
              <a:defRPr sz="2250" b="1">
                <a:solidFill>
                  <a:srgbClr val="163B46"/>
                </a:solidFill>
              </a:defRPr>
            </a:lvl3pPr>
            <a:lvl4pPr>
              <a:defRPr sz="2250" b="1">
                <a:solidFill>
                  <a:srgbClr val="163B46"/>
                </a:solidFill>
              </a:defRPr>
            </a:lvl4pPr>
            <a:lvl5pPr>
              <a:defRPr sz="2250" b="1">
                <a:solidFill>
                  <a:srgbClr val="163B46"/>
                </a:solidFill>
              </a:defRPr>
            </a:lvl5pPr>
            <a:lvl6pPr>
              <a:defRPr sz="2250" b="1">
                <a:solidFill>
                  <a:srgbClr val="163B46"/>
                </a:solidFill>
              </a:defRPr>
            </a:lvl6pPr>
            <a:lvl7pPr>
              <a:defRPr sz="2250" b="1">
                <a:solidFill>
                  <a:srgbClr val="163B46"/>
                </a:solidFill>
              </a:defRPr>
            </a:lvl7pPr>
            <a:lvl8pPr>
              <a:defRPr sz="2250" b="1">
                <a:solidFill>
                  <a:srgbClr val="163B46"/>
                </a:solidFill>
              </a:defRPr>
            </a:lvl8pPr>
            <a:lvl9pPr>
              <a:defRPr sz="2250" b="1">
                <a:solidFill>
                  <a:srgbClr val="163B46"/>
                </a:solidFill>
              </a:defRPr>
            </a:lvl9pPr>
          </a:lstStyle>
          <a:p xmlns:a="http://schemas.openxmlformats.org/drawingml/2006/main">
            <a:pPr>
              <a:defRPr sz="2250" b="1">
                <a:solidFill>
                  <a:srgbClr val="163B46"/>
                </a:solidFill>
              </a:defRPr>
            </a:pPr>
            <a:r>
              <a:rPr sz="2250" b="1">
                <a:solidFill>
                  <a:srgbClr val="163B46"/>
                </a:solidFill>
              </a:rPr>
              <a:t>BER gap remains</a:t>
            </a:r>
          </a:p>
        </p:txBody>
      </p:sp>
      <p:sp>
        <p:nvSpPr>
          <p:cNvPr id="7" name="label-62">
            <a:extLst xmlns:a="http://schemas.openxmlformats.org/drawingml/2006/main">
              <a:ext uri="{FF2B5EF4-FFF2-40B4-BE49-F238E27FC236}">
                <a16:creationId xmlns:a16="http://schemas.microsoft.com/office/drawing/2014/main" id="{F4FF2739-BA46-4B09-8E79-FA978D7D9F66}"/>
              </a:ext>
            </a:extLst>
          </p:cNvPr>
          <p:cNvSpPr>
            <a:spLocks xmlns:a="http://schemas.openxmlformats.org/drawingml/2006/main" noGrp="1"/>
          </p:cNvSpPr>
          <p:nvPr/>
        </p:nvSpPr>
        <p:spPr>
          <a:xfrm xmlns:a="http://schemas.openxmlformats.org/drawingml/2006/main">
            <a:off x="8343900" y="4410075"/>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8717B"/>
                </a:solidFill>
              </a:defRPr>
            </a:defPPr>
            <a:lvl1pPr>
              <a:defRPr sz="2100" b="0">
                <a:solidFill>
                  <a:srgbClr val="58717B"/>
                </a:solidFill>
              </a:defRPr>
            </a:lvl1pPr>
            <a:lvl2pPr>
              <a:defRPr sz="2100" b="0">
                <a:solidFill>
                  <a:srgbClr val="58717B"/>
                </a:solidFill>
              </a:defRPr>
            </a:lvl2pPr>
            <a:lvl3pPr>
              <a:defRPr sz="2100" b="0">
                <a:solidFill>
                  <a:srgbClr val="58717B"/>
                </a:solidFill>
              </a:defRPr>
            </a:lvl3pPr>
            <a:lvl4pPr>
              <a:defRPr sz="2100" b="0">
                <a:solidFill>
                  <a:srgbClr val="58717B"/>
                </a:solidFill>
              </a:defRPr>
            </a:lvl4pPr>
            <a:lvl5pPr>
              <a:defRPr sz="2100" b="0">
                <a:solidFill>
                  <a:srgbClr val="58717B"/>
                </a:solidFill>
              </a:defRPr>
            </a:lvl5pPr>
            <a:lvl6pPr>
              <a:defRPr sz="2100" b="0">
                <a:solidFill>
                  <a:srgbClr val="58717B"/>
                </a:solidFill>
              </a:defRPr>
            </a:lvl6pPr>
            <a:lvl7pPr>
              <a:defRPr sz="2100" b="0">
                <a:solidFill>
                  <a:srgbClr val="58717B"/>
                </a:solidFill>
              </a:defRPr>
            </a:lvl7pPr>
            <a:lvl8pPr>
              <a:defRPr sz="2100" b="0">
                <a:solidFill>
                  <a:srgbClr val="58717B"/>
                </a:solidFill>
              </a:defRPr>
            </a:lvl8pPr>
            <a:lvl9pPr>
              <a:defRPr sz="2100" b="0">
                <a:solidFill>
                  <a:srgbClr val="58717B"/>
                </a:solidFill>
              </a:defRPr>
            </a:lvl9pPr>
          </a:lstStyle>
          <a:p xmlns:a="http://schemas.openxmlformats.org/drawingml/2006/main">
            <a:pPr>
              <a:defRPr sz="2100" b="0">
                <a:solidFill>
                  <a:srgbClr val="58717B"/>
                </a:solidFill>
              </a:defRPr>
            </a:pPr>
            <a:r>
              <a:rPr sz="2100" b="0">
                <a:solidFill>
                  <a:srgbClr val="58717B"/>
                </a:solidFill>
              </a:rPr>
              <a:t>103 million</a:t>
            </a:r>
          </a:p>
          <a:p xmlns:a="http://schemas.openxmlformats.org/drawingml/2006/main">
            <a:pPr>
              <a:defRPr sz="2100" b="0">
                <a:solidFill>
                  <a:srgbClr val="58717B"/>
                </a:solidFill>
              </a:defRPr>
            </a:pPr>
            <a:r>
              <a:rPr sz="2100" b="0">
                <a:solidFill>
                  <a:srgbClr val="58717B"/>
                </a:solidFill>
              </a:rPr>
              <a:t>simulated bits</a:t>
            </a:r>
          </a:p>
        </p:txBody>
      </p:sp>
      <p:sp>
        <p:nvSpPr>
          <p:cNvPr id="8" name="result-pointer">
            <a:extLst xmlns:a="http://schemas.openxmlformats.org/drawingml/2006/main">
              <a:ext uri="{FF2B5EF4-FFF2-40B4-BE49-F238E27FC236}">
                <a16:creationId xmlns:a16="http://schemas.microsoft.com/office/drawing/2014/main" id="{EC893A94-DC81-40CA-8FD6-78290D9DC6F2}"/>
              </a:ext>
            </a:extLst>
          </p:cNvPr>
          <p:cNvSpPr>
            <a:spLocks xmlns:a="http://schemas.openxmlformats.org/drawingml/2006/main" noGrp="1"/>
          </p:cNvSpPr>
          <p:nvPr/>
        </p:nvSpPr>
        <p:spPr>
          <a:xfrm xmlns:a="http://schemas.openxmlformats.org/drawingml/2006/main">
            <a:off x="8258175" y="4010025"/>
            <a:ext cx="2476500" cy="47625"/>
          </a:xfrm>
          <a:prstGeom xmlns:a="http://schemas.openxmlformats.org/drawingml/2006/main" prst="rect">
            <a:avLst/>
          </a:prstGeom>
          <a:solidFill xmlns:a="http://schemas.openxmlformats.org/drawingml/2006/main">
            <a:srgbClr val="CB6A32"/>
          </a:solidFill>
          <a:ln xmlns:a="http://schemas.openxmlformats.org/drawingml/2006/main" w="19050">
            <a:solidFill>
              <a:srgbClr val="CB6A32"/>
            </a:solidFill>
          </a:ln>
        </p:spPr>
      </p:sp>
      <p:sp>
        <p:nvSpPr>
          <p:cNvPr id="9" name="caption">
            <a:extLst xmlns:a="http://schemas.openxmlformats.org/drawingml/2006/main">
              <a:ext uri="{FF2B5EF4-FFF2-40B4-BE49-F238E27FC236}">
                <a16:creationId xmlns:a16="http://schemas.microsoft.com/office/drawing/2014/main" id="{D6CE8F7C-B9B8-4594-84C4-18107EF2D6C7}"/>
              </a:ext>
            </a:extLst>
          </p:cNvPr>
          <p:cNvSpPr>
            <a:spLocks xmlns:a="http://schemas.openxmlformats.org/drawingml/2006/main" noGrp="1"/>
          </p:cNvSpPr>
          <p:nvPr/>
        </p:nvSpPr>
        <p:spPr>
          <a:xfrm xmlns:a="http://schemas.openxmlformats.org/drawingml/2006/main">
            <a:off x="60960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8717B"/>
                </a:solidFill>
              </a:defRPr>
            </a:defPPr>
            <a:lvl1pPr>
              <a:defRPr sz="1800" b="0">
                <a:solidFill>
                  <a:srgbClr val="58717B"/>
                </a:solidFill>
              </a:defRPr>
            </a:lvl1pPr>
            <a:lvl2pPr>
              <a:defRPr sz="1800" b="0">
                <a:solidFill>
                  <a:srgbClr val="58717B"/>
                </a:solidFill>
              </a:defRPr>
            </a:lvl2pPr>
            <a:lvl3pPr>
              <a:defRPr sz="1800" b="0">
                <a:solidFill>
                  <a:srgbClr val="58717B"/>
                </a:solidFill>
              </a:defRPr>
            </a:lvl3pPr>
            <a:lvl4pPr>
              <a:defRPr sz="1800" b="0">
                <a:solidFill>
                  <a:srgbClr val="58717B"/>
                </a:solidFill>
              </a:defRPr>
            </a:lvl4pPr>
            <a:lvl5pPr>
              <a:defRPr sz="1800" b="0">
                <a:solidFill>
                  <a:srgbClr val="58717B"/>
                </a:solidFill>
              </a:defRPr>
            </a:lvl5pPr>
            <a:lvl6pPr>
              <a:defRPr sz="1800" b="0">
                <a:solidFill>
                  <a:srgbClr val="58717B"/>
                </a:solidFill>
              </a:defRPr>
            </a:lvl6pPr>
            <a:lvl7pPr>
              <a:defRPr sz="1800" b="0">
                <a:solidFill>
                  <a:srgbClr val="58717B"/>
                </a:solidFill>
              </a:defRPr>
            </a:lvl7pPr>
            <a:lvl8pPr>
              <a:defRPr sz="1800" b="0">
                <a:solidFill>
                  <a:srgbClr val="58717B"/>
                </a:solidFill>
              </a:defRPr>
            </a:lvl8pPr>
            <a:lvl9pPr>
              <a:defRPr sz="1800" b="0">
                <a:solidFill>
                  <a:srgbClr val="58717B"/>
                </a:solidFill>
              </a:defRPr>
            </a:lvl9pPr>
          </a:lstStyle>
          <a:p xmlns:a="http://schemas.openxmlformats.org/drawingml/2006/main">
            <a:pPr>
              <a:defRPr sz="1800" b="0">
                <a:solidFill>
                  <a:srgbClr val="58717B"/>
                </a:solidFill>
              </a:defRPr>
            </a:pPr>
            <a:r>
              <a:rPr sz="1800" b="0">
                <a:solidFill>
                  <a:srgbClr val="58717B"/>
                </a:solidFill>
              </a:rPr>
              <a:t>Channel and noise assumptions differ from the paper comparison.</a:t>
            </a:r>
          </a:p>
        </p:txBody>
      </p:sp>
    </p:spTree>
    <p:extLst>
      <p:ext uri="{BB962C8B-B14F-4D97-AF65-F5344CB8AC3E}">
        <p14:creationId xmlns:p14="http://schemas.microsoft.com/office/powerpoint/2010/main" val="1013691822"/>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000000 -0.131944 E" pathEditMode="relative" rAng="0">
                                      <p:cBhvr additive="base">
                                        <p:cTn id="6" dur="850" fill="hold" accel="12000" decel="12000"/>
                                        <p:tgtEl>
                                          <p:spTgt spid="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92D418C-F1CC-4C7C-AF5A-A0D87915D5C3}"/>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63B46"/>
                </a:solidFill>
              </a:defRPr>
            </a:defPPr>
            <a:lvl1pPr>
              <a:defRPr sz="3450" b="1">
                <a:solidFill>
                  <a:srgbClr val="163B46"/>
                </a:solidFill>
              </a:defRPr>
            </a:lvl1pPr>
            <a:lvl2pPr>
              <a:defRPr sz="3450" b="1">
                <a:solidFill>
                  <a:srgbClr val="163B46"/>
                </a:solidFill>
              </a:defRPr>
            </a:lvl2pPr>
            <a:lvl3pPr>
              <a:defRPr sz="3450" b="1">
                <a:solidFill>
                  <a:srgbClr val="163B46"/>
                </a:solidFill>
              </a:defRPr>
            </a:lvl3pPr>
            <a:lvl4pPr>
              <a:defRPr sz="3450" b="1">
                <a:solidFill>
                  <a:srgbClr val="163B46"/>
                </a:solidFill>
              </a:defRPr>
            </a:lvl4pPr>
            <a:lvl5pPr>
              <a:defRPr sz="3450" b="1">
                <a:solidFill>
                  <a:srgbClr val="163B46"/>
                </a:solidFill>
              </a:defRPr>
            </a:lvl5pPr>
            <a:lvl6pPr>
              <a:defRPr sz="3450" b="1">
                <a:solidFill>
                  <a:srgbClr val="163B46"/>
                </a:solidFill>
              </a:defRPr>
            </a:lvl6pPr>
            <a:lvl7pPr>
              <a:defRPr sz="3450" b="1">
                <a:solidFill>
                  <a:srgbClr val="163B46"/>
                </a:solidFill>
              </a:defRPr>
            </a:lvl7pPr>
            <a:lvl8pPr>
              <a:defRPr sz="3450" b="1">
                <a:solidFill>
                  <a:srgbClr val="163B46"/>
                </a:solidFill>
              </a:defRPr>
            </a:lvl8pPr>
            <a:lvl9pPr>
              <a:defRPr sz="3450" b="1">
                <a:solidFill>
                  <a:srgbClr val="163B46"/>
                </a:solidFill>
              </a:defRPr>
            </a:lvl9pPr>
          </a:lstStyle>
          <a:p xmlns:a="http://schemas.openxmlformats.org/drawingml/2006/main">
            <a:pPr>
              <a:defRPr sz="3450" b="1">
                <a:solidFill>
                  <a:srgbClr val="163B46"/>
                </a:solidFill>
              </a:defRPr>
            </a:pPr>
            <a:r>
              <a:rPr sz="3450" b="1">
                <a:solidFill>
                  <a:srgbClr val="163B46"/>
                </a:solidFill>
              </a:rPr>
              <a:t>Working model and proposed study</a:t>
            </a:r>
          </a:p>
        </p:txBody>
      </p:sp>
      <p:sp>
        <p:nvSpPr>
          <p:cNvPr id="3" name="page">
            <a:extLst xmlns:a="http://schemas.openxmlformats.org/drawingml/2006/main">
              <a:ext uri="{FF2B5EF4-FFF2-40B4-BE49-F238E27FC236}">
                <a16:creationId xmlns:a16="http://schemas.microsoft.com/office/drawing/2014/main" id="{F7E4EB54-6C9D-4F66-8564-4902E4FF335F}"/>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10</a:t>
            </a:r>
          </a:p>
        </p:txBody>
      </p:sp>
      <p:sp>
        <p:nvSpPr>
          <p:cNvPr id="4" name="label-63">
            <a:extLst xmlns:a="http://schemas.openxmlformats.org/drawingml/2006/main">
              <a:ext uri="{FF2B5EF4-FFF2-40B4-BE49-F238E27FC236}">
                <a16:creationId xmlns:a16="http://schemas.microsoft.com/office/drawing/2014/main" id="{0883B24A-38A8-47AE-8A56-23C05A8A9B6A}"/>
              </a:ext>
            </a:extLst>
          </p:cNvPr>
          <p:cNvSpPr>
            <a:spLocks xmlns:a="http://schemas.openxmlformats.org/drawingml/2006/main" noGrp="1"/>
          </p:cNvSpPr>
          <p:nvPr/>
        </p:nvSpPr>
        <p:spPr>
          <a:xfrm xmlns:a="http://schemas.openxmlformats.org/drawingml/2006/main">
            <a:off x="609600" y="171450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7E87"/>
                </a:solidFill>
              </a:defRPr>
            </a:defPPr>
            <a:lvl1pPr>
              <a:defRPr sz="2175" b="1">
                <a:solidFill>
                  <a:srgbClr val="007E87"/>
                </a:solidFill>
              </a:defRPr>
            </a:lvl1pPr>
            <a:lvl2pPr>
              <a:defRPr sz="2175" b="1">
                <a:solidFill>
                  <a:srgbClr val="007E87"/>
                </a:solidFill>
              </a:defRPr>
            </a:lvl2pPr>
            <a:lvl3pPr>
              <a:defRPr sz="2175" b="1">
                <a:solidFill>
                  <a:srgbClr val="007E87"/>
                </a:solidFill>
              </a:defRPr>
            </a:lvl3pPr>
            <a:lvl4pPr>
              <a:defRPr sz="2175" b="1">
                <a:solidFill>
                  <a:srgbClr val="007E87"/>
                </a:solidFill>
              </a:defRPr>
            </a:lvl4pPr>
            <a:lvl5pPr>
              <a:defRPr sz="2175" b="1">
                <a:solidFill>
                  <a:srgbClr val="007E87"/>
                </a:solidFill>
              </a:defRPr>
            </a:lvl5pPr>
            <a:lvl6pPr>
              <a:defRPr sz="2175" b="1">
                <a:solidFill>
                  <a:srgbClr val="007E87"/>
                </a:solidFill>
              </a:defRPr>
            </a:lvl6pPr>
            <a:lvl7pPr>
              <a:defRPr sz="2175" b="1">
                <a:solidFill>
                  <a:srgbClr val="007E87"/>
                </a:solidFill>
              </a:defRPr>
            </a:lvl7pPr>
            <a:lvl8pPr>
              <a:defRPr sz="2175" b="1">
                <a:solidFill>
                  <a:srgbClr val="007E87"/>
                </a:solidFill>
              </a:defRPr>
            </a:lvl8pPr>
            <a:lvl9pPr>
              <a:defRPr sz="2175" b="1">
                <a:solidFill>
                  <a:srgbClr val="007E87"/>
                </a:solidFill>
              </a:defRPr>
            </a:lvl9pPr>
          </a:lstStyle>
          <a:p xmlns:a="http://schemas.openxmlformats.org/drawingml/2006/main">
            <a:pPr>
              <a:defRPr sz="2175" b="1">
                <a:solidFill>
                  <a:srgbClr val="007E87"/>
                </a:solidFill>
              </a:defRPr>
            </a:pPr>
            <a:r>
              <a:rPr sz="2175" b="1">
                <a:solidFill>
                  <a:srgbClr val="007E87"/>
                </a:solidFill>
              </a:rPr>
              <a:t>Working OFDM baseline</a:t>
            </a:r>
          </a:p>
        </p:txBody>
      </p:sp>
      <p:sp>
        <p:nvSpPr>
          <p:cNvPr id="5" name="old-0">
            <a:extLst xmlns:a="http://schemas.openxmlformats.org/drawingml/2006/main">
              <a:ext uri="{FF2B5EF4-FFF2-40B4-BE49-F238E27FC236}">
                <a16:creationId xmlns:a16="http://schemas.microsoft.com/office/drawing/2014/main" id="{743E5D9F-5619-47A7-AA80-7E23D95B2EAB}"/>
              </a:ext>
            </a:extLst>
          </p:cNvPr>
          <p:cNvSpPr>
            <a:spLocks xmlns:a="http://schemas.openxmlformats.org/drawingml/2006/main" noGrp="1"/>
          </p:cNvSpPr>
          <p:nvPr/>
        </p:nvSpPr>
        <p:spPr>
          <a:xfrm xmlns:a="http://schemas.openxmlformats.org/drawingml/2006/main">
            <a:off x="609600" y="2324100"/>
            <a:ext cx="3048000" cy="857250"/>
          </a:xfrm>
          <a:prstGeom xmlns:a="http://schemas.openxmlformats.org/drawingml/2006/main" prst="roundRect">
            <a:avLst>
              <a:gd name="adj" fmla="val 8889"/>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QAM / IFFT</a:t>
            </a:r>
          </a:p>
        </p:txBody>
      </p:sp>
      <p:sp>
        <p:nvSpPr>
          <p:cNvPr id="6" name="arrow-64">
            <a:extLst xmlns:a="http://schemas.openxmlformats.org/drawingml/2006/main">
              <a:ext uri="{FF2B5EF4-FFF2-40B4-BE49-F238E27FC236}">
                <a16:creationId xmlns:a16="http://schemas.microsoft.com/office/drawing/2014/main" id="{8F66AC0E-ED92-428E-8FB0-7A13E4A1FF7D}"/>
              </a:ext>
            </a:extLst>
          </p:cNvPr>
          <p:cNvSpPr>
            <a:spLocks xmlns:a="http://schemas.openxmlformats.org/drawingml/2006/main" noGrp="1"/>
          </p:cNvSpPr>
          <p:nvPr/>
        </p:nvSpPr>
        <p:spPr>
          <a:xfrm xmlns:a="http://schemas.openxmlformats.org/drawingml/2006/main">
            <a:off x="3714750" y="2676525"/>
            <a:ext cx="552450" cy="152400"/>
          </a:xfrm>
          <a:prstGeom xmlns:a="http://schemas.openxmlformats.org/drawingml/2006/main" prst="rightArrow">
            <a:avLst/>
          </a:prstGeom>
          <a:solidFill xmlns:a="http://schemas.openxmlformats.org/drawingml/2006/main">
            <a:srgbClr val="C7D6DB"/>
          </a:solidFill>
          <a:ln xmlns:a="http://schemas.openxmlformats.org/drawingml/2006/main" w="19050">
            <a:solidFill>
              <a:srgbClr val="C7D6DB"/>
            </a:solidFill>
          </a:ln>
        </p:spPr>
      </p:sp>
      <p:sp>
        <p:nvSpPr>
          <p:cNvPr id="7" name="old-1">
            <a:extLst xmlns:a="http://schemas.openxmlformats.org/drawingml/2006/main">
              <a:ext uri="{FF2B5EF4-FFF2-40B4-BE49-F238E27FC236}">
                <a16:creationId xmlns:a16="http://schemas.microsoft.com/office/drawing/2014/main" id="{FCE548DA-168F-45B6-BF69-DC0CA7648B5E}"/>
              </a:ext>
            </a:extLst>
          </p:cNvPr>
          <p:cNvSpPr>
            <a:spLocks xmlns:a="http://schemas.openxmlformats.org/drawingml/2006/main" noGrp="1"/>
          </p:cNvSpPr>
          <p:nvPr/>
        </p:nvSpPr>
        <p:spPr>
          <a:xfrm xmlns:a="http://schemas.openxmlformats.org/drawingml/2006/main">
            <a:off x="4324350" y="2324100"/>
            <a:ext cx="3048000" cy="857250"/>
          </a:xfrm>
          <a:prstGeom xmlns:a="http://schemas.openxmlformats.org/drawingml/2006/main" prst="roundRect">
            <a:avLst>
              <a:gd name="adj" fmla="val 8889"/>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Channel</a:t>
            </a:r>
          </a:p>
        </p:txBody>
      </p:sp>
      <p:sp>
        <p:nvSpPr>
          <p:cNvPr id="8" name="arrow-65">
            <a:extLst xmlns:a="http://schemas.openxmlformats.org/drawingml/2006/main">
              <a:ext uri="{FF2B5EF4-FFF2-40B4-BE49-F238E27FC236}">
                <a16:creationId xmlns:a16="http://schemas.microsoft.com/office/drawing/2014/main" id="{0B538B65-D8C2-43BD-8FFE-ACDABDAF355F}"/>
              </a:ext>
            </a:extLst>
          </p:cNvPr>
          <p:cNvSpPr>
            <a:spLocks xmlns:a="http://schemas.openxmlformats.org/drawingml/2006/main" noGrp="1"/>
          </p:cNvSpPr>
          <p:nvPr/>
        </p:nvSpPr>
        <p:spPr>
          <a:xfrm xmlns:a="http://schemas.openxmlformats.org/drawingml/2006/main">
            <a:off x="7429500" y="2676525"/>
            <a:ext cx="552450" cy="152400"/>
          </a:xfrm>
          <a:prstGeom xmlns:a="http://schemas.openxmlformats.org/drawingml/2006/main" prst="rightArrow">
            <a:avLst/>
          </a:prstGeom>
          <a:solidFill xmlns:a="http://schemas.openxmlformats.org/drawingml/2006/main">
            <a:srgbClr val="C7D6DB"/>
          </a:solidFill>
          <a:ln xmlns:a="http://schemas.openxmlformats.org/drawingml/2006/main" w="19050">
            <a:solidFill>
              <a:srgbClr val="C7D6DB"/>
            </a:solidFill>
          </a:ln>
        </p:spPr>
      </p:sp>
      <p:sp>
        <p:nvSpPr>
          <p:cNvPr id="9" name="old-2">
            <a:extLst xmlns:a="http://schemas.openxmlformats.org/drawingml/2006/main">
              <a:ext uri="{FF2B5EF4-FFF2-40B4-BE49-F238E27FC236}">
                <a16:creationId xmlns:a16="http://schemas.microsoft.com/office/drawing/2014/main" id="{DA8B6470-D9B0-49A8-8333-AF564B0FAEC6}"/>
              </a:ext>
            </a:extLst>
          </p:cNvPr>
          <p:cNvSpPr>
            <a:spLocks xmlns:a="http://schemas.openxmlformats.org/drawingml/2006/main" noGrp="1"/>
          </p:cNvSpPr>
          <p:nvPr/>
        </p:nvSpPr>
        <p:spPr>
          <a:xfrm xmlns:a="http://schemas.openxmlformats.org/drawingml/2006/main">
            <a:off x="8039100" y="2324100"/>
            <a:ext cx="3048000" cy="857250"/>
          </a:xfrm>
          <a:prstGeom xmlns:a="http://schemas.openxmlformats.org/drawingml/2006/main" prst="roundRect">
            <a:avLst>
              <a:gd name="adj" fmla="val 8889"/>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FFT / MIMO</a:t>
            </a:r>
          </a:p>
        </p:txBody>
      </p:sp>
      <p:sp>
        <p:nvSpPr>
          <p:cNvPr id="10" name="label-66">
            <a:extLst xmlns:a="http://schemas.openxmlformats.org/drawingml/2006/main">
              <a:ext uri="{FF2B5EF4-FFF2-40B4-BE49-F238E27FC236}">
                <a16:creationId xmlns:a16="http://schemas.microsoft.com/office/drawing/2014/main" id="{1E06B95D-E21C-4F98-99F0-C1BBD1371E85}"/>
              </a:ext>
            </a:extLst>
          </p:cNvPr>
          <p:cNvSpPr>
            <a:spLocks xmlns:a="http://schemas.openxmlformats.org/drawingml/2006/main" noGrp="1"/>
          </p:cNvSpPr>
          <p:nvPr/>
        </p:nvSpPr>
        <p:spPr>
          <a:xfrm xmlns:a="http://schemas.openxmlformats.org/drawingml/2006/main">
            <a:off x="609600" y="39052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B6A32"/>
                </a:solidFill>
              </a:defRPr>
            </a:defPPr>
            <a:lvl1pPr>
              <a:defRPr sz="2175" b="1">
                <a:solidFill>
                  <a:srgbClr val="CB6A32"/>
                </a:solidFill>
              </a:defRPr>
            </a:lvl1pPr>
            <a:lvl2pPr>
              <a:defRPr sz="2175" b="1">
                <a:solidFill>
                  <a:srgbClr val="CB6A32"/>
                </a:solidFill>
              </a:defRPr>
            </a:lvl2pPr>
            <a:lvl3pPr>
              <a:defRPr sz="2175" b="1">
                <a:solidFill>
                  <a:srgbClr val="CB6A32"/>
                </a:solidFill>
              </a:defRPr>
            </a:lvl3pPr>
            <a:lvl4pPr>
              <a:defRPr sz="2175" b="1">
                <a:solidFill>
                  <a:srgbClr val="CB6A32"/>
                </a:solidFill>
              </a:defRPr>
            </a:lvl4pPr>
            <a:lvl5pPr>
              <a:defRPr sz="2175" b="1">
                <a:solidFill>
                  <a:srgbClr val="CB6A32"/>
                </a:solidFill>
              </a:defRPr>
            </a:lvl5pPr>
            <a:lvl6pPr>
              <a:defRPr sz="2175" b="1">
                <a:solidFill>
                  <a:srgbClr val="CB6A32"/>
                </a:solidFill>
              </a:defRPr>
            </a:lvl6pPr>
            <a:lvl7pPr>
              <a:defRPr sz="2175" b="1">
                <a:solidFill>
                  <a:srgbClr val="CB6A32"/>
                </a:solidFill>
              </a:defRPr>
            </a:lvl7pPr>
            <a:lvl8pPr>
              <a:defRPr sz="2175" b="1">
                <a:solidFill>
                  <a:srgbClr val="CB6A32"/>
                </a:solidFill>
              </a:defRPr>
            </a:lvl8pPr>
            <a:lvl9pPr>
              <a:defRPr sz="2175" b="1">
                <a:solidFill>
                  <a:srgbClr val="CB6A32"/>
                </a:solidFill>
              </a:defRPr>
            </a:lvl9pPr>
          </a:lstStyle>
          <a:p xmlns:a="http://schemas.openxmlformats.org/drawingml/2006/main">
            <a:pPr>
              <a:defRPr sz="2175" b="1">
                <a:solidFill>
                  <a:srgbClr val="CB6A32"/>
                </a:solidFill>
              </a:defRPr>
            </a:pPr>
            <a:r>
              <a:rPr sz="2175" b="1">
                <a:solidFill>
                  <a:srgbClr val="CB6A32"/>
                </a:solidFill>
              </a:rPr>
              <a:t>Proposed PAM-N branch</a:t>
            </a:r>
          </a:p>
        </p:txBody>
      </p:sp>
      <p:sp>
        <p:nvSpPr>
          <p:cNvPr id="11" name="new-0">
            <a:extLst xmlns:a="http://schemas.openxmlformats.org/drawingml/2006/main">
              <a:ext uri="{FF2B5EF4-FFF2-40B4-BE49-F238E27FC236}">
                <a16:creationId xmlns:a16="http://schemas.microsoft.com/office/drawing/2014/main" id="{5534D03E-A621-4CB9-AE1B-A8736D6CDFCB}"/>
              </a:ext>
            </a:extLst>
          </p:cNvPr>
          <p:cNvSpPr>
            <a:spLocks xmlns:a="http://schemas.openxmlformats.org/drawingml/2006/main" noGrp="1"/>
          </p:cNvSpPr>
          <p:nvPr/>
        </p:nvSpPr>
        <p:spPr>
          <a:xfrm xmlns:a="http://schemas.openxmlformats.org/drawingml/2006/main">
            <a:off x="609600" y="4514850"/>
            <a:ext cx="3048000" cy="857250"/>
          </a:xfrm>
          <a:prstGeom xmlns:a="http://schemas.openxmlformats.org/drawingml/2006/main" prst="roundRect">
            <a:avLst>
              <a:gd name="adj" fmla="val 8889"/>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PAM-N</a:t>
            </a:r>
          </a:p>
        </p:txBody>
      </p:sp>
      <p:sp>
        <p:nvSpPr>
          <p:cNvPr id="12" name="arrow-67">
            <a:extLst xmlns:a="http://schemas.openxmlformats.org/drawingml/2006/main">
              <a:ext uri="{FF2B5EF4-FFF2-40B4-BE49-F238E27FC236}">
                <a16:creationId xmlns:a16="http://schemas.microsoft.com/office/drawing/2014/main" id="{C3BF3DEC-B2CE-4479-A4B7-0F27E86FE678}"/>
              </a:ext>
            </a:extLst>
          </p:cNvPr>
          <p:cNvSpPr>
            <a:spLocks xmlns:a="http://schemas.openxmlformats.org/drawingml/2006/main" noGrp="1"/>
          </p:cNvSpPr>
          <p:nvPr/>
        </p:nvSpPr>
        <p:spPr>
          <a:xfrm xmlns:a="http://schemas.openxmlformats.org/drawingml/2006/main">
            <a:off x="3714750" y="4867275"/>
            <a:ext cx="552450" cy="152400"/>
          </a:xfrm>
          <a:prstGeom xmlns:a="http://schemas.openxmlformats.org/drawingml/2006/main" prst="rightArrow">
            <a:avLst/>
          </a:prstGeom>
          <a:solidFill xmlns:a="http://schemas.openxmlformats.org/drawingml/2006/main">
            <a:srgbClr val="C7D6DB"/>
          </a:solidFill>
          <a:ln xmlns:a="http://schemas.openxmlformats.org/drawingml/2006/main" w="19050">
            <a:solidFill>
              <a:srgbClr val="C7D6DB"/>
            </a:solidFill>
          </a:ln>
        </p:spPr>
      </p:sp>
      <p:sp>
        <p:nvSpPr>
          <p:cNvPr id="13" name="new-1">
            <a:extLst xmlns:a="http://schemas.openxmlformats.org/drawingml/2006/main">
              <a:ext uri="{FF2B5EF4-FFF2-40B4-BE49-F238E27FC236}">
                <a16:creationId xmlns:a16="http://schemas.microsoft.com/office/drawing/2014/main" id="{995F6580-ED60-46A5-92CC-D64F1AE099A4}"/>
              </a:ext>
            </a:extLst>
          </p:cNvPr>
          <p:cNvSpPr>
            <a:spLocks xmlns:a="http://schemas.openxmlformats.org/drawingml/2006/main" noGrp="1"/>
          </p:cNvSpPr>
          <p:nvPr/>
        </p:nvSpPr>
        <p:spPr>
          <a:xfrm xmlns:a="http://schemas.openxmlformats.org/drawingml/2006/main">
            <a:off x="4324350" y="4514850"/>
            <a:ext cx="3048000" cy="857250"/>
          </a:xfrm>
          <a:prstGeom xmlns:a="http://schemas.openxmlformats.org/drawingml/2006/main" prst="roundRect">
            <a:avLst>
              <a:gd name="adj" fmla="val 8889"/>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Channel</a:t>
            </a:r>
          </a:p>
        </p:txBody>
      </p:sp>
      <p:sp>
        <p:nvSpPr>
          <p:cNvPr id="14" name="arrow-68">
            <a:extLst xmlns:a="http://schemas.openxmlformats.org/drawingml/2006/main">
              <a:ext uri="{FF2B5EF4-FFF2-40B4-BE49-F238E27FC236}">
                <a16:creationId xmlns:a16="http://schemas.microsoft.com/office/drawing/2014/main" id="{E29497E5-EAF3-49F5-A7BD-3822AB3109EF}"/>
              </a:ext>
            </a:extLst>
          </p:cNvPr>
          <p:cNvSpPr>
            <a:spLocks xmlns:a="http://schemas.openxmlformats.org/drawingml/2006/main" noGrp="1"/>
          </p:cNvSpPr>
          <p:nvPr/>
        </p:nvSpPr>
        <p:spPr>
          <a:xfrm xmlns:a="http://schemas.openxmlformats.org/drawingml/2006/main">
            <a:off x="7429500" y="4867275"/>
            <a:ext cx="552450" cy="152400"/>
          </a:xfrm>
          <a:prstGeom xmlns:a="http://schemas.openxmlformats.org/drawingml/2006/main" prst="rightArrow">
            <a:avLst/>
          </a:prstGeom>
          <a:solidFill xmlns:a="http://schemas.openxmlformats.org/drawingml/2006/main">
            <a:srgbClr val="C7D6DB"/>
          </a:solidFill>
          <a:ln xmlns:a="http://schemas.openxmlformats.org/drawingml/2006/main" w="19050">
            <a:solidFill>
              <a:srgbClr val="C7D6DB"/>
            </a:solidFill>
          </a:ln>
        </p:spPr>
      </p:sp>
      <p:sp>
        <p:nvSpPr>
          <p:cNvPr id="15" name="new-2">
            <a:extLst xmlns:a="http://schemas.openxmlformats.org/drawingml/2006/main">
              <a:ext uri="{FF2B5EF4-FFF2-40B4-BE49-F238E27FC236}">
                <a16:creationId xmlns:a16="http://schemas.microsoft.com/office/drawing/2014/main" id="{00FABB02-C5DC-4CFC-B8D4-95B10B4CFF5A}"/>
              </a:ext>
            </a:extLst>
          </p:cNvPr>
          <p:cNvSpPr>
            <a:spLocks xmlns:a="http://schemas.openxmlformats.org/drawingml/2006/main" noGrp="1"/>
          </p:cNvSpPr>
          <p:nvPr/>
        </p:nvSpPr>
        <p:spPr>
          <a:xfrm xmlns:a="http://schemas.openxmlformats.org/drawingml/2006/main">
            <a:off x="8039100" y="4514850"/>
            <a:ext cx="3048000" cy="857250"/>
          </a:xfrm>
          <a:prstGeom xmlns:a="http://schemas.openxmlformats.org/drawingml/2006/main" prst="roundRect">
            <a:avLst>
              <a:gd name="adj" fmla="val 8889"/>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DFE</a:t>
            </a:r>
          </a:p>
        </p:txBody>
      </p:sp>
      <p:sp>
        <p:nvSpPr>
          <p:cNvPr id="16" name="old-branch">
            <a:extLst xmlns:a="http://schemas.openxmlformats.org/drawingml/2006/main">
              <a:ext uri="{FF2B5EF4-FFF2-40B4-BE49-F238E27FC236}">
                <a16:creationId xmlns:a16="http://schemas.microsoft.com/office/drawing/2014/main" id="{41B44806-E065-4107-BBD8-05E23D1278B7}"/>
              </a:ext>
            </a:extLst>
          </p:cNvPr>
          <p:cNvSpPr>
            <a:spLocks xmlns:a="http://schemas.openxmlformats.org/drawingml/2006/main" noGrp="1"/>
          </p:cNvSpPr>
          <p:nvPr/>
        </p:nvSpPr>
        <p:spPr>
          <a:xfrm xmlns:a="http://schemas.openxmlformats.org/drawingml/2006/main">
            <a:off x="1981200" y="3352800"/>
            <a:ext cx="304800" cy="209550"/>
          </a:xfrm>
          <a:prstGeom xmlns:a="http://schemas.openxmlformats.org/drawingml/2006/main" prst="roundRect">
            <a:avLst>
              <a:gd name="adj" fmla="val 36364"/>
            </a:avLst>
          </a:prstGeom>
          <a:solidFill xmlns:a="http://schemas.openxmlformats.org/drawingml/2006/main">
            <a:srgbClr val="007E87"/>
          </a:solidFill>
          <a:ln xmlns:a="http://schemas.openxmlformats.org/drawingml/2006/main" w="19050">
            <a:solidFill>
              <a:srgbClr val="007E87"/>
            </a:solidFill>
          </a:ln>
        </p:spPr>
      </p:sp>
      <p:sp>
        <p:nvSpPr>
          <p:cNvPr id="17" name="new-branch">
            <a:extLst xmlns:a="http://schemas.openxmlformats.org/drawingml/2006/main">
              <a:ext uri="{FF2B5EF4-FFF2-40B4-BE49-F238E27FC236}">
                <a16:creationId xmlns:a16="http://schemas.microsoft.com/office/drawing/2014/main" id="{BA5693F6-A987-4E87-8FF3-F17D19219311}"/>
              </a:ext>
            </a:extLst>
          </p:cNvPr>
          <p:cNvSpPr>
            <a:spLocks xmlns:a="http://schemas.openxmlformats.org/drawingml/2006/main" noGrp="1"/>
          </p:cNvSpPr>
          <p:nvPr/>
        </p:nvSpPr>
        <p:spPr>
          <a:xfrm xmlns:a="http://schemas.openxmlformats.org/drawingml/2006/main">
            <a:off x="1981200" y="5543550"/>
            <a:ext cx="304800" cy="209550"/>
          </a:xfrm>
          <a:prstGeom xmlns:a="http://schemas.openxmlformats.org/drawingml/2006/main" prst="roundRect">
            <a:avLst>
              <a:gd name="adj" fmla="val 36364"/>
            </a:avLst>
          </a:prstGeom>
          <a:solidFill xmlns:a="http://schemas.openxmlformats.org/drawingml/2006/main">
            <a:srgbClr val="CB6A32"/>
          </a:solidFill>
          <a:ln xmlns:a="http://schemas.openxmlformats.org/drawingml/2006/main" w="19050">
            <a:solidFill>
              <a:srgbClr val="CB6A32"/>
            </a:solidFill>
          </a:ln>
        </p:spPr>
      </p:sp>
      <p:sp>
        <p:nvSpPr>
          <p:cNvPr id="18" name="caption">
            <a:extLst xmlns:a="http://schemas.openxmlformats.org/drawingml/2006/main">
              <a:ext uri="{FF2B5EF4-FFF2-40B4-BE49-F238E27FC236}">
                <a16:creationId xmlns:a16="http://schemas.microsoft.com/office/drawing/2014/main" id="{A829A77C-6187-43A2-A69A-9B20CCC5FF88}"/>
              </a:ext>
            </a:extLst>
          </p:cNvPr>
          <p:cNvSpPr>
            <a:spLocks xmlns:a="http://schemas.openxmlformats.org/drawingml/2006/main" noGrp="1"/>
          </p:cNvSpPr>
          <p:nvPr/>
        </p:nvSpPr>
        <p:spPr>
          <a:xfrm xmlns:a="http://schemas.openxmlformats.org/drawingml/2006/main">
            <a:off x="60960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8717B"/>
                </a:solidFill>
              </a:defRPr>
            </a:defPPr>
            <a:lvl1pPr>
              <a:defRPr sz="1800" b="0">
                <a:solidFill>
                  <a:srgbClr val="58717B"/>
                </a:solidFill>
              </a:defRPr>
            </a:lvl1pPr>
            <a:lvl2pPr>
              <a:defRPr sz="1800" b="0">
                <a:solidFill>
                  <a:srgbClr val="58717B"/>
                </a:solidFill>
              </a:defRPr>
            </a:lvl2pPr>
            <a:lvl3pPr>
              <a:defRPr sz="1800" b="0">
                <a:solidFill>
                  <a:srgbClr val="58717B"/>
                </a:solidFill>
              </a:defRPr>
            </a:lvl3pPr>
            <a:lvl4pPr>
              <a:defRPr sz="1800" b="0">
                <a:solidFill>
                  <a:srgbClr val="58717B"/>
                </a:solidFill>
              </a:defRPr>
            </a:lvl4pPr>
            <a:lvl5pPr>
              <a:defRPr sz="1800" b="0">
                <a:solidFill>
                  <a:srgbClr val="58717B"/>
                </a:solidFill>
              </a:defRPr>
            </a:lvl5pPr>
            <a:lvl6pPr>
              <a:defRPr sz="1800" b="0">
                <a:solidFill>
                  <a:srgbClr val="58717B"/>
                </a:solidFill>
              </a:defRPr>
            </a:lvl6pPr>
            <a:lvl7pPr>
              <a:defRPr sz="1800" b="0">
                <a:solidFill>
                  <a:srgbClr val="58717B"/>
                </a:solidFill>
              </a:defRPr>
            </a:lvl7pPr>
            <a:lvl8pPr>
              <a:defRPr sz="1800" b="0">
                <a:solidFill>
                  <a:srgbClr val="58717B"/>
                </a:solidFill>
              </a:defRPr>
            </a:lvl8pPr>
            <a:lvl9pPr>
              <a:defRPr sz="1800" b="0">
                <a:solidFill>
                  <a:srgbClr val="58717B"/>
                </a:solidFill>
              </a:defRPr>
            </a:lvl9pPr>
          </a:lstStyle>
          <a:p xmlns:a="http://schemas.openxmlformats.org/drawingml/2006/main">
            <a:pPr>
              <a:defRPr sz="1800" b="0">
                <a:solidFill>
                  <a:srgbClr val="58717B"/>
                </a:solidFill>
              </a:defRPr>
            </a:pPr>
            <a:r>
              <a:rPr sz="1800" b="0">
                <a:solidFill>
                  <a:srgbClr val="58717B"/>
                </a:solidFill>
              </a:rPr>
              <a:t>PAM-N needs its own rate, sampling and matched BER baseline.</a:t>
            </a:r>
          </a:p>
        </p:txBody>
      </p:sp>
    </p:spTree>
    <p:extLst>
      <p:ext uri="{BB962C8B-B14F-4D97-AF65-F5344CB8AC3E}">
        <p14:creationId xmlns:p14="http://schemas.microsoft.com/office/powerpoint/2010/main" val="536693597"/>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304688 0.000000 E" pathEditMode="relative" rAng="0">
                                      <p:cBhvr additive="base">
                                        <p:cTn id="6" dur="950" fill="hold" accel="12000" decel="12000"/>
                                        <p:tgtEl>
                                          <p:spTgt spid="16"/>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fill="hold" nodeType="clickEffect">
                                  <p:stCondLst>
                                    <p:cond delay="0"/>
                                  </p:stCondLst>
                                  <p:childTnLst>
                                    <p:animMotion origin="layout" path="M 0.304688 0.000000 L 0.609375 0.000000 E" pathEditMode="relative" rAng="0">
                                      <p:cBhvr additive="base">
                                        <p:cTn id="10" dur="950" fill="hold" accel="12000" decel="12000"/>
                                        <p:tgtEl>
                                          <p:spTgt spid="16"/>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fill="hold" nodeType="clickEffect">
                                  <p:stCondLst>
                                    <p:cond delay="0"/>
                                  </p:stCondLst>
                                  <p:childTnLst>
                                    <p:animMotion origin="layout" path="M 0.000000 0.000000 L 0.304688 0.000000 E" pathEditMode="relative" rAng="0">
                                      <p:cBhvr additive="base">
                                        <p:cTn id="14" dur="950" fill="hold" accel="12000" decel="12000"/>
                                        <p:tgtEl>
                                          <p:spTgt spid="17"/>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fill="hold" nodeType="clickEffect">
                                  <p:stCondLst>
                                    <p:cond delay="0"/>
                                  </p:stCondLst>
                                  <p:childTnLst>
                                    <p:animMotion origin="layout" path="M 0.304688 0.000000 L 0.609375 0.000000 E" pathEditMode="relative" rAng="0">
                                      <p:cBhvr additive="base">
                                        <p:cTn id="18" dur="950" fill="hold" accel="12000" decel="12000"/>
                                        <p:tgtEl>
                                          <p:spTgt spid="1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0743A75-DA3D-4E8D-B8FE-856F567D403F}"/>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63B46"/>
                </a:solidFill>
              </a:defRPr>
            </a:defPPr>
            <a:lvl1pPr>
              <a:defRPr sz="3450" b="1">
                <a:solidFill>
                  <a:srgbClr val="163B46"/>
                </a:solidFill>
              </a:defRPr>
            </a:lvl1pPr>
            <a:lvl2pPr>
              <a:defRPr sz="3450" b="1">
                <a:solidFill>
                  <a:srgbClr val="163B46"/>
                </a:solidFill>
              </a:defRPr>
            </a:lvl2pPr>
            <a:lvl3pPr>
              <a:defRPr sz="3450" b="1">
                <a:solidFill>
                  <a:srgbClr val="163B46"/>
                </a:solidFill>
              </a:defRPr>
            </a:lvl3pPr>
            <a:lvl4pPr>
              <a:defRPr sz="3450" b="1">
                <a:solidFill>
                  <a:srgbClr val="163B46"/>
                </a:solidFill>
              </a:defRPr>
            </a:lvl4pPr>
            <a:lvl5pPr>
              <a:defRPr sz="3450" b="1">
                <a:solidFill>
                  <a:srgbClr val="163B46"/>
                </a:solidFill>
              </a:defRPr>
            </a:lvl5pPr>
            <a:lvl6pPr>
              <a:defRPr sz="3450" b="1">
                <a:solidFill>
                  <a:srgbClr val="163B46"/>
                </a:solidFill>
              </a:defRPr>
            </a:lvl6pPr>
            <a:lvl7pPr>
              <a:defRPr sz="3450" b="1">
                <a:solidFill>
                  <a:srgbClr val="163B46"/>
                </a:solidFill>
              </a:defRPr>
            </a:lvl7pPr>
            <a:lvl8pPr>
              <a:defRPr sz="3450" b="1">
                <a:solidFill>
                  <a:srgbClr val="163B46"/>
                </a:solidFill>
              </a:defRPr>
            </a:lvl8pPr>
            <a:lvl9pPr>
              <a:defRPr sz="3450" b="1">
                <a:solidFill>
                  <a:srgbClr val="163B46"/>
                </a:solidFill>
              </a:defRPr>
            </a:lvl9pPr>
          </a:lstStyle>
          <a:p xmlns:a="http://schemas.openxmlformats.org/drawingml/2006/main">
            <a:pPr>
              <a:defRPr sz="3450" b="1">
                <a:solidFill>
                  <a:srgbClr val="163B46"/>
                </a:solidFill>
              </a:defRPr>
            </a:pPr>
            <a:r>
              <a:rPr sz="3450" b="1">
                <a:solidFill>
                  <a:srgbClr val="163B46"/>
                </a:solidFill>
              </a:rPr>
              <a:t>Evidence needed for an ASIC</a:t>
            </a:r>
          </a:p>
        </p:txBody>
      </p:sp>
      <p:sp>
        <p:nvSpPr>
          <p:cNvPr id="3" name="page">
            <a:extLst xmlns:a="http://schemas.openxmlformats.org/drawingml/2006/main">
              <a:ext uri="{FF2B5EF4-FFF2-40B4-BE49-F238E27FC236}">
                <a16:creationId xmlns:a16="http://schemas.microsoft.com/office/drawing/2014/main" id="{0CAB03D2-BC09-4C85-943A-0909546417A9}"/>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11</a:t>
            </a:r>
          </a:p>
        </p:txBody>
      </p:sp>
      <p:sp>
        <p:nvSpPr>
          <p:cNvPr id="4" name="proof-0">
            <a:extLst xmlns:a="http://schemas.openxmlformats.org/drawingml/2006/main">
              <a:ext uri="{FF2B5EF4-FFF2-40B4-BE49-F238E27FC236}">
                <a16:creationId xmlns:a16="http://schemas.microsoft.com/office/drawing/2014/main" id="{2B5D6A64-AD3B-48BF-8ACB-9CA98BD81D79}"/>
              </a:ext>
            </a:extLst>
          </p:cNvPr>
          <p:cNvSpPr>
            <a:spLocks xmlns:a="http://schemas.openxmlformats.org/drawingml/2006/main" noGrp="1"/>
          </p:cNvSpPr>
          <p:nvPr/>
        </p:nvSpPr>
        <p:spPr>
          <a:xfrm xmlns:a="http://schemas.openxmlformats.org/drawingml/2006/main">
            <a:off x="609600" y="2571750"/>
            <a:ext cx="2286000" cy="1219200"/>
          </a:xfrm>
          <a:prstGeom xmlns:a="http://schemas.openxmlformats.org/drawingml/2006/main" prst="roundRect">
            <a:avLst>
              <a:gd name="adj" fmla="val 6250"/>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MATLAB</a:t>
            </a:r>
          </a:p>
        </p:txBody>
      </p:sp>
      <p:sp>
        <p:nvSpPr>
          <p:cNvPr id="5" name="arrow-69">
            <a:extLst xmlns:a="http://schemas.openxmlformats.org/drawingml/2006/main">
              <a:ext uri="{FF2B5EF4-FFF2-40B4-BE49-F238E27FC236}">
                <a16:creationId xmlns:a16="http://schemas.microsoft.com/office/drawing/2014/main" id="{C7FED1FB-344F-4C7D-A9D4-012CE224A3D9}"/>
              </a:ext>
            </a:extLst>
          </p:cNvPr>
          <p:cNvSpPr>
            <a:spLocks xmlns:a="http://schemas.openxmlformats.org/drawingml/2006/main" noGrp="1"/>
          </p:cNvSpPr>
          <p:nvPr/>
        </p:nvSpPr>
        <p:spPr>
          <a:xfrm xmlns:a="http://schemas.openxmlformats.org/drawingml/2006/main">
            <a:off x="2952750" y="3105150"/>
            <a:ext cx="476250" cy="152400"/>
          </a:xfrm>
          <a:prstGeom xmlns:a="http://schemas.openxmlformats.org/drawingml/2006/main" prst="rightArrow">
            <a:avLst/>
          </a:prstGeom>
          <a:solidFill xmlns:a="http://schemas.openxmlformats.org/drawingml/2006/main">
            <a:srgbClr val="C7D6DB"/>
          </a:solidFill>
          <a:ln xmlns:a="http://schemas.openxmlformats.org/drawingml/2006/main" w="19050">
            <a:solidFill>
              <a:srgbClr val="C7D6DB"/>
            </a:solidFill>
          </a:ln>
        </p:spPr>
      </p:sp>
      <p:sp>
        <p:nvSpPr>
          <p:cNvPr id="6" name="proof-1">
            <a:extLst xmlns:a="http://schemas.openxmlformats.org/drawingml/2006/main">
              <a:ext uri="{FF2B5EF4-FFF2-40B4-BE49-F238E27FC236}">
                <a16:creationId xmlns:a16="http://schemas.microsoft.com/office/drawing/2014/main" id="{58A5FD6C-D705-4294-8FFA-3800D174CF3D}"/>
              </a:ext>
            </a:extLst>
          </p:cNvPr>
          <p:cNvSpPr>
            <a:spLocks xmlns:a="http://schemas.openxmlformats.org/drawingml/2006/main" noGrp="1"/>
          </p:cNvSpPr>
          <p:nvPr/>
        </p:nvSpPr>
        <p:spPr>
          <a:xfrm xmlns:a="http://schemas.openxmlformats.org/drawingml/2006/main">
            <a:off x="3486150" y="2571750"/>
            <a:ext cx="2286000" cy="1219200"/>
          </a:xfrm>
          <a:prstGeom xmlns:a="http://schemas.openxmlformats.org/drawingml/2006/main" prst="roundRect">
            <a:avLst>
              <a:gd name="adj" fmla="val 6250"/>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RTL</a:t>
            </a:r>
          </a:p>
        </p:txBody>
      </p:sp>
      <p:sp>
        <p:nvSpPr>
          <p:cNvPr id="7" name="arrow-70">
            <a:extLst xmlns:a="http://schemas.openxmlformats.org/drawingml/2006/main">
              <a:ext uri="{FF2B5EF4-FFF2-40B4-BE49-F238E27FC236}">
                <a16:creationId xmlns:a16="http://schemas.microsoft.com/office/drawing/2014/main" id="{C8505199-79BD-428A-97C8-EED2619E890C}"/>
              </a:ext>
            </a:extLst>
          </p:cNvPr>
          <p:cNvSpPr>
            <a:spLocks xmlns:a="http://schemas.openxmlformats.org/drawingml/2006/main" noGrp="1"/>
          </p:cNvSpPr>
          <p:nvPr/>
        </p:nvSpPr>
        <p:spPr>
          <a:xfrm xmlns:a="http://schemas.openxmlformats.org/drawingml/2006/main">
            <a:off x="5829300" y="3105150"/>
            <a:ext cx="476250" cy="152400"/>
          </a:xfrm>
          <a:prstGeom xmlns:a="http://schemas.openxmlformats.org/drawingml/2006/main" prst="rightArrow">
            <a:avLst/>
          </a:prstGeom>
          <a:solidFill xmlns:a="http://schemas.openxmlformats.org/drawingml/2006/main">
            <a:srgbClr val="C7D6DB"/>
          </a:solidFill>
          <a:ln xmlns:a="http://schemas.openxmlformats.org/drawingml/2006/main" w="19050">
            <a:solidFill>
              <a:srgbClr val="C7D6DB"/>
            </a:solidFill>
          </a:ln>
        </p:spPr>
      </p:sp>
      <p:sp>
        <p:nvSpPr>
          <p:cNvPr id="8" name="proof-2">
            <a:extLst xmlns:a="http://schemas.openxmlformats.org/drawingml/2006/main">
              <a:ext uri="{FF2B5EF4-FFF2-40B4-BE49-F238E27FC236}">
                <a16:creationId xmlns:a16="http://schemas.microsoft.com/office/drawing/2014/main" id="{4B4C0517-D640-45F2-9ABE-A1A581B62A5F}"/>
              </a:ext>
            </a:extLst>
          </p:cNvPr>
          <p:cNvSpPr>
            <a:spLocks xmlns:a="http://schemas.openxmlformats.org/drawingml/2006/main" noGrp="1"/>
          </p:cNvSpPr>
          <p:nvPr/>
        </p:nvSpPr>
        <p:spPr>
          <a:xfrm xmlns:a="http://schemas.openxmlformats.org/drawingml/2006/main">
            <a:off x="6362700" y="2571750"/>
            <a:ext cx="2286000" cy="1219200"/>
          </a:xfrm>
          <a:prstGeom xmlns:a="http://schemas.openxmlformats.org/drawingml/2006/main" prst="roundRect">
            <a:avLst>
              <a:gd name="adj" fmla="val 6250"/>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Physical</a:t>
            </a:r>
          </a:p>
          <a:p xmlns:a="http://schemas.openxmlformats.org/drawingml/2006/main">
            <a:pPr algn="ctr">
              <a:defRPr sz="1950" b="1">
                <a:solidFill>
                  <a:srgbClr val="163B46"/>
                </a:solidFill>
              </a:defRPr>
            </a:pPr>
            <a:r>
              <a:rPr sz="1950" b="1">
                <a:solidFill>
                  <a:srgbClr val="163B46"/>
                </a:solidFill>
              </a:rPr>
              <a:t>design</a:t>
            </a:r>
          </a:p>
        </p:txBody>
      </p:sp>
      <p:sp>
        <p:nvSpPr>
          <p:cNvPr id="9" name="arrow-71">
            <a:extLst xmlns:a="http://schemas.openxmlformats.org/drawingml/2006/main">
              <a:ext uri="{FF2B5EF4-FFF2-40B4-BE49-F238E27FC236}">
                <a16:creationId xmlns:a16="http://schemas.microsoft.com/office/drawing/2014/main" id="{D06ED779-1977-49B8-9501-D37A907071DC}"/>
              </a:ext>
            </a:extLst>
          </p:cNvPr>
          <p:cNvSpPr>
            <a:spLocks xmlns:a="http://schemas.openxmlformats.org/drawingml/2006/main" noGrp="1"/>
          </p:cNvSpPr>
          <p:nvPr/>
        </p:nvSpPr>
        <p:spPr>
          <a:xfrm xmlns:a="http://schemas.openxmlformats.org/drawingml/2006/main">
            <a:off x="8705850" y="3105150"/>
            <a:ext cx="476250" cy="152400"/>
          </a:xfrm>
          <a:prstGeom xmlns:a="http://schemas.openxmlformats.org/drawingml/2006/main" prst="rightArrow">
            <a:avLst/>
          </a:prstGeom>
          <a:solidFill xmlns:a="http://schemas.openxmlformats.org/drawingml/2006/main">
            <a:srgbClr val="C7D6DB"/>
          </a:solidFill>
          <a:ln xmlns:a="http://schemas.openxmlformats.org/drawingml/2006/main" w="19050">
            <a:solidFill>
              <a:srgbClr val="C7D6DB"/>
            </a:solidFill>
          </a:ln>
        </p:spPr>
      </p:sp>
      <p:sp>
        <p:nvSpPr>
          <p:cNvPr id="10" name="proof-3">
            <a:extLst xmlns:a="http://schemas.openxmlformats.org/drawingml/2006/main">
              <a:ext uri="{FF2B5EF4-FFF2-40B4-BE49-F238E27FC236}">
                <a16:creationId xmlns:a16="http://schemas.microsoft.com/office/drawing/2014/main" id="{6A656608-2991-4BD9-908D-6D290E7D1C01}"/>
              </a:ext>
            </a:extLst>
          </p:cNvPr>
          <p:cNvSpPr>
            <a:spLocks xmlns:a="http://schemas.openxmlformats.org/drawingml/2006/main" noGrp="1"/>
          </p:cNvSpPr>
          <p:nvPr/>
        </p:nvSpPr>
        <p:spPr>
          <a:xfrm xmlns:a="http://schemas.openxmlformats.org/drawingml/2006/main">
            <a:off x="9239250" y="2571750"/>
            <a:ext cx="2286000" cy="1219200"/>
          </a:xfrm>
          <a:prstGeom xmlns:a="http://schemas.openxmlformats.org/drawingml/2006/main" prst="roundRect">
            <a:avLst>
              <a:gd name="adj" fmla="val 6250"/>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Release</a:t>
            </a:r>
          </a:p>
          <a:p xmlns:a="http://schemas.openxmlformats.org/drawingml/2006/main">
            <a:pPr algn="ctr">
              <a:defRPr sz="1950" b="1">
                <a:solidFill>
                  <a:srgbClr val="163B46"/>
                </a:solidFill>
              </a:defRPr>
            </a:pPr>
            <a:r>
              <a:rPr sz="1950" b="1">
                <a:solidFill>
                  <a:srgbClr val="163B46"/>
                </a:solidFill>
              </a:rPr>
              <a:t>checks</a:t>
            </a:r>
          </a:p>
        </p:txBody>
      </p:sp>
      <p:sp>
        <p:nvSpPr>
          <p:cNvPr id="11" name="label-72">
            <a:extLst xmlns:a="http://schemas.openxmlformats.org/drawingml/2006/main">
              <a:ext uri="{FF2B5EF4-FFF2-40B4-BE49-F238E27FC236}">
                <a16:creationId xmlns:a16="http://schemas.microsoft.com/office/drawing/2014/main" id="{2D9CAE17-E246-425B-B132-F025FD7F7FB1}"/>
              </a:ext>
            </a:extLst>
          </p:cNvPr>
          <p:cNvSpPr>
            <a:spLocks xmlns:a="http://schemas.openxmlformats.org/drawingml/2006/main" noGrp="1"/>
          </p:cNvSpPr>
          <p:nvPr/>
        </p:nvSpPr>
        <p:spPr>
          <a:xfrm xmlns:a="http://schemas.openxmlformats.org/drawingml/2006/main">
            <a:off x="6096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E87"/>
                </a:solidFill>
              </a:defRPr>
            </a:defPPr>
            <a:lvl1pPr>
              <a:defRPr sz="1950" b="1">
                <a:solidFill>
                  <a:srgbClr val="007E87"/>
                </a:solidFill>
              </a:defRPr>
            </a:lvl1pPr>
            <a:lvl2pPr>
              <a:defRPr sz="1950" b="1">
                <a:solidFill>
                  <a:srgbClr val="007E87"/>
                </a:solidFill>
              </a:defRPr>
            </a:lvl2pPr>
            <a:lvl3pPr>
              <a:defRPr sz="1950" b="1">
                <a:solidFill>
                  <a:srgbClr val="007E87"/>
                </a:solidFill>
              </a:defRPr>
            </a:lvl3pPr>
            <a:lvl4pPr>
              <a:defRPr sz="1950" b="1">
                <a:solidFill>
                  <a:srgbClr val="007E87"/>
                </a:solidFill>
              </a:defRPr>
            </a:lvl4pPr>
            <a:lvl5pPr>
              <a:defRPr sz="1950" b="1">
                <a:solidFill>
                  <a:srgbClr val="007E87"/>
                </a:solidFill>
              </a:defRPr>
            </a:lvl5pPr>
            <a:lvl6pPr>
              <a:defRPr sz="1950" b="1">
                <a:solidFill>
                  <a:srgbClr val="007E87"/>
                </a:solidFill>
              </a:defRPr>
            </a:lvl6pPr>
            <a:lvl7pPr>
              <a:defRPr sz="1950" b="1">
                <a:solidFill>
                  <a:srgbClr val="007E87"/>
                </a:solidFill>
              </a:defRPr>
            </a:lvl7pPr>
            <a:lvl8pPr>
              <a:defRPr sz="1950" b="1">
                <a:solidFill>
                  <a:srgbClr val="007E87"/>
                </a:solidFill>
              </a:defRPr>
            </a:lvl8pPr>
            <a:lvl9pPr>
              <a:defRPr sz="1950" b="1">
                <a:solidFill>
                  <a:srgbClr val="007E87"/>
                </a:solidFill>
              </a:defRPr>
            </a:lvl9pPr>
          </a:lstStyle>
          <a:p xmlns:a="http://schemas.openxmlformats.org/drawingml/2006/main">
            <a:pPr>
              <a:defRPr sz="1950" b="1">
                <a:solidFill>
                  <a:srgbClr val="007E87"/>
                </a:solidFill>
              </a:defRPr>
            </a:pPr>
            <a:r>
              <a:rPr sz="1950" b="1">
                <a:solidFill>
                  <a:srgbClr val="007E87"/>
                </a:solidFill>
              </a:rPr>
              <a:t>Working reference</a:t>
            </a:r>
          </a:p>
        </p:txBody>
      </p:sp>
      <p:sp>
        <p:nvSpPr>
          <p:cNvPr id="12" name="label-73">
            <a:extLst xmlns:a="http://schemas.openxmlformats.org/drawingml/2006/main">
              <a:ext uri="{FF2B5EF4-FFF2-40B4-BE49-F238E27FC236}">
                <a16:creationId xmlns:a16="http://schemas.microsoft.com/office/drawing/2014/main" id="{74E06EA7-DEA5-4015-9C48-EE6ACFD58DBA}"/>
              </a:ext>
            </a:extLst>
          </p:cNvPr>
          <p:cNvSpPr>
            <a:spLocks xmlns:a="http://schemas.openxmlformats.org/drawingml/2006/main" noGrp="1"/>
          </p:cNvSpPr>
          <p:nvPr/>
        </p:nvSpPr>
        <p:spPr>
          <a:xfrm xmlns:a="http://schemas.openxmlformats.org/drawingml/2006/main">
            <a:off x="3486150" y="41910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8717B"/>
                </a:solidFill>
              </a:defRPr>
            </a:defPPr>
            <a:lvl1pPr>
              <a:defRPr sz="1950" b="0">
                <a:solidFill>
                  <a:srgbClr val="58717B"/>
                </a:solidFill>
              </a:defRPr>
            </a:lvl1pPr>
            <a:lvl2pPr>
              <a:defRPr sz="1950" b="0">
                <a:solidFill>
                  <a:srgbClr val="58717B"/>
                </a:solidFill>
              </a:defRPr>
            </a:lvl2pPr>
            <a:lvl3pPr>
              <a:defRPr sz="1950" b="0">
                <a:solidFill>
                  <a:srgbClr val="58717B"/>
                </a:solidFill>
              </a:defRPr>
            </a:lvl3pPr>
            <a:lvl4pPr>
              <a:defRPr sz="1950" b="0">
                <a:solidFill>
                  <a:srgbClr val="58717B"/>
                </a:solidFill>
              </a:defRPr>
            </a:lvl4pPr>
            <a:lvl5pPr>
              <a:defRPr sz="1950" b="0">
                <a:solidFill>
                  <a:srgbClr val="58717B"/>
                </a:solidFill>
              </a:defRPr>
            </a:lvl5pPr>
            <a:lvl6pPr>
              <a:defRPr sz="1950" b="0">
                <a:solidFill>
                  <a:srgbClr val="58717B"/>
                </a:solidFill>
              </a:defRPr>
            </a:lvl6pPr>
            <a:lvl7pPr>
              <a:defRPr sz="1950" b="0">
                <a:solidFill>
                  <a:srgbClr val="58717B"/>
                </a:solidFill>
              </a:defRPr>
            </a:lvl7pPr>
            <a:lvl8pPr>
              <a:defRPr sz="1950" b="0">
                <a:solidFill>
                  <a:srgbClr val="58717B"/>
                </a:solidFill>
              </a:defRPr>
            </a:lvl8pPr>
            <a:lvl9pPr>
              <a:defRPr sz="1950" b="0">
                <a:solidFill>
                  <a:srgbClr val="58717B"/>
                </a:solidFill>
              </a:defRPr>
            </a:lvl9pPr>
          </a:lstStyle>
          <a:p xmlns:a="http://schemas.openxmlformats.org/drawingml/2006/main">
            <a:pPr>
              <a:defRPr sz="1950" b="0">
                <a:solidFill>
                  <a:srgbClr val="58717B"/>
                </a:solidFill>
              </a:defRPr>
            </a:pPr>
            <a:r>
              <a:rPr sz="1950" b="0">
                <a:solidFill>
                  <a:srgbClr val="58717B"/>
                </a:solidFill>
              </a:rPr>
              <a:t>Bit-accurate tests</a:t>
            </a:r>
          </a:p>
        </p:txBody>
      </p:sp>
      <p:sp>
        <p:nvSpPr>
          <p:cNvPr id="13" name="label-74">
            <a:extLst xmlns:a="http://schemas.openxmlformats.org/drawingml/2006/main">
              <a:ext uri="{FF2B5EF4-FFF2-40B4-BE49-F238E27FC236}">
                <a16:creationId xmlns:a16="http://schemas.microsoft.com/office/drawing/2014/main" id="{3C6B7076-7C2E-41DD-AD8C-4E36A61A3283}"/>
              </a:ext>
            </a:extLst>
          </p:cNvPr>
          <p:cNvSpPr>
            <a:spLocks xmlns:a="http://schemas.openxmlformats.org/drawingml/2006/main" noGrp="1"/>
          </p:cNvSpPr>
          <p:nvPr/>
        </p:nvSpPr>
        <p:spPr>
          <a:xfrm xmlns:a="http://schemas.openxmlformats.org/drawingml/2006/main">
            <a:off x="6362700" y="419100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8717B"/>
                </a:solidFill>
              </a:defRPr>
            </a:defPPr>
            <a:lvl1pPr>
              <a:defRPr sz="1950" b="0">
                <a:solidFill>
                  <a:srgbClr val="58717B"/>
                </a:solidFill>
              </a:defRPr>
            </a:lvl1pPr>
            <a:lvl2pPr>
              <a:defRPr sz="1950" b="0">
                <a:solidFill>
                  <a:srgbClr val="58717B"/>
                </a:solidFill>
              </a:defRPr>
            </a:lvl2pPr>
            <a:lvl3pPr>
              <a:defRPr sz="1950" b="0">
                <a:solidFill>
                  <a:srgbClr val="58717B"/>
                </a:solidFill>
              </a:defRPr>
            </a:lvl3pPr>
            <a:lvl4pPr>
              <a:defRPr sz="1950" b="0">
                <a:solidFill>
                  <a:srgbClr val="58717B"/>
                </a:solidFill>
              </a:defRPr>
            </a:lvl4pPr>
            <a:lvl5pPr>
              <a:defRPr sz="1950" b="0">
                <a:solidFill>
                  <a:srgbClr val="58717B"/>
                </a:solidFill>
              </a:defRPr>
            </a:lvl5pPr>
            <a:lvl6pPr>
              <a:defRPr sz="1950" b="0">
                <a:solidFill>
                  <a:srgbClr val="58717B"/>
                </a:solidFill>
              </a:defRPr>
            </a:lvl6pPr>
            <a:lvl7pPr>
              <a:defRPr sz="1950" b="0">
                <a:solidFill>
                  <a:srgbClr val="58717B"/>
                </a:solidFill>
              </a:defRPr>
            </a:lvl7pPr>
            <a:lvl8pPr>
              <a:defRPr sz="1950" b="0">
                <a:solidFill>
                  <a:srgbClr val="58717B"/>
                </a:solidFill>
              </a:defRPr>
            </a:lvl8pPr>
            <a:lvl9pPr>
              <a:defRPr sz="1950" b="0">
                <a:solidFill>
                  <a:srgbClr val="58717B"/>
                </a:solidFill>
              </a:defRPr>
            </a:lvl9pPr>
          </a:lstStyle>
          <a:p xmlns:a="http://schemas.openxmlformats.org/drawingml/2006/main">
            <a:pPr>
              <a:defRPr sz="1950" b="0">
                <a:solidFill>
                  <a:srgbClr val="58717B"/>
                </a:solidFill>
              </a:defRPr>
            </a:pPr>
            <a:r>
              <a:rPr sz="1950" b="0">
                <a:solidFill>
                  <a:srgbClr val="58717B"/>
                </a:solidFill>
              </a:rPr>
              <a:t>Timing / power / area</a:t>
            </a:r>
          </a:p>
        </p:txBody>
      </p:sp>
      <p:sp>
        <p:nvSpPr>
          <p:cNvPr id="14" name="label-75">
            <a:extLst xmlns:a="http://schemas.openxmlformats.org/drawingml/2006/main">
              <a:ext uri="{FF2B5EF4-FFF2-40B4-BE49-F238E27FC236}">
                <a16:creationId xmlns:a16="http://schemas.microsoft.com/office/drawing/2014/main" id="{9FB70D6F-7020-4D70-BE68-17340CA529D8}"/>
              </a:ext>
            </a:extLst>
          </p:cNvPr>
          <p:cNvSpPr>
            <a:spLocks xmlns:a="http://schemas.openxmlformats.org/drawingml/2006/main" noGrp="1"/>
          </p:cNvSpPr>
          <p:nvPr/>
        </p:nvSpPr>
        <p:spPr>
          <a:xfrm xmlns:a="http://schemas.openxmlformats.org/drawingml/2006/main">
            <a:off x="9239250" y="41910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8717B"/>
                </a:solidFill>
              </a:defRPr>
            </a:defPPr>
            <a:lvl1pPr>
              <a:defRPr sz="1950" b="0">
                <a:solidFill>
                  <a:srgbClr val="58717B"/>
                </a:solidFill>
              </a:defRPr>
            </a:lvl1pPr>
            <a:lvl2pPr>
              <a:defRPr sz="1950" b="0">
                <a:solidFill>
                  <a:srgbClr val="58717B"/>
                </a:solidFill>
              </a:defRPr>
            </a:lvl2pPr>
            <a:lvl3pPr>
              <a:defRPr sz="1950" b="0">
                <a:solidFill>
                  <a:srgbClr val="58717B"/>
                </a:solidFill>
              </a:defRPr>
            </a:lvl3pPr>
            <a:lvl4pPr>
              <a:defRPr sz="1950" b="0">
                <a:solidFill>
                  <a:srgbClr val="58717B"/>
                </a:solidFill>
              </a:defRPr>
            </a:lvl4pPr>
            <a:lvl5pPr>
              <a:defRPr sz="1950" b="0">
                <a:solidFill>
                  <a:srgbClr val="58717B"/>
                </a:solidFill>
              </a:defRPr>
            </a:lvl5pPr>
            <a:lvl6pPr>
              <a:defRPr sz="1950" b="0">
                <a:solidFill>
                  <a:srgbClr val="58717B"/>
                </a:solidFill>
              </a:defRPr>
            </a:lvl6pPr>
            <a:lvl7pPr>
              <a:defRPr sz="1950" b="0">
                <a:solidFill>
                  <a:srgbClr val="58717B"/>
                </a:solidFill>
              </a:defRPr>
            </a:lvl7pPr>
            <a:lvl8pPr>
              <a:defRPr sz="1950" b="0">
                <a:solidFill>
                  <a:srgbClr val="58717B"/>
                </a:solidFill>
              </a:defRPr>
            </a:lvl8pPr>
            <a:lvl9pPr>
              <a:defRPr sz="1950" b="0">
                <a:solidFill>
                  <a:srgbClr val="58717B"/>
                </a:solidFill>
              </a:defRPr>
            </a:lvl9pPr>
          </a:lstStyle>
          <a:p xmlns:a="http://schemas.openxmlformats.org/drawingml/2006/main">
            <a:pPr>
              <a:defRPr sz="1950" b="0">
                <a:solidFill>
                  <a:srgbClr val="58717B"/>
                </a:solidFill>
              </a:defRPr>
            </a:pPr>
            <a:r>
              <a:rPr sz="1950" b="0">
                <a:solidFill>
                  <a:srgbClr val="58717B"/>
                </a:solidFill>
              </a:rPr>
              <a:t>Approved scope</a:t>
            </a:r>
          </a:p>
        </p:txBody>
      </p:sp>
      <p:sp>
        <p:nvSpPr>
          <p:cNvPr id="15" name="proof-token">
            <a:extLst xmlns:a="http://schemas.openxmlformats.org/drawingml/2006/main">
              <a:ext uri="{FF2B5EF4-FFF2-40B4-BE49-F238E27FC236}">
                <a16:creationId xmlns:a16="http://schemas.microsoft.com/office/drawing/2014/main" id="{732DA3A1-4C40-4F3D-B165-517E4D3B9EA7}"/>
              </a:ext>
            </a:extLst>
          </p:cNvPr>
          <p:cNvSpPr>
            <a:spLocks xmlns:a="http://schemas.openxmlformats.org/drawingml/2006/main" noGrp="1"/>
          </p:cNvSpPr>
          <p:nvPr/>
        </p:nvSpPr>
        <p:spPr>
          <a:xfrm xmlns:a="http://schemas.openxmlformats.org/drawingml/2006/main">
            <a:off x="1609725" y="5105400"/>
            <a:ext cx="304800" cy="209550"/>
          </a:xfrm>
          <a:prstGeom xmlns:a="http://schemas.openxmlformats.org/drawingml/2006/main" prst="roundRect">
            <a:avLst>
              <a:gd name="adj" fmla="val 36364"/>
            </a:avLst>
          </a:prstGeom>
          <a:solidFill xmlns:a="http://schemas.openxmlformats.org/drawingml/2006/main">
            <a:srgbClr val="CB6A32"/>
          </a:solidFill>
          <a:ln xmlns:a="http://schemas.openxmlformats.org/drawingml/2006/main" w="19050">
            <a:solidFill>
              <a:srgbClr val="CB6A32"/>
            </a:solidFill>
          </a:ln>
        </p:spPr>
      </p:sp>
      <p:sp>
        <p:nvSpPr>
          <p:cNvPr id="16" name="caption">
            <a:extLst xmlns:a="http://schemas.openxmlformats.org/drawingml/2006/main">
              <a:ext uri="{FF2B5EF4-FFF2-40B4-BE49-F238E27FC236}">
                <a16:creationId xmlns:a16="http://schemas.microsoft.com/office/drawing/2014/main" id="{5D3096DD-4BD3-4B36-BBA2-613C58ED827E}"/>
              </a:ext>
            </a:extLst>
          </p:cNvPr>
          <p:cNvSpPr>
            <a:spLocks xmlns:a="http://schemas.openxmlformats.org/drawingml/2006/main" noGrp="1"/>
          </p:cNvSpPr>
          <p:nvPr/>
        </p:nvSpPr>
        <p:spPr>
          <a:xfrm xmlns:a="http://schemas.openxmlformats.org/drawingml/2006/main">
            <a:off x="60960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007E87"/>
                </a:solidFill>
              </a:defRPr>
            </a:defPPr>
            <a:lvl1pPr>
              <a:defRPr sz="1800" b="0">
                <a:solidFill>
                  <a:srgbClr val="007E87"/>
                </a:solidFill>
              </a:defRPr>
            </a:lvl1pPr>
            <a:lvl2pPr>
              <a:defRPr sz="1800" b="0">
                <a:solidFill>
                  <a:srgbClr val="007E87"/>
                </a:solidFill>
              </a:defRPr>
            </a:lvl2pPr>
            <a:lvl3pPr>
              <a:defRPr sz="1800" b="0">
                <a:solidFill>
                  <a:srgbClr val="007E87"/>
                </a:solidFill>
              </a:defRPr>
            </a:lvl3pPr>
            <a:lvl4pPr>
              <a:defRPr sz="1800" b="0">
                <a:solidFill>
                  <a:srgbClr val="007E87"/>
                </a:solidFill>
              </a:defRPr>
            </a:lvl4pPr>
            <a:lvl5pPr>
              <a:defRPr sz="1800" b="0">
                <a:solidFill>
                  <a:srgbClr val="007E87"/>
                </a:solidFill>
              </a:defRPr>
            </a:lvl5pPr>
            <a:lvl6pPr>
              <a:defRPr sz="1800" b="0">
                <a:solidFill>
                  <a:srgbClr val="007E87"/>
                </a:solidFill>
              </a:defRPr>
            </a:lvl6pPr>
            <a:lvl7pPr>
              <a:defRPr sz="1800" b="0">
                <a:solidFill>
                  <a:srgbClr val="007E87"/>
                </a:solidFill>
              </a:defRPr>
            </a:lvl7pPr>
            <a:lvl8pPr>
              <a:defRPr sz="1800" b="0">
                <a:solidFill>
                  <a:srgbClr val="007E87"/>
                </a:solidFill>
              </a:defRPr>
            </a:lvl8pPr>
            <a:lvl9pPr>
              <a:defRPr sz="1800" b="0">
                <a:solidFill>
                  <a:srgbClr val="007E87"/>
                </a:solidFill>
              </a:defRPr>
            </a:lvl9pPr>
          </a:lstStyle>
          <a:p xmlns:a="http://schemas.openxmlformats.org/drawingml/2006/main">
            <a:pPr>
              <a:defRPr sz="1800" b="0">
                <a:solidFill>
                  <a:srgbClr val="007E87"/>
                </a:solidFill>
              </a:defRPr>
            </a:pPr>
            <a:r>
              <a:rPr sz="1800" b="0">
                <a:solidFill>
                  <a:srgbClr val="007E87"/>
                </a:solidFill>
              </a:rPr>
              <a:t>PDK and qualified libraries still need confirmation. No fabrication.</a:t>
            </a:r>
          </a:p>
        </p:txBody>
      </p:sp>
    </p:spTree>
    <p:extLst>
      <p:ext uri="{BB962C8B-B14F-4D97-AF65-F5344CB8AC3E}">
        <p14:creationId xmlns:p14="http://schemas.microsoft.com/office/powerpoint/2010/main" val="2019962806"/>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235937 0.000000 E" pathEditMode="relative" rAng="0">
                                      <p:cBhvr additive="base">
                                        <p:cTn id="6" dur="1150" fill="hold" accel="12000" decel="12000"/>
                                        <p:tgtEl>
                                          <p:spTgt spid="15"/>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fill="hold" nodeType="clickEffect">
                                  <p:stCondLst>
                                    <p:cond delay="0"/>
                                  </p:stCondLst>
                                  <p:childTnLst>
                                    <p:animMotion origin="layout" path="M 0.235937 0.000000 L 0.471875 0.000000 E" pathEditMode="relative" rAng="0">
                                      <p:cBhvr additive="base">
                                        <p:cTn id="10" dur="1150" fill="hold" accel="12000" decel="12000"/>
                                        <p:tgtEl>
                                          <p:spTgt spid="15"/>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fill="hold" nodeType="clickEffect">
                                  <p:stCondLst>
                                    <p:cond delay="0"/>
                                  </p:stCondLst>
                                  <p:childTnLst>
                                    <p:animMotion origin="layout" path="M 0.471875 0.000000 L 0.707812 0.000000 E" pathEditMode="relative" rAng="0">
                                      <p:cBhvr additive="base">
                                        <p:cTn id="14" dur="1150" fill="hold" accel="12000" decel="12000"/>
                                        <p:tgtEl>
                                          <p:spTgt spid="1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CB0F2DF-FEF7-424C-93A1-E27B8DE92625}"/>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63B46"/>
                </a:solidFill>
              </a:defRPr>
            </a:defPPr>
            <a:lvl1pPr>
              <a:defRPr sz="3450" b="1">
                <a:solidFill>
                  <a:srgbClr val="163B46"/>
                </a:solidFill>
              </a:defRPr>
            </a:lvl1pPr>
            <a:lvl2pPr>
              <a:defRPr sz="3450" b="1">
                <a:solidFill>
                  <a:srgbClr val="163B46"/>
                </a:solidFill>
              </a:defRPr>
            </a:lvl2pPr>
            <a:lvl3pPr>
              <a:defRPr sz="3450" b="1">
                <a:solidFill>
                  <a:srgbClr val="163B46"/>
                </a:solidFill>
              </a:defRPr>
            </a:lvl3pPr>
            <a:lvl4pPr>
              <a:defRPr sz="3450" b="1">
                <a:solidFill>
                  <a:srgbClr val="163B46"/>
                </a:solidFill>
              </a:defRPr>
            </a:lvl4pPr>
            <a:lvl5pPr>
              <a:defRPr sz="3450" b="1">
                <a:solidFill>
                  <a:srgbClr val="163B46"/>
                </a:solidFill>
              </a:defRPr>
            </a:lvl5pPr>
            <a:lvl6pPr>
              <a:defRPr sz="3450" b="1">
                <a:solidFill>
                  <a:srgbClr val="163B46"/>
                </a:solidFill>
              </a:defRPr>
            </a:lvl6pPr>
            <a:lvl7pPr>
              <a:defRPr sz="3450" b="1">
                <a:solidFill>
                  <a:srgbClr val="163B46"/>
                </a:solidFill>
              </a:defRPr>
            </a:lvl7pPr>
            <a:lvl8pPr>
              <a:defRPr sz="3450" b="1">
                <a:solidFill>
                  <a:srgbClr val="163B46"/>
                </a:solidFill>
              </a:defRPr>
            </a:lvl8pPr>
            <a:lvl9pPr>
              <a:defRPr sz="3450" b="1">
                <a:solidFill>
                  <a:srgbClr val="163B46"/>
                </a:solidFill>
              </a:defRPr>
            </a:lvl9pPr>
          </a:lstStyle>
          <a:p xmlns:a="http://schemas.openxmlformats.org/drawingml/2006/main">
            <a:pPr>
              <a:defRPr sz="3450" b="1">
                <a:solidFill>
                  <a:srgbClr val="163B46"/>
                </a:solidFill>
              </a:defRPr>
            </a:pPr>
            <a:r>
              <a:rPr sz="3450" b="1">
                <a:solidFill>
                  <a:srgbClr val="163B46"/>
                </a:solidFill>
              </a:rPr>
              <a:t>Ten months of work</a:t>
            </a:r>
          </a:p>
        </p:txBody>
      </p:sp>
      <p:sp>
        <p:nvSpPr>
          <p:cNvPr id="3" name="page">
            <a:extLst xmlns:a="http://schemas.openxmlformats.org/drawingml/2006/main">
              <a:ext uri="{FF2B5EF4-FFF2-40B4-BE49-F238E27FC236}">
                <a16:creationId xmlns:a16="http://schemas.microsoft.com/office/drawing/2014/main" id="{86DA9AFD-9CA0-406B-9D30-8D930A85BBE7}"/>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12</a:t>
            </a:r>
          </a:p>
        </p:txBody>
      </p:sp>
      <p:graphicFrame>
        <p:nvGraphicFramePr>
          <p:cNvPr id="4" name="">
            <a:extLst xmlns:a="http://schemas.openxmlformats.org/drawingml/2006/main">
              <a:ext uri="{FF2B5EF4-FFF2-40B4-BE49-F238E27FC236}">
                <a16:creationId xmlns:a16="http://schemas.microsoft.com/office/drawing/2014/main" id="{E972DD05-DE20-4303-9D22-DB74E9A57DE1}"/>
              </a:ext>
            </a:extLst>
          </p:cNvPr>
          <p:cNvGraphicFramePr/>
          <p:nvPr/>
        </p:nvGraphicFramePr>
        <p:xfrm>
          <a:off xmlns:a="http://schemas.openxmlformats.org/drawingml/2006/main" x="609600" y="1943100"/>
          <a:ext xmlns:a="http://schemas.openxmlformats.org/drawingml/2006/main" cx="10953750" cy="3286125"/>
        </p:xfrm>
        <a:graphic xmlns:a="http://schemas.openxmlformats.org/drawingml/2006/main">
          <a:graphicData uri="http://schemas.openxmlformats.org/drawingml/2006/table">
            <a:tbl>
              <a:tblPr/>
              <a:tblGrid>
                <a:gridCol w="2476500"/>
                <a:gridCol w="847725"/>
                <a:gridCol w="847725"/>
                <a:gridCol w="847725"/>
                <a:gridCol w="847725"/>
                <a:gridCol w="847725"/>
                <a:gridCol w="847725"/>
                <a:gridCol w="847725"/>
                <a:gridCol w="847725"/>
                <a:gridCol w="847725"/>
                <a:gridCol w="847725"/>
              </a:tblGrid>
              <a:tr h="547688">
                <a:tc>
                  <a:txBody>
                    <a:bodyPr/>
                    <a:lstStyle/>
                    <a:p>
                      <a:r>
                        <a:rPr sz="1875" b="1">
                          <a:solidFill>
                            <a:srgbClr val="163B46"/>
                          </a:solidFill>
                        </a:rPr>
                        <a:t/>
                      </a:r>
                    </a:p>
                  </a:txBody>
                  <a:tcPr marL="91440" marR="91440" marT="45720" marB="45720">
                    <a:lnL w="28575">
                      <a:solidFill>
                        <a:srgbClr val="FCFDFD"/>
                      </a:solidFill>
                    </a:lnL>
                    <a:lnR w="28575">
                      <a:solidFill>
                        <a:srgbClr val="FCFDFD"/>
                      </a:solidFill>
                    </a:lnR>
                    <a:lnT w="28575">
                      <a:solidFill>
                        <a:srgbClr val="FCFDFD"/>
                      </a:solidFill>
                    </a:lnT>
                    <a:lnB w="28575">
                      <a:solidFill>
                        <a:srgbClr val="FCFDFD"/>
                      </a:solidFill>
                    </a:lnB>
                    <a:solidFill>
                      <a:srgbClr val="FCFDFD"/>
                    </a:solidFill>
                  </a:tcPr>
                </a:tc>
                <a:tc>
                  <a:txBody>
                    <a:bodyPr/>
                    <a:lstStyle/>
                    <a:p>
                      <a:r>
                        <a:rPr sz="1500" b="1">
                          <a:solidFill>
                            <a:srgbClr val="163B46"/>
                          </a:solidFill>
                        </a:rPr>
                        <a:t>1</a:t>
                      </a:r>
                    </a:p>
                  </a:txBody>
                  <a:tcPr marL="91440" marR="91440" marT="45720" marB="45720">
                    <a:lnR w="28575">
                      <a:solidFill>
                        <a:srgbClr val="FCFDFD"/>
                      </a:solidFill>
                    </a:lnR>
                    <a:lnT w="28575">
                      <a:solidFill>
                        <a:srgbClr val="FCFDFD"/>
                      </a:solidFill>
                    </a:lnT>
                    <a:lnB w="28575">
                      <a:solidFill>
                        <a:srgbClr val="FCFDFD"/>
                      </a:solidFill>
                    </a:lnB>
                    <a:solidFill>
                      <a:srgbClr val="FCFDFD"/>
                    </a:solidFill>
                  </a:tcPr>
                </a:tc>
                <a:tc>
                  <a:txBody>
                    <a:bodyPr/>
                    <a:lstStyle/>
                    <a:p>
                      <a:r>
                        <a:rPr sz="1500" b="1">
                          <a:solidFill>
                            <a:srgbClr val="163B46"/>
                          </a:solidFill>
                        </a:rPr>
                        <a:t>2</a:t>
                      </a:r>
                    </a:p>
                  </a:txBody>
                  <a:tcPr marL="91440" marR="91440" marT="45720" marB="45720">
                    <a:lnR w="28575">
                      <a:solidFill>
                        <a:srgbClr val="FCFDFD"/>
                      </a:solidFill>
                    </a:lnR>
                    <a:lnT w="28575">
                      <a:solidFill>
                        <a:srgbClr val="FCFDFD"/>
                      </a:solidFill>
                    </a:lnT>
                    <a:lnB w="28575">
                      <a:solidFill>
                        <a:srgbClr val="FCFDFD"/>
                      </a:solidFill>
                    </a:lnB>
                    <a:solidFill>
                      <a:srgbClr val="FCFDFD"/>
                    </a:solidFill>
                  </a:tcPr>
                </a:tc>
                <a:tc>
                  <a:txBody>
                    <a:bodyPr/>
                    <a:lstStyle/>
                    <a:p>
                      <a:r>
                        <a:rPr sz="1500" b="1">
                          <a:solidFill>
                            <a:srgbClr val="163B46"/>
                          </a:solidFill>
                        </a:rPr>
                        <a:t>3</a:t>
                      </a:r>
                    </a:p>
                  </a:txBody>
                  <a:tcPr marL="91440" marR="91440" marT="45720" marB="45720">
                    <a:lnR w="28575">
                      <a:solidFill>
                        <a:srgbClr val="FCFDFD"/>
                      </a:solidFill>
                    </a:lnR>
                    <a:lnT w="28575">
                      <a:solidFill>
                        <a:srgbClr val="FCFDFD"/>
                      </a:solidFill>
                    </a:lnT>
                    <a:lnB w="28575">
                      <a:solidFill>
                        <a:srgbClr val="FCFDFD"/>
                      </a:solidFill>
                    </a:lnB>
                    <a:solidFill>
                      <a:srgbClr val="FCFDFD"/>
                    </a:solidFill>
                  </a:tcPr>
                </a:tc>
                <a:tc>
                  <a:txBody>
                    <a:bodyPr/>
                    <a:lstStyle/>
                    <a:p>
                      <a:r>
                        <a:rPr sz="1500" b="1">
                          <a:solidFill>
                            <a:srgbClr val="163B46"/>
                          </a:solidFill>
                        </a:rPr>
                        <a:t>4</a:t>
                      </a:r>
                    </a:p>
                  </a:txBody>
                  <a:tcPr marL="91440" marR="91440" marT="45720" marB="45720">
                    <a:lnR w="28575">
                      <a:solidFill>
                        <a:srgbClr val="FCFDFD"/>
                      </a:solidFill>
                    </a:lnR>
                    <a:lnT w="28575">
                      <a:solidFill>
                        <a:srgbClr val="FCFDFD"/>
                      </a:solidFill>
                    </a:lnT>
                    <a:lnB w="28575">
                      <a:solidFill>
                        <a:srgbClr val="FCFDFD"/>
                      </a:solidFill>
                    </a:lnB>
                    <a:solidFill>
                      <a:srgbClr val="FCFDFD"/>
                    </a:solidFill>
                  </a:tcPr>
                </a:tc>
                <a:tc>
                  <a:txBody>
                    <a:bodyPr/>
                    <a:lstStyle/>
                    <a:p>
                      <a:r>
                        <a:rPr sz="1500" b="1">
                          <a:solidFill>
                            <a:srgbClr val="163B46"/>
                          </a:solidFill>
                        </a:rPr>
                        <a:t>5</a:t>
                      </a:r>
                    </a:p>
                  </a:txBody>
                  <a:tcPr marL="91440" marR="91440" marT="45720" marB="45720">
                    <a:lnR w="28575">
                      <a:solidFill>
                        <a:srgbClr val="FCFDFD"/>
                      </a:solidFill>
                    </a:lnR>
                    <a:lnT w="28575">
                      <a:solidFill>
                        <a:srgbClr val="FCFDFD"/>
                      </a:solidFill>
                    </a:lnT>
                    <a:lnB w="28575">
                      <a:solidFill>
                        <a:srgbClr val="FCFDFD"/>
                      </a:solidFill>
                    </a:lnB>
                    <a:solidFill>
                      <a:srgbClr val="FCFDFD"/>
                    </a:solidFill>
                  </a:tcPr>
                </a:tc>
                <a:tc>
                  <a:txBody>
                    <a:bodyPr/>
                    <a:lstStyle/>
                    <a:p>
                      <a:r>
                        <a:rPr sz="1500" b="1">
                          <a:solidFill>
                            <a:srgbClr val="163B46"/>
                          </a:solidFill>
                        </a:rPr>
                        <a:t>6</a:t>
                      </a:r>
                    </a:p>
                  </a:txBody>
                  <a:tcPr marL="91440" marR="91440" marT="45720" marB="45720">
                    <a:lnR w="28575">
                      <a:solidFill>
                        <a:srgbClr val="FCFDFD"/>
                      </a:solidFill>
                    </a:lnR>
                    <a:lnT w="28575">
                      <a:solidFill>
                        <a:srgbClr val="FCFDFD"/>
                      </a:solidFill>
                    </a:lnT>
                    <a:lnB w="28575">
                      <a:solidFill>
                        <a:srgbClr val="FCFDFD"/>
                      </a:solidFill>
                    </a:lnB>
                    <a:solidFill>
                      <a:srgbClr val="FCFDFD"/>
                    </a:solidFill>
                  </a:tcPr>
                </a:tc>
                <a:tc>
                  <a:txBody>
                    <a:bodyPr/>
                    <a:lstStyle/>
                    <a:p>
                      <a:r>
                        <a:rPr sz="1500" b="1">
                          <a:solidFill>
                            <a:srgbClr val="163B46"/>
                          </a:solidFill>
                        </a:rPr>
                        <a:t>7</a:t>
                      </a:r>
                    </a:p>
                  </a:txBody>
                  <a:tcPr marL="91440" marR="91440" marT="45720" marB="45720">
                    <a:lnR w="28575">
                      <a:solidFill>
                        <a:srgbClr val="FCFDFD"/>
                      </a:solidFill>
                    </a:lnR>
                    <a:lnT w="28575">
                      <a:solidFill>
                        <a:srgbClr val="FCFDFD"/>
                      </a:solidFill>
                    </a:lnT>
                    <a:lnB w="28575">
                      <a:solidFill>
                        <a:srgbClr val="FCFDFD"/>
                      </a:solidFill>
                    </a:lnB>
                    <a:solidFill>
                      <a:srgbClr val="FCFDFD"/>
                    </a:solidFill>
                  </a:tcPr>
                </a:tc>
                <a:tc>
                  <a:txBody>
                    <a:bodyPr/>
                    <a:lstStyle/>
                    <a:p>
                      <a:r>
                        <a:rPr sz="1500" b="1">
                          <a:solidFill>
                            <a:srgbClr val="163B46"/>
                          </a:solidFill>
                        </a:rPr>
                        <a:t>8</a:t>
                      </a:r>
                    </a:p>
                  </a:txBody>
                  <a:tcPr marL="91440" marR="91440" marT="45720" marB="45720">
                    <a:lnR w="28575">
                      <a:solidFill>
                        <a:srgbClr val="FCFDFD"/>
                      </a:solidFill>
                    </a:lnR>
                    <a:lnT w="28575">
                      <a:solidFill>
                        <a:srgbClr val="FCFDFD"/>
                      </a:solidFill>
                    </a:lnT>
                    <a:lnB w="28575">
                      <a:solidFill>
                        <a:srgbClr val="FCFDFD"/>
                      </a:solidFill>
                    </a:lnB>
                    <a:solidFill>
                      <a:srgbClr val="FCFDFD"/>
                    </a:solidFill>
                  </a:tcPr>
                </a:tc>
                <a:tc>
                  <a:txBody>
                    <a:bodyPr/>
                    <a:lstStyle/>
                    <a:p>
                      <a:r>
                        <a:rPr sz="1500" b="1">
                          <a:solidFill>
                            <a:srgbClr val="163B46"/>
                          </a:solidFill>
                        </a:rPr>
                        <a:t>9</a:t>
                      </a:r>
                    </a:p>
                  </a:txBody>
                  <a:tcPr marL="91440" marR="91440" marT="45720" marB="45720">
                    <a:lnR w="28575">
                      <a:solidFill>
                        <a:srgbClr val="FCFDFD"/>
                      </a:solidFill>
                    </a:lnR>
                    <a:lnT w="28575">
                      <a:solidFill>
                        <a:srgbClr val="FCFDFD"/>
                      </a:solidFill>
                    </a:lnT>
                    <a:lnB w="28575">
                      <a:solidFill>
                        <a:srgbClr val="FCFDFD"/>
                      </a:solidFill>
                    </a:lnB>
                    <a:solidFill>
                      <a:srgbClr val="FCFDFD"/>
                    </a:solidFill>
                  </a:tcPr>
                </a:tc>
                <a:tc>
                  <a:txBody>
                    <a:bodyPr/>
                    <a:lstStyle/>
                    <a:p>
                      <a:r>
                        <a:rPr sz="1500" b="1">
                          <a:solidFill>
                            <a:srgbClr val="163B46"/>
                          </a:solidFill>
                        </a:rPr>
                        <a:t>10</a:t>
                      </a:r>
                    </a:p>
                  </a:txBody>
                  <a:tcPr marL="91440" marR="91440" marT="45720" marB="45720">
                    <a:lnR w="28575">
                      <a:solidFill>
                        <a:srgbClr val="FCFDFD"/>
                      </a:solidFill>
                    </a:lnR>
                    <a:lnT w="28575">
                      <a:solidFill>
                        <a:srgbClr val="FCFDFD"/>
                      </a:solidFill>
                    </a:lnT>
                    <a:lnB w="28575">
                      <a:solidFill>
                        <a:srgbClr val="FCFDFD"/>
                      </a:solidFill>
                    </a:lnB>
                    <a:solidFill>
                      <a:srgbClr val="FCFDFD"/>
                    </a:solidFill>
                  </a:tcPr>
                </a:tc>
              </a:tr>
              <a:tr h="547688">
                <a:tc>
                  <a:txBody>
                    <a:bodyPr/>
                    <a:lstStyle/>
                    <a:p>
                      <a:r>
                        <a:rPr sz="1875" b="1">
                          <a:solidFill>
                            <a:srgbClr val="163B46"/>
                          </a:solidFill>
                        </a:rPr>
                        <a:t>Models / access</a:t>
                      </a:r>
                    </a:p>
                  </a:txBody>
                  <a:tcPr marL="91440" marR="91440" marT="45720" marB="45720">
                    <a:lnL w="28575">
                      <a:solidFill>
                        <a:srgbClr val="FCFDFD"/>
                      </a:solidFill>
                    </a:lnL>
                    <a:lnR w="28575">
                      <a:solidFill>
                        <a:srgbClr val="FCFDFD"/>
                      </a:solidFill>
                    </a:lnR>
                    <a:lnB w="28575">
                      <a:solidFill>
                        <a:srgbClr val="FCFDFD"/>
                      </a:solidFill>
                    </a:lnB>
                    <a:solidFill>
                      <a:srgbClr val="FCFDFD"/>
                    </a:solidFill>
                  </a:tcPr>
                </a:tc>
                <a:tc>
                  <a:txBody>
                    <a:bodyPr/>
                    <a:lstStyle/>
                    <a:p>
                      <a:r>
                        <a:rPr sz="1500" b="0">
                          <a:solidFill>
                            <a:srgbClr val="FFFFFF"/>
                          </a:solidFill>
                        </a:rPr>
                        <a:t/>
                      </a:r>
                    </a:p>
                  </a:txBody>
                  <a:tcPr marL="91440" marR="91440" marT="45720" marB="45720">
                    <a:lnR w="28575">
                      <a:solidFill>
                        <a:srgbClr val="FCFDFD"/>
                      </a:solidFill>
                    </a:lnR>
                    <a:lnB w="28575">
                      <a:solidFill>
                        <a:srgbClr val="FCFDFD"/>
                      </a:solidFill>
                    </a:lnB>
                    <a:solidFill>
                      <a:srgbClr val="007E87"/>
                    </a:solidFill>
                  </a:tcPr>
                </a:tc>
                <a:tc>
                  <a:txBody>
                    <a:bodyPr/>
                    <a:lstStyle/>
                    <a:p>
                      <a:r>
                        <a:rPr sz="1500" b="0">
                          <a:solidFill>
                            <a:srgbClr val="FFFFFF"/>
                          </a:solidFill>
                        </a:rPr>
                        <a:t/>
                      </a:r>
                    </a:p>
                  </a:txBody>
                  <a:tcPr marL="91440" marR="91440" marT="45720" marB="45720">
                    <a:lnR w="28575">
                      <a:solidFill>
                        <a:srgbClr val="FCFDFD"/>
                      </a:solidFill>
                    </a:lnR>
                    <a:lnB w="28575">
                      <a:solidFill>
                        <a:srgbClr val="FCFDFD"/>
                      </a:solidFill>
                    </a:lnB>
                    <a:solidFill>
                      <a:srgbClr val="007E87"/>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r>
              <a:tr h="547688">
                <a:tc>
                  <a:txBody>
                    <a:bodyPr/>
                    <a:lstStyle/>
                    <a:p>
                      <a:r>
                        <a:rPr sz="1875" b="1">
                          <a:solidFill>
                            <a:srgbClr val="163B46"/>
                          </a:solidFill>
                        </a:rPr>
                        <a:t>DFE / supply</a:t>
                      </a:r>
                    </a:p>
                  </a:txBody>
                  <a:tcPr marL="91440" marR="91440" marT="45720" marB="45720">
                    <a:lnL w="28575">
                      <a:solidFill>
                        <a:srgbClr val="FCFDFD"/>
                      </a:solidFill>
                    </a:lnL>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FFFFFF"/>
                          </a:solidFill>
                        </a:rPr>
                        <a:t/>
                      </a:r>
                    </a:p>
                  </a:txBody>
                  <a:tcPr marL="91440" marR="91440" marT="45720" marB="45720">
                    <a:lnR w="28575">
                      <a:solidFill>
                        <a:srgbClr val="FCFDFD"/>
                      </a:solidFill>
                    </a:lnR>
                    <a:lnB w="28575">
                      <a:solidFill>
                        <a:srgbClr val="FCFDFD"/>
                      </a:solidFill>
                    </a:lnB>
                    <a:solidFill>
                      <a:srgbClr val="007E87"/>
                    </a:solidFill>
                  </a:tcPr>
                </a:tc>
                <a:tc>
                  <a:txBody>
                    <a:bodyPr/>
                    <a:lstStyle/>
                    <a:p>
                      <a:r>
                        <a:rPr sz="1500" b="0">
                          <a:solidFill>
                            <a:srgbClr val="FFFFFF"/>
                          </a:solidFill>
                        </a:rPr>
                        <a:t/>
                      </a:r>
                    </a:p>
                  </a:txBody>
                  <a:tcPr marL="91440" marR="91440" marT="45720" marB="45720">
                    <a:lnR w="28575">
                      <a:solidFill>
                        <a:srgbClr val="FCFDFD"/>
                      </a:solidFill>
                    </a:lnR>
                    <a:lnB w="28575">
                      <a:solidFill>
                        <a:srgbClr val="FCFDFD"/>
                      </a:solidFill>
                    </a:lnB>
                    <a:solidFill>
                      <a:srgbClr val="007E87"/>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r>
              <a:tr h="547688">
                <a:tc>
                  <a:txBody>
                    <a:bodyPr/>
                    <a:lstStyle/>
                    <a:p>
                      <a:r>
                        <a:rPr sz="1875" b="1">
                          <a:solidFill>
                            <a:srgbClr val="163B46"/>
                          </a:solidFill>
                        </a:rPr>
                        <a:t>RTL / controller</a:t>
                      </a:r>
                    </a:p>
                  </a:txBody>
                  <a:tcPr marL="91440" marR="91440" marT="45720" marB="45720">
                    <a:lnL w="28575">
                      <a:solidFill>
                        <a:srgbClr val="FCFDFD"/>
                      </a:solidFill>
                    </a:lnL>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FFFFFF"/>
                          </a:solidFill>
                        </a:rPr>
                        <a:t/>
                      </a:r>
                    </a:p>
                  </a:txBody>
                  <a:tcPr marL="91440" marR="91440" marT="45720" marB="45720">
                    <a:lnR w="28575">
                      <a:solidFill>
                        <a:srgbClr val="FCFDFD"/>
                      </a:solidFill>
                    </a:lnR>
                    <a:lnB w="28575">
                      <a:solidFill>
                        <a:srgbClr val="FCFDFD"/>
                      </a:solidFill>
                    </a:lnB>
                    <a:solidFill>
                      <a:srgbClr val="007E87"/>
                    </a:solidFill>
                  </a:tcPr>
                </a:tc>
                <a:tc>
                  <a:txBody>
                    <a:bodyPr/>
                    <a:lstStyle/>
                    <a:p>
                      <a:r>
                        <a:rPr sz="1500" b="0">
                          <a:solidFill>
                            <a:srgbClr val="FFFFFF"/>
                          </a:solidFill>
                        </a:rPr>
                        <a:t/>
                      </a:r>
                    </a:p>
                  </a:txBody>
                  <a:tcPr marL="91440" marR="91440" marT="45720" marB="45720">
                    <a:lnR w="28575">
                      <a:solidFill>
                        <a:srgbClr val="FCFDFD"/>
                      </a:solidFill>
                    </a:lnR>
                    <a:lnB w="28575">
                      <a:solidFill>
                        <a:srgbClr val="FCFDFD"/>
                      </a:solidFill>
                    </a:lnB>
                    <a:solidFill>
                      <a:srgbClr val="007E87"/>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r>
              <a:tr h="547688">
                <a:tc>
                  <a:txBody>
                    <a:bodyPr/>
                    <a:lstStyle/>
                    <a:p>
                      <a:r>
                        <a:rPr sz="1875" b="1">
                          <a:solidFill>
                            <a:srgbClr val="163B46"/>
                          </a:solidFill>
                        </a:rPr>
                        <a:t>Physical / results</a:t>
                      </a:r>
                    </a:p>
                  </a:txBody>
                  <a:tcPr marL="91440" marR="91440" marT="45720" marB="45720">
                    <a:lnL w="28575">
                      <a:solidFill>
                        <a:srgbClr val="FCFDFD"/>
                      </a:solidFill>
                    </a:lnL>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FFFFFF"/>
                          </a:solidFill>
                        </a:rPr>
                        <a:t/>
                      </a:r>
                    </a:p>
                  </a:txBody>
                  <a:tcPr marL="91440" marR="91440" marT="45720" marB="45720">
                    <a:lnR w="28575">
                      <a:solidFill>
                        <a:srgbClr val="FCFDFD"/>
                      </a:solidFill>
                    </a:lnR>
                    <a:lnB w="28575">
                      <a:solidFill>
                        <a:srgbClr val="FCFDFD"/>
                      </a:solidFill>
                    </a:lnB>
                    <a:solidFill>
                      <a:srgbClr val="007E87"/>
                    </a:solidFill>
                  </a:tcPr>
                </a:tc>
                <a:tc>
                  <a:txBody>
                    <a:bodyPr/>
                    <a:lstStyle/>
                    <a:p>
                      <a:r>
                        <a:rPr sz="1500" b="0">
                          <a:solidFill>
                            <a:srgbClr val="FFFFFF"/>
                          </a:solidFill>
                        </a:rPr>
                        <a:t/>
                      </a:r>
                    </a:p>
                  </a:txBody>
                  <a:tcPr marL="91440" marR="91440" marT="45720" marB="45720">
                    <a:lnR w="28575">
                      <a:solidFill>
                        <a:srgbClr val="FCFDFD"/>
                      </a:solidFill>
                    </a:lnR>
                    <a:lnB w="28575">
                      <a:solidFill>
                        <a:srgbClr val="FCFDFD"/>
                      </a:solidFill>
                    </a:lnB>
                    <a:solidFill>
                      <a:srgbClr val="007E87"/>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r>
              <a:tr h="547688">
                <a:tc>
                  <a:txBody>
                    <a:bodyPr/>
                    <a:lstStyle/>
                    <a:p>
                      <a:r>
                        <a:rPr sz="1875" b="1">
                          <a:solidFill>
                            <a:srgbClr val="163B46"/>
                          </a:solidFill>
                        </a:rPr>
                        <a:t>Release / paper</a:t>
                      </a:r>
                    </a:p>
                  </a:txBody>
                  <a:tcPr marL="91440" marR="91440" marT="45720" marB="45720">
                    <a:lnL w="28575">
                      <a:solidFill>
                        <a:srgbClr val="FCFDFD"/>
                      </a:solidFill>
                    </a:lnL>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163B46"/>
                          </a:solidFill>
                        </a:rPr>
                        <a:t/>
                      </a:r>
                    </a:p>
                  </a:txBody>
                  <a:tcPr marL="91440" marR="91440" marT="45720" marB="45720">
                    <a:lnR w="28575">
                      <a:solidFill>
                        <a:srgbClr val="FCFDFD"/>
                      </a:solidFill>
                    </a:lnR>
                    <a:lnB w="28575">
                      <a:solidFill>
                        <a:srgbClr val="FCFDFD"/>
                      </a:solidFill>
                    </a:lnB>
                    <a:solidFill>
                      <a:srgbClr val="FCFDFD"/>
                    </a:solidFill>
                  </a:tcPr>
                </a:tc>
                <a:tc>
                  <a:txBody>
                    <a:bodyPr/>
                    <a:lstStyle/>
                    <a:p>
                      <a:r>
                        <a:rPr sz="1500" b="0">
                          <a:solidFill>
                            <a:srgbClr val="FFFFFF"/>
                          </a:solidFill>
                        </a:rPr>
                        <a:t/>
                      </a:r>
                    </a:p>
                  </a:txBody>
                  <a:tcPr marL="91440" marR="91440" marT="45720" marB="45720">
                    <a:lnR w="28575">
                      <a:solidFill>
                        <a:srgbClr val="FCFDFD"/>
                      </a:solidFill>
                    </a:lnR>
                    <a:lnB w="28575">
                      <a:solidFill>
                        <a:srgbClr val="FCFDFD"/>
                      </a:solidFill>
                    </a:lnB>
                    <a:solidFill>
                      <a:srgbClr val="007E87"/>
                    </a:solidFill>
                  </a:tcPr>
                </a:tc>
                <a:tc>
                  <a:txBody>
                    <a:bodyPr/>
                    <a:lstStyle/>
                    <a:p>
                      <a:r>
                        <a:rPr sz="1500" b="0">
                          <a:solidFill>
                            <a:srgbClr val="FFFFFF"/>
                          </a:solidFill>
                        </a:rPr>
                        <a:t/>
                      </a:r>
                    </a:p>
                  </a:txBody>
                  <a:tcPr marL="91440" marR="91440" marT="45720" marB="45720">
                    <a:lnR w="28575">
                      <a:solidFill>
                        <a:srgbClr val="FCFDFD"/>
                      </a:solidFill>
                    </a:lnR>
                    <a:lnB w="28575">
                      <a:solidFill>
                        <a:srgbClr val="FCFDFD"/>
                      </a:solidFill>
                    </a:lnB>
                    <a:solidFill>
                      <a:srgbClr val="007E87"/>
                    </a:solidFill>
                  </a:tcPr>
                </a:tc>
              </a:tr>
            </a:tbl>
          </a:graphicData>
        </a:graphic>
      </p:graphicFrame>
      <p:sp>
        <p:nvSpPr>
          <p:cNvPr id="5" name="schedule-marker">
            <a:extLst xmlns:a="http://schemas.openxmlformats.org/drawingml/2006/main">
              <a:ext uri="{FF2B5EF4-FFF2-40B4-BE49-F238E27FC236}">
                <a16:creationId xmlns:a16="http://schemas.microsoft.com/office/drawing/2014/main" id="{3DD31AD5-3AAF-4B8E-AFBB-2C79D5854C77}"/>
              </a:ext>
            </a:extLst>
          </p:cNvPr>
          <p:cNvSpPr>
            <a:spLocks xmlns:a="http://schemas.openxmlformats.org/drawingml/2006/main" noGrp="1"/>
          </p:cNvSpPr>
          <p:nvPr/>
        </p:nvSpPr>
        <p:spPr>
          <a:xfrm xmlns:a="http://schemas.openxmlformats.org/drawingml/2006/main">
            <a:off x="3409950" y="5467350"/>
            <a:ext cx="209550" cy="209550"/>
          </a:xfrm>
          <a:prstGeom xmlns:a="http://schemas.openxmlformats.org/drawingml/2006/main" prst="ellipse">
            <a:avLst/>
          </a:prstGeom>
          <a:solidFill xmlns:a="http://schemas.openxmlformats.org/drawingml/2006/main">
            <a:srgbClr val="CB6A32"/>
          </a:solidFill>
          <a:ln xmlns:a="http://schemas.openxmlformats.org/drawingml/2006/main" w="19050">
            <a:solidFill>
              <a:srgbClr val="CB6A32"/>
            </a:solidFill>
          </a:ln>
        </p:spPr>
      </p:sp>
      <p:sp>
        <p:nvSpPr>
          <p:cNvPr id="6" name="caption">
            <a:extLst xmlns:a="http://schemas.openxmlformats.org/drawingml/2006/main">
              <a:ext uri="{FF2B5EF4-FFF2-40B4-BE49-F238E27FC236}">
                <a16:creationId xmlns:a16="http://schemas.microsoft.com/office/drawing/2014/main" id="{980D1D7A-9A3D-48ED-B4BD-37CBDF236492}"/>
              </a:ext>
            </a:extLst>
          </p:cNvPr>
          <p:cNvSpPr>
            <a:spLocks xmlns:a="http://schemas.openxmlformats.org/drawingml/2006/main" noGrp="1"/>
          </p:cNvSpPr>
          <p:nvPr/>
        </p:nvSpPr>
        <p:spPr>
          <a:xfrm xmlns:a="http://schemas.openxmlformats.org/drawingml/2006/main">
            <a:off x="60960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8717B"/>
                </a:solidFill>
              </a:defRPr>
            </a:defPPr>
            <a:lvl1pPr>
              <a:defRPr sz="1800" b="0">
                <a:solidFill>
                  <a:srgbClr val="58717B"/>
                </a:solidFill>
              </a:defRPr>
            </a:lvl1pPr>
            <a:lvl2pPr>
              <a:defRPr sz="1800" b="0">
                <a:solidFill>
                  <a:srgbClr val="58717B"/>
                </a:solidFill>
              </a:defRPr>
            </a:lvl2pPr>
            <a:lvl3pPr>
              <a:defRPr sz="1800" b="0">
                <a:solidFill>
                  <a:srgbClr val="58717B"/>
                </a:solidFill>
              </a:defRPr>
            </a:lvl3pPr>
            <a:lvl4pPr>
              <a:defRPr sz="1800" b="0">
                <a:solidFill>
                  <a:srgbClr val="58717B"/>
                </a:solidFill>
              </a:defRPr>
            </a:lvl4pPr>
            <a:lvl5pPr>
              <a:defRPr sz="1800" b="0">
                <a:solidFill>
                  <a:srgbClr val="58717B"/>
                </a:solidFill>
              </a:defRPr>
            </a:lvl5pPr>
            <a:lvl6pPr>
              <a:defRPr sz="1800" b="0">
                <a:solidFill>
                  <a:srgbClr val="58717B"/>
                </a:solidFill>
              </a:defRPr>
            </a:lvl6pPr>
            <a:lvl7pPr>
              <a:defRPr sz="1800" b="0">
                <a:solidFill>
                  <a:srgbClr val="58717B"/>
                </a:solidFill>
              </a:defRPr>
            </a:lvl7pPr>
            <a:lvl8pPr>
              <a:defRPr sz="1800" b="0">
                <a:solidFill>
                  <a:srgbClr val="58717B"/>
                </a:solidFill>
              </a:defRPr>
            </a:lvl8pPr>
            <a:lvl9pPr>
              <a:defRPr sz="1800" b="0">
                <a:solidFill>
                  <a:srgbClr val="58717B"/>
                </a:solidFill>
              </a:defRPr>
            </a:lvl9pPr>
          </a:lstStyle>
          <a:p xmlns:a="http://schemas.openxmlformats.org/drawingml/2006/main">
            <a:pPr>
              <a:defRPr sz="1800" b="0">
                <a:solidFill>
                  <a:srgbClr val="58717B"/>
                </a:solidFill>
              </a:defRPr>
            </a:pPr>
            <a:r>
              <a:rPr sz="1800" b="0">
                <a:solidFill>
                  <a:srgbClr val="58717B"/>
                </a:solidFill>
              </a:rPr>
              <a:t>M2 feasibility decision. Final months include fixes, release and the paper.</a:t>
            </a:r>
          </a:p>
        </p:txBody>
      </p:sp>
    </p:spTree>
    <p:extLst>
      <p:ext uri="{BB962C8B-B14F-4D97-AF65-F5344CB8AC3E}">
        <p14:creationId xmlns:p14="http://schemas.microsoft.com/office/powerpoint/2010/main" val="434225148"/>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069531 0.000000 E" pathEditMode="relative" rAng="0">
                                      <p:cBhvr additive="base">
                                        <p:cTn id="6" dur="950" fill="hold" accel="12000" decel="12000"/>
                                        <p:tgtEl>
                                          <p:spTgt spid="5"/>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fill="hold" nodeType="clickEffect">
                                  <p:stCondLst>
                                    <p:cond delay="0"/>
                                  </p:stCondLst>
                                  <p:childTnLst>
                                    <p:animMotion origin="layout" path="M 0.069531 0.000000 L 0.208594 0.000000 E" pathEditMode="relative" rAng="0">
                                      <p:cBhvr additive="base">
                                        <p:cTn id="10" dur="950" fill="hold" accel="12000" decel="12000"/>
                                        <p:tgtEl>
                                          <p:spTgt spid="5"/>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fill="hold" nodeType="clickEffect">
                                  <p:stCondLst>
                                    <p:cond delay="0"/>
                                  </p:stCondLst>
                                  <p:childTnLst>
                                    <p:animMotion origin="layout" path="M 0.208594 0.000000 L 0.347656 0.000000 E" pathEditMode="relative" rAng="0">
                                      <p:cBhvr additive="base">
                                        <p:cTn id="14" dur="950" fill="hold" accel="12000" decel="12000"/>
                                        <p:tgtEl>
                                          <p:spTgt spid="5"/>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fill="hold" nodeType="clickEffect">
                                  <p:stCondLst>
                                    <p:cond delay="0"/>
                                  </p:stCondLst>
                                  <p:childTnLst>
                                    <p:animMotion origin="layout" path="M 0.347656 0.000000 L 0.486719 0.000000 E" pathEditMode="relative" rAng="0">
                                      <p:cBhvr additive="base">
                                        <p:cTn id="18" dur="950" fill="hold" accel="12000" decel="12000"/>
                                        <p:tgtEl>
                                          <p:spTgt spid="5"/>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0" presetClass="path" presetSubtype="0" fill="hold" nodeType="clickEffect">
                                  <p:stCondLst>
                                    <p:cond delay="0"/>
                                  </p:stCondLst>
                                  <p:childTnLst>
                                    <p:animMotion origin="layout" path="M 0.486719 0.000000 L 0.625781 0.000000 E" pathEditMode="relative" rAng="0">
                                      <p:cBhvr additive="base">
                                        <p:cTn id="22" dur="950" fill="hold" accel="12000" decel="12000"/>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1EA83F0-C63A-4B08-B9F5-0518E6335724}"/>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63B46"/>
                </a:solidFill>
              </a:defRPr>
            </a:defPPr>
            <a:lvl1pPr>
              <a:defRPr sz="3450" b="1">
                <a:solidFill>
                  <a:srgbClr val="163B46"/>
                </a:solidFill>
              </a:defRPr>
            </a:lvl1pPr>
            <a:lvl2pPr>
              <a:defRPr sz="3450" b="1">
                <a:solidFill>
                  <a:srgbClr val="163B46"/>
                </a:solidFill>
              </a:defRPr>
            </a:lvl2pPr>
            <a:lvl3pPr>
              <a:defRPr sz="3450" b="1">
                <a:solidFill>
                  <a:srgbClr val="163B46"/>
                </a:solidFill>
              </a:defRPr>
            </a:lvl3pPr>
            <a:lvl4pPr>
              <a:defRPr sz="3450" b="1">
                <a:solidFill>
                  <a:srgbClr val="163B46"/>
                </a:solidFill>
              </a:defRPr>
            </a:lvl4pPr>
            <a:lvl5pPr>
              <a:defRPr sz="3450" b="1">
                <a:solidFill>
                  <a:srgbClr val="163B46"/>
                </a:solidFill>
              </a:defRPr>
            </a:lvl5pPr>
            <a:lvl6pPr>
              <a:defRPr sz="3450" b="1">
                <a:solidFill>
                  <a:srgbClr val="163B46"/>
                </a:solidFill>
              </a:defRPr>
            </a:lvl6pPr>
            <a:lvl7pPr>
              <a:defRPr sz="3450" b="1">
                <a:solidFill>
                  <a:srgbClr val="163B46"/>
                </a:solidFill>
              </a:defRPr>
            </a:lvl7pPr>
            <a:lvl8pPr>
              <a:defRPr sz="3450" b="1">
                <a:solidFill>
                  <a:srgbClr val="163B46"/>
                </a:solidFill>
              </a:defRPr>
            </a:lvl8pPr>
            <a:lvl9pPr>
              <a:defRPr sz="3450" b="1">
                <a:solidFill>
                  <a:srgbClr val="163B46"/>
                </a:solidFill>
              </a:defRPr>
            </a:lvl9pPr>
          </a:lstStyle>
          <a:p xmlns:a="http://schemas.openxmlformats.org/drawingml/2006/main">
            <a:pPr>
              <a:defRPr sz="3450" b="1">
                <a:solidFill>
                  <a:srgbClr val="163B46"/>
                </a:solidFill>
              </a:defRPr>
            </a:pPr>
            <a:r>
              <a:rPr sz="3450" b="1">
                <a:solidFill>
                  <a:srgbClr val="163B46"/>
                </a:solidFill>
              </a:rPr>
              <a:t>Implementation scope</a:t>
            </a:r>
          </a:p>
        </p:txBody>
      </p:sp>
      <p:sp>
        <p:nvSpPr>
          <p:cNvPr id="3" name="page">
            <a:extLst xmlns:a="http://schemas.openxmlformats.org/drawingml/2006/main">
              <a:ext uri="{FF2B5EF4-FFF2-40B4-BE49-F238E27FC236}">
                <a16:creationId xmlns:a16="http://schemas.microsoft.com/office/drawing/2014/main" id="{81152B40-C691-489D-B9F1-179831F6B5A4}"/>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13</a:t>
            </a:r>
          </a:p>
        </p:txBody>
      </p:sp>
      <p:sp>
        <p:nvSpPr>
          <p:cNvPr id="4" name="scope-chip-0">
            <a:extLst xmlns:a="http://schemas.openxmlformats.org/drawingml/2006/main">
              <a:ext uri="{FF2B5EF4-FFF2-40B4-BE49-F238E27FC236}">
                <a16:creationId xmlns:a16="http://schemas.microsoft.com/office/drawing/2014/main" id="{A21A1EF6-F318-4C37-A372-0E8B89224E6F}"/>
              </a:ext>
            </a:extLst>
          </p:cNvPr>
          <p:cNvSpPr>
            <a:spLocks xmlns:a="http://schemas.openxmlformats.org/drawingml/2006/main" noGrp="1"/>
          </p:cNvSpPr>
          <p:nvPr/>
        </p:nvSpPr>
        <p:spPr>
          <a:xfrm xmlns:a="http://schemas.openxmlformats.org/drawingml/2006/main">
            <a:off x="1085850" y="2085975"/>
            <a:ext cx="2381250" cy="1905000"/>
          </a:xfrm>
          <a:prstGeom xmlns:a="http://schemas.openxmlformats.org/drawingml/2006/main" prst="rect">
            <a:avLst/>
          </a:prstGeom>
          <a:solidFill xmlns:a="http://schemas.openxmlformats.org/drawingml/2006/main">
            <a:srgbClr val="FCFDFD"/>
          </a:solidFill>
          <a:ln xmlns:a="http://schemas.openxmlformats.org/drawingml/2006/main" w="19050">
            <a:solidFill>
              <a:srgbClr val="C7D6DB"/>
            </a:solidFill>
          </a:ln>
        </p:spPr>
      </p:sp>
      <p:sp>
        <p:nvSpPr>
          <p:cNvPr id="5" name="tx-unit">
            <a:extLst xmlns:a="http://schemas.openxmlformats.org/drawingml/2006/main">
              <a:ext uri="{FF2B5EF4-FFF2-40B4-BE49-F238E27FC236}">
                <a16:creationId xmlns:a16="http://schemas.microsoft.com/office/drawing/2014/main" id="{FE511D0A-8E73-455C-90B1-9A15CB599B90}"/>
              </a:ext>
            </a:extLst>
          </p:cNvPr>
          <p:cNvSpPr>
            <a:spLocks xmlns:a="http://schemas.openxmlformats.org/drawingml/2006/main" noGrp="1"/>
          </p:cNvSpPr>
          <p:nvPr/>
        </p:nvSpPr>
        <p:spPr>
          <a:xfrm xmlns:a="http://schemas.openxmlformats.org/drawingml/2006/main">
            <a:off x="1323975" y="2333625"/>
            <a:ext cx="781050" cy="571500"/>
          </a:xfrm>
          <a:prstGeom xmlns:a="http://schemas.openxmlformats.org/drawingml/2006/main" prst="rect">
            <a:avLst/>
          </a:prstGeom>
          <a:solidFill xmlns:a="http://schemas.openxmlformats.org/drawingml/2006/main">
            <a:srgbClr val="E6ECEF"/>
          </a:solidFill>
          <a:ln xmlns:a="http://schemas.openxmlformats.org/drawingml/2006/main" w="19050">
            <a:solidFill>
              <a:srgbClr val="C7D6DB"/>
            </a:solidFill>
          </a:ln>
        </p:spPr>
        <p:txBody>
          <a:bodyPr xmlns:a="http://schemas.openxmlformats.org/drawingml/2006/main" lIns="76200" tIns="76200" rIns="76200" bIns="76200" anchor="ctr"/>
          <a:lstStyle xmlns:a="http://schemas.openxmlformats.org/drawingml/2006/main">
            <a:defPPr algn="ctr">
              <a:defRPr sz="1800" b="1">
                <a:solidFill>
                  <a:srgbClr val="163B46"/>
                </a:solidFill>
              </a:defRPr>
            </a:defPPr>
            <a:lvl1pPr algn="ctr">
              <a:defRPr sz="1800" b="1">
                <a:solidFill>
                  <a:srgbClr val="163B46"/>
                </a:solidFill>
              </a:defRPr>
            </a:lvl1pPr>
            <a:lvl2pPr algn="ctr">
              <a:defRPr sz="1800" b="1">
                <a:solidFill>
                  <a:srgbClr val="163B46"/>
                </a:solidFill>
              </a:defRPr>
            </a:lvl2pPr>
            <a:lvl3pPr algn="ctr">
              <a:defRPr sz="1800" b="1">
                <a:solidFill>
                  <a:srgbClr val="163B46"/>
                </a:solidFill>
              </a:defRPr>
            </a:lvl3pPr>
            <a:lvl4pPr algn="ctr">
              <a:defRPr sz="1800" b="1">
                <a:solidFill>
                  <a:srgbClr val="163B46"/>
                </a:solidFill>
              </a:defRPr>
            </a:lvl4pPr>
            <a:lvl5pPr algn="ctr">
              <a:defRPr sz="1800" b="1">
                <a:solidFill>
                  <a:srgbClr val="163B46"/>
                </a:solidFill>
              </a:defRPr>
            </a:lvl5pPr>
            <a:lvl6pPr algn="ctr">
              <a:defRPr sz="1800" b="1">
                <a:solidFill>
                  <a:srgbClr val="163B46"/>
                </a:solidFill>
              </a:defRPr>
            </a:lvl6pPr>
            <a:lvl7pPr algn="ctr">
              <a:defRPr sz="1800" b="1">
                <a:solidFill>
                  <a:srgbClr val="163B46"/>
                </a:solidFill>
              </a:defRPr>
            </a:lvl7pPr>
            <a:lvl8pPr algn="ctr">
              <a:defRPr sz="1800" b="1">
                <a:solidFill>
                  <a:srgbClr val="163B46"/>
                </a:solidFill>
              </a:defRPr>
            </a:lvl8pPr>
            <a:lvl9pPr algn="ctr">
              <a:defRPr sz="1800" b="1">
                <a:solidFill>
                  <a:srgbClr val="163B46"/>
                </a:solidFill>
              </a:defRPr>
            </a:lvl9pPr>
          </a:lstStyle>
          <a:p xmlns:a="http://schemas.openxmlformats.org/drawingml/2006/main">
            <a:pPr algn="ctr">
              <a:defRPr sz="1800" b="1">
                <a:solidFill>
                  <a:srgbClr val="163B46"/>
                </a:solidFill>
              </a:defRPr>
            </a:pPr>
            <a:r>
              <a:rPr sz="1800" b="1">
                <a:solidFill>
                  <a:srgbClr val="163B46"/>
                </a:solidFill>
              </a:rPr>
              <a:t>TX</a:t>
            </a:r>
          </a:p>
        </p:txBody>
      </p:sp>
      <p:sp>
        <p:nvSpPr>
          <p:cNvPr id="6" name="rx-unit">
            <a:extLst xmlns:a="http://schemas.openxmlformats.org/drawingml/2006/main">
              <a:ext uri="{FF2B5EF4-FFF2-40B4-BE49-F238E27FC236}">
                <a16:creationId xmlns:a16="http://schemas.microsoft.com/office/drawing/2014/main" id="{6DCFD379-9DA6-46A7-AA81-C7625C17DF83}"/>
              </a:ext>
            </a:extLst>
          </p:cNvPr>
          <p:cNvSpPr>
            <a:spLocks xmlns:a="http://schemas.openxmlformats.org/drawingml/2006/main" noGrp="1"/>
          </p:cNvSpPr>
          <p:nvPr/>
        </p:nvSpPr>
        <p:spPr>
          <a:xfrm xmlns:a="http://schemas.openxmlformats.org/drawingml/2006/main">
            <a:off x="2276475" y="2333625"/>
            <a:ext cx="781050" cy="571500"/>
          </a:xfrm>
          <a:prstGeom xmlns:a="http://schemas.openxmlformats.org/drawingml/2006/main" prst="rect">
            <a:avLst/>
          </a:prstGeom>
          <a:solidFill xmlns:a="http://schemas.openxmlformats.org/drawingml/2006/main">
            <a:srgbClr val="E6ECEF"/>
          </a:solidFill>
          <a:ln xmlns:a="http://schemas.openxmlformats.org/drawingml/2006/main" w="19050">
            <a:solidFill>
              <a:srgbClr val="C7D6DB"/>
            </a:solidFill>
          </a:ln>
        </p:spPr>
        <p:txBody>
          <a:bodyPr xmlns:a="http://schemas.openxmlformats.org/drawingml/2006/main" lIns="76200" tIns="76200" rIns="76200" bIns="76200" anchor="ctr"/>
          <a:lstStyle xmlns:a="http://schemas.openxmlformats.org/drawingml/2006/main">
            <a:defPPr algn="ctr">
              <a:defRPr sz="1800" b="1">
                <a:solidFill>
                  <a:srgbClr val="163B46"/>
                </a:solidFill>
              </a:defRPr>
            </a:defPPr>
            <a:lvl1pPr algn="ctr">
              <a:defRPr sz="1800" b="1">
                <a:solidFill>
                  <a:srgbClr val="163B46"/>
                </a:solidFill>
              </a:defRPr>
            </a:lvl1pPr>
            <a:lvl2pPr algn="ctr">
              <a:defRPr sz="1800" b="1">
                <a:solidFill>
                  <a:srgbClr val="163B46"/>
                </a:solidFill>
              </a:defRPr>
            </a:lvl2pPr>
            <a:lvl3pPr algn="ctr">
              <a:defRPr sz="1800" b="1">
                <a:solidFill>
                  <a:srgbClr val="163B46"/>
                </a:solidFill>
              </a:defRPr>
            </a:lvl3pPr>
            <a:lvl4pPr algn="ctr">
              <a:defRPr sz="1800" b="1">
                <a:solidFill>
                  <a:srgbClr val="163B46"/>
                </a:solidFill>
              </a:defRPr>
            </a:lvl4pPr>
            <a:lvl5pPr algn="ctr">
              <a:defRPr sz="1800" b="1">
                <a:solidFill>
                  <a:srgbClr val="163B46"/>
                </a:solidFill>
              </a:defRPr>
            </a:lvl5pPr>
            <a:lvl6pPr algn="ctr">
              <a:defRPr sz="1800" b="1">
                <a:solidFill>
                  <a:srgbClr val="163B46"/>
                </a:solidFill>
              </a:defRPr>
            </a:lvl6pPr>
            <a:lvl7pPr algn="ctr">
              <a:defRPr sz="1800" b="1">
                <a:solidFill>
                  <a:srgbClr val="163B46"/>
                </a:solidFill>
              </a:defRPr>
            </a:lvl7pPr>
            <a:lvl8pPr algn="ctr">
              <a:defRPr sz="1800" b="1">
                <a:solidFill>
                  <a:srgbClr val="163B46"/>
                </a:solidFill>
              </a:defRPr>
            </a:lvl8pPr>
            <a:lvl9pPr algn="ctr">
              <a:defRPr sz="1800" b="1">
                <a:solidFill>
                  <a:srgbClr val="163B46"/>
                </a:solidFill>
              </a:defRPr>
            </a:lvl9pPr>
          </a:lstStyle>
          <a:p xmlns:a="http://schemas.openxmlformats.org/drawingml/2006/main">
            <a:pPr algn="ctr">
              <a:defRPr sz="1800" b="1">
                <a:solidFill>
                  <a:srgbClr val="163B46"/>
                </a:solidFill>
              </a:defRPr>
            </a:pPr>
            <a:r>
              <a:rPr sz="1800" b="1">
                <a:solidFill>
                  <a:srgbClr val="163B46"/>
                </a:solidFill>
              </a:rPr>
              <a:t>RX</a:t>
            </a:r>
          </a:p>
        </p:txBody>
      </p:sp>
      <p:sp>
        <p:nvSpPr>
          <p:cNvPr id="7" name="dsp-unit">
            <a:extLst xmlns:a="http://schemas.openxmlformats.org/drawingml/2006/main">
              <a:ext uri="{FF2B5EF4-FFF2-40B4-BE49-F238E27FC236}">
                <a16:creationId xmlns:a16="http://schemas.microsoft.com/office/drawing/2014/main" id="{5247F231-8FC6-49B7-A52C-40A61BEF2756}"/>
              </a:ext>
            </a:extLst>
          </p:cNvPr>
          <p:cNvSpPr>
            <a:spLocks xmlns:a="http://schemas.openxmlformats.org/drawingml/2006/main" noGrp="1"/>
          </p:cNvSpPr>
          <p:nvPr/>
        </p:nvSpPr>
        <p:spPr>
          <a:xfrm xmlns:a="http://schemas.openxmlformats.org/drawingml/2006/main">
            <a:off x="1323975" y="3133725"/>
            <a:ext cx="1733550" cy="571500"/>
          </a:xfrm>
          <a:prstGeom xmlns:a="http://schemas.openxmlformats.org/drawingml/2006/main" prst="rect">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DSP</a:t>
            </a:r>
          </a:p>
        </p:txBody>
      </p:sp>
      <p:sp>
        <p:nvSpPr>
          <p:cNvPr id="8" name="label-76">
            <a:extLst xmlns:a="http://schemas.openxmlformats.org/drawingml/2006/main">
              <a:ext uri="{FF2B5EF4-FFF2-40B4-BE49-F238E27FC236}">
                <a16:creationId xmlns:a16="http://schemas.microsoft.com/office/drawing/2014/main" id="{553A6B66-5124-4ABA-B956-B877FCDC1472}"/>
              </a:ext>
            </a:extLst>
          </p:cNvPr>
          <p:cNvSpPr>
            <a:spLocks xmlns:a="http://schemas.openxmlformats.org/drawingml/2006/main" noGrp="1"/>
          </p:cNvSpPr>
          <p:nvPr/>
        </p:nvSpPr>
        <p:spPr>
          <a:xfrm xmlns:a="http://schemas.openxmlformats.org/drawingml/2006/main">
            <a:off x="609600" y="43338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B46"/>
                </a:solidFill>
              </a:defRPr>
            </a:defPPr>
            <a:lvl1pPr>
              <a:defRPr sz="2175" b="1">
                <a:solidFill>
                  <a:srgbClr val="163B46"/>
                </a:solidFill>
              </a:defRPr>
            </a:lvl1pPr>
            <a:lvl2pPr>
              <a:defRPr sz="2175" b="1">
                <a:solidFill>
                  <a:srgbClr val="163B46"/>
                </a:solidFill>
              </a:defRPr>
            </a:lvl2pPr>
            <a:lvl3pPr>
              <a:defRPr sz="2175" b="1">
                <a:solidFill>
                  <a:srgbClr val="163B46"/>
                </a:solidFill>
              </a:defRPr>
            </a:lvl3pPr>
            <a:lvl4pPr>
              <a:defRPr sz="2175" b="1">
                <a:solidFill>
                  <a:srgbClr val="163B46"/>
                </a:solidFill>
              </a:defRPr>
            </a:lvl4pPr>
            <a:lvl5pPr>
              <a:defRPr sz="2175" b="1">
                <a:solidFill>
                  <a:srgbClr val="163B46"/>
                </a:solidFill>
              </a:defRPr>
            </a:lvl5pPr>
            <a:lvl6pPr>
              <a:defRPr sz="2175" b="1">
                <a:solidFill>
                  <a:srgbClr val="163B46"/>
                </a:solidFill>
              </a:defRPr>
            </a:lvl6pPr>
            <a:lvl7pPr>
              <a:defRPr sz="2175" b="1">
                <a:solidFill>
                  <a:srgbClr val="163B46"/>
                </a:solidFill>
              </a:defRPr>
            </a:lvl7pPr>
            <a:lvl8pPr>
              <a:defRPr sz="2175" b="1">
                <a:solidFill>
                  <a:srgbClr val="163B46"/>
                </a:solidFill>
              </a:defRPr>
            </a:lvl8pPr>
            <a:lvl9pPr>
              <a:defRPr sz="2175" b="1">
                <a:solidFill>
                  <a:srgbClr val="163B46"/>
                </a:solidFill>
              </a:defRPr>
            </a:lvl9pPr>
          </a:lstStyle>
          <a:p xmlns:a="http://schemas.openxmlformats.org/drawingml/2006/main">
            <a:pPr>
              <a:defRPr sz="2175" b="1">
                <a:solidFill>
                  <a:srgbClr val="163B46"/>
                </a:solidFill>
              </a:defRPr>
            </a:pPr>
            <a:r>
              <a:rPr sz="2175" b="1">
                <a:solidFill>
                  <a:srgbClr val="163B46"/>
                </a:solidFill>
              </a:rPr>
              <a:t>Full TX / RX</a:t>
            </a:r>
          </a:p>
        </p:txBody>
      </p:sp>
      <p:sp>
        <p:nvSpPr>
          <p:cNvPr id="9" name="label-77">
            <a:extLst xmlns:a="http://schemas.openxmlformats.org/drawingml/2006/main">
              <a:ext uri="{FF2B5EF4-FFF2-40B4-BE49-F238E27FC236}">
                <a16:creationId xmlns:a16="http://schemas.microsoft.com/office/drawing/2014/main" id="{5D92CAAD-1177-4C82-856E-485CAEAC4FC3}"/>
              </a:ext>
            </a:extLst>
          </p:cNvPr>
          <p:cNvSpPr>
            <a:spLocks xmlns:a="http://schemas.openxmlformats.org/drawingml/2006/main" noGrp="1"/>
          </p:cNvSpPr>
          <p:nvPr/>
        </p:nvSpPr>
        <p:spPr>
          <a:xfrm xmlns:a="http://schemas.openxmlformats.org/drawingml/2006/main">
            <a:off x="609600" y="523875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8717B"/>
                </a:solidFill>
              </a:defRPr>
            </a:defPPr>
            <a:lvl1pPr>
              <a:defRPr sz="1875" b="0">
                <a:solidFill>
                  <a:srgbClr val="58717B"/>
                </a:solidFill>
              </a:defRPr>
            </a:lvl1pPr>
            <a:lvl2pPr>
              <a:defRPr sz="1875" b="0">
                <a:solidFill>
                  <a:srgbClr val="58717B"/>
                </a:solidFill>
              </a:defRPr>
            </a:lvl2pPr>
            <a:lvl3pPr>
              <a:defRPr sz="1875" b="0">
                <a:solidFill>
                  <a:srgbClr val="58717B"/>
                </a:solidFill>
              </a:defRPr>
            </a:lvl3pPr>
            <a:lvl4pPr>
              <a:defRPr sz="1875" b="0">
                <a:solidFill>
                  <a:srgbClr val="58717B"/>
                </a:solidFill>
              </a:defRPr>
            </a:lvl4pPr>
            <a:lvl5pPr>
              <a:defRPr sz="1875" b="0">
                <a:solidFill>
                  <a:srgbClr val="58717B"/>
                </a:solidFill>
              </a:defRPr>
            </a:lvl5pPr>
            <a:lvl6pPr>
              <a:defRPr sz="1875" b="0">
                <a:solidFill>
                  <a:srgbClr val="58717B"/>
                </a:solidFill>
              </a:defRPr>
            </a:lvl6pPr>
            <a:lvl7pPr>
              <a:defRPr sz="1875" b="0">
                <a:solidFill>
                  <a:srgbClr val="58717B"/>
                </a:solidFill>
              </a:defRPr>
            </a:lvl7pPr>
            <a:lvl8pPr>
              <a:defRPr sz="1875" b="0">
                <a:solidFill>
                  <a:srgbClr val="58717B"/>
                </a:solidFill>
              </a:defRPr>
            </a:lvl8pPr>
            <a:lvl9pPr>
              <a:defRPr sz="1875" b="0">
                <a:solidFill>
                  <a:srgbClr val="58717B"/>
                </a:solidFill>
              </a:defRPr>
            </a:lvl9pPr>
          </a:lstStyle>
          <a:p xmlns:a="http://schemas.openxmlformats.org/drawingml/2006/main">
            <a:pPr>
              <a:defRPr sz="1875" b="0">
                <a:solidFill>
                  <a:srgbClr val="58717B"/>
                </a:solidFill>
              </a:defRPr>
            </a:pPr>
            <a:r>
              <a:rPr sz="1875" b="0">
                <a:solidFill>
                  <a:srgbClr val="58717B"/>
                </a:solidFill>
              </a:rPr>
              <a:t>Converter + DSP + clocks</a:t>
            </a:r>
          </a:p>
        </p:txBody>
      </p:sp>
      <p:sp>
        <p:nvSpPr>
          <p:cNvPr id="10" name="scope-chip-1">
            <a:extLst xmlns:a="http://schemas.openxmlformats.org/drawingml/2006/main">
              <a:ext uri="{FF2B5EF4-FFF2-40B4-BE49-F238E27FC236}">
                <a16:creationId xmlns:a16="http://schemas.microsoft.com/office/drawing/2014/main" id="{B79C2D1A-5331-4B67-A625-6BA3902FEBB8}"/>
              </a:ext>
            </a:extLst>
          </p:cNvPr>
          <p:cNvSpPr>
            <a:spLocks xmlns:a="http://schemas.openxmlformats.org/drawingml/2006/main" noGrp="1"/>
          </p:cNvSpPr>
          <p:nvPr/>
        </p:nvSpPr>
        <p:spPr>
          <a:xfrm xmlns:a="http://schemas.openxmlformats.org/drawingml/2006/main">
            <a:off x="4905375" y="2085975"/>
            <a:ext cx="2381250" cy="1905000"/>
          </a:xfrm>
          <a:prstGeom xmlns:a="http://schemas.openxmlformats.org/drawingml/2006/main" prst="rect">
            <a:avLst/>
          </a:prstGeom>
          <a:solidFill xmlns:a="http://schemas.openxmlformats.org/drawingml/2006/main">
            <a:srgbClr val="EAF4F4"/>
          </a:solidFill>
          <a:ln xmlns:a="http://schemas.openxmlformats.org/drawingml/2006/main" w="19050">
            <a:solidFill>
              <a:srgbClr val="007E87"/>
            </a:solidFill>
          </a:ln>
        </p:spPr>
      </p:sp>
      <p:sp>
        <p:nvSpPr>
          <p:cNvPr id="11" name="dfe-unit">
            <a:extLst xmlns:a="http://schemas.openxmlformats.org/drawingml/2006/main">
              <a:ext uri="{FF2B5EF4-FFF2-40B4-BE49-F238E27FC236}">
                <a16:creationId xmlns:a16="http://schemas.microsoft.com/office/drawing/2014/main" id="{1D38218B-F181-4614-855E-CE043456DFE3}"/>
              </a:ext>
            </a:extLst>
          </p:cNvPr>
          <p:cNvSpPr>
            <a:spLocks xmlns:a="http://schemas.openxmlformats.org/drawingml/2006/main" noGrp="1"/>
          </p:cNvSpPr>
          <p:nvPr/>
        </p:nvSpPr>
        <p:spPr>
          <a:xfrm xmlns:a="http://schemas.openxmlformats.org/drawingml/2006/main">
            <a:off x="5143500" y="2333625"/>
            <a:ext cx="1905000" cy="666750"/>
          </a:xfrm>
          <a:prstGeom xmlns:a="http://schemas.openxmlformats.org/drawingml/2006/main" prst="rect">
            <a:avLst/>
          </a:prstGeom>
          <a:solidFill xmlns:a="http://schemas.openxmlformats.org/drawingml/2006/main">
            <a:srgbClr val="EAF4F4"/>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1950" b="1">
                <a:solidFill>
                  <a:srgbClr val="163B46"/>
                </a:solidFill>
              </a:defRPr>
            </a:defPPr>
            <a:lvl1pPr algn="ctr">
              <a:defRPr sz="1950" b="1">
                <a:solidFill>
                  <a:srgbClr val="163B46"/>
                </a:solidFill>
              </a:defRPr>
            </a:lvl1pPr>
            <a:lvl2pPr algn="ctr">
              <a:defRPr sz="1950" b="1">
                <a:solidFill>
                  <a:srgbClr val="163B46"/>
                </a:solidFill>
              </a:defRPr>
            </a:lvl2pPr>
            <a:lvl3pPr algn="ctr">
              <a:defRPr sz="1950" b="1">
                <a:solidFill>
                  <a:srgbClr val="163B46"/>
                </a:solidFill>
              </a:defRPr>
            </a:lvl3pPr>
            <a:lvl4pPr algn="ctr">
              <a:defRPr sz="1950" b="1">
                <a:solidFill>
                  <a:srgbClr val="163B46"/>
                </a:solidFill>
              </a:defRPr>
            </a:lvl4pPr>
            <a:lvl5pPr algn="ctr">
              <a:defRPr sz="1950" b="1">
                <a:solidFill>
                  <a:srgbClr val="163B46"/>
                </a:solidFill>
              </a:defRPr>
            </a:lvl5pPr>
            <a:lvl6pPr algn="ctr">
              <a:defRPr sz="1950" b="1">
                <a:solidFill>
                  <a:srgbClr val="163B46"/>
                </a:solidFill>
              </a:defRPr>
            </a:lvl6pPr>
            <a:lvl7pPr algn="ctr">
              <a:defRPr sz="1950" b="1">
                <a:solidFill>
                  <a:srgbClr val="163B46"/>
                </a:solidFill>
              </a:defRPr>
            </a:lvl7pPr>
            <a:lvl8pPr algn="ctr">
              <a:defRPr sz="1950" b="1">
                <a:solidFill>
                  <a:srgbClr val="163B46"/>
                </a:solidFill>
              </a:defRPr>
            </a:lvl8pPr>
            <a:lvl9pPr algn="ctr">
              <a:defRPr sz="1950" b="1">
                <a:solidFill>
                  <a:srgbClr val="163B46"/>
                </a:solidFill>
              </a:defRPr>
            </a:lvl9pPr>
          </a:lstStyle>
          <a:p xmlns:a="http://schemas.openxmlformats.org/drawingml/2006/main">
            <a:pPr algn="ctr">
              <a:defRPr sz="1950" b="1">
                <a:solidFill>
                  <a:srgbClr val="163B46"/>
                </a:solidFill>
              </a:defRPr>
            </a:pPr>
            <a:r>
              <a:rPr sz="1950" b="1">
                <a:solidFill>
                  <a:srgbClr val="163B46"/>
                </a:solidFill>
              </a:rPr>
              <a:t>DFE / control</a:t>
            </a:r>
          </a:p>
        </p:txBody>
      </p:sp>
      <p:sp>
        <p:nvSpPr>
          <p:cNvPr id="12" name="analog-unit">
            <a:extLst xmlns:a="http://schemas.openxmlformats.org/drawingml/2006/main">
              <a:ext uri="{FF2B5EF4-FFF2-40B4-BE49-F238E27FC236}">
                <a16:creationId xmlns:a16="http://schemas.microsoft.com/office/drawing/2014/main" id="{E762131A-E42F-4D68-8BBB-7ECC7E7D4258}"/>
              </a:ext>
            </a:extLst>
          </p:cNvPr>
          <p:cNvSpPr>
            <a:spLocks xmlns:a="http://schemas.openxmlformats.org/drawingml/2006/main" noGrp="1"/>
          </p:cNvSpPr>
          <p:nvPr/>
        </p:nvSpPr>
        <p:spPr>
          <a:xfrm xmlns:a="http://schemas.openxmlformats.org/drawingml/2006/main">
            <a:off x="5143500" y="3190875"/>
            <a:ext cx="1905000" cy="571500"/>
          </a:xfrm>
          <a:prstGeom xmlns:a="http://schemas.openxmlformats.org/drawingml/2006/main" prst="rect">
            <a:avLst/>
          </a:prstGeom>
          <a:solidFill xmlns:a="http://schemas.openxmlformats.org/drawingml/2006/main">
            <a:srgbClr val="FBF0E7"/>
          </a:solidFill>
          <a:ln xmlns:a="http://schemas.openxmlformats.org/drawingml/2006/main" w="19050">
            <a:solidFill>
              <a:srgbClr val="CB6A32"/>
            </a:solidFill>
          </a:ln>
        </p:spPr>
        <p:txBody>
          <a:bodyPr xmlns:a="http://schemas.openxmlformats.org/drawingml/2006/main" lIns="76200" tIns="76200" rIns="76200" bIns="76200" anchor="ctr"/>
          <a:lstStyle xmlns:a="http://schemas.openxmlformats.org/drawingml/2006/main">
            <a:defPPr algn="ctr">
              <a:defRPr sz="1800" b="1">
                <a:solidFill>
                  <a:srgbClr val="163B46"/>
                </a:solidFill>
              </a:defRPr>
            </a:defPPr>
            <a:lvl1pPr algn="ctr">
              <a:defRPr sz="1800" b="1">
                <a:solidFill>
                  <a:srgbClr val="163B46"/>
                </a:solidFill>
              </a:defRPr>
            </a:lvl1pPr>
            <a:lvl2pPr algn="ctr">
              <a:defRPr sz="1800" b="1">
                <a:solidFill>
                  <a:srgbClr val="163B46"/>
                </a:solidFill>
              </a:defRPr>
            </a:lvl2pPr>
            <a:lvl3pPr algn="ctr">
              <a:defRPr sz="1800" b="1">
                <a:solidFill>
                  <a:srgbClr val="163B46"/>
                </a:solidFill>
              </a:defRPr>
            </a:lvl3pPr>
            <a:lvl4pPr algn="ctr">
              <a:defRPr sz="1800" b="1">
                <a:solidFill>
                  <a:srgbClr val="163B46"/>
                </a:solidFill>
              </a:defRPr>
            </a:lvl4pPr>
            <a:lvl5pPr algn="ctr">
              <a:defRPr sz="1800" b="1">
                <a:solidFill>
                  <a:srgbClr val="163B46"/>
                </a:solidFill>
              </a:defRPr>
            </a:lvl5pPr>
            <a:lvl6pPr algn="ctr">
              <a:defRPr sz="1800" b="1">
                <a:solidFill>
                  <a:srgbClr val="163B46"/>
                </a:solidFill>
              </a:defRPr>
            </a:lvl6pPr>
            <a:lvl7pPr algn="ctr">
              <a:defRPr sz="1800" b="1">
                <a:solidFill>
                  <a:srgbClr val="163B46"/>
                </a:solidFill>
              </a:defRPr>
            </a:lvl7pPr>
            <a:lvl8pPr algn="ctr">
              <a:defRPr sz="1800" b="1">
                <a:solidFill>
                  <a:srgbClr val="163B46"/>
                </a:solidFill>
              </a:defRPr>
            </a:lvl8pPr>
            <a:lvl9pPr algn="ctr">
              <a:defRPr sz="1800" b="1">
                <a:solidFill>
                  <a:srgbClr val="163B46"/>
                </a:solidFill>
              </a:defRPr>
            </a:lvl9pPr>
          </a:lstStyle>
          <a:p xmlns:a="http://schemas.openxmlformats.org/drawingml/2006/main">
            <a:pPr algn="ctr">
              <a:defRPr sz="1800" b="1">
                <a:solidFill>
                  <a:srgbClr val="163B46"/>
                </a:solidFill>
              </a:defRPr>
            </a:pPr>
            <a:r>
              <a:rPr sz="1800" b="1">
                <a:solidFill>
                  <a:srgbClr val="163B46"/>
                </a:solidFill>
              </a:rPr>
              <a:t>Analog block</a:t>
            </a:r>
          </a:p>
        </p:txBody>
      </p:sp>
      <p:sp>
        <p:nvSpPr>
          <p:cNvPr id="13" name="label-78">
            <a:extLst xmlns:a="http://schemas.openxmlformats.org/drawingml/2006/main">
              <a:ext uri="{FF2B5EF4-FFF2-40B4-BE49-F238E27FC236}">
                <a16:creationId xmlns:a16="http://schemas.microsoft.com/office/drawing/2014/main" id="{8BB39392-AC6D-4C3C-81F4-A59566D6B220}"/>
              </a:ext>
            </a:extLst>
          </p:cNvPr>
          <p:cNvSpPr>
            <a:spLocks xmlns:a="http://schemas.openxmlformats.org/drawingml/2006/main" noGrp="1"/>
          </p:cNvSpPr>
          <p:nvPr/>
        </p:nvSpPr>
        <p:spPr>
          <a:xfrm xmlns:a="http://schemas.openxmlformats.org/drawingml/2006/main">
            <a:off x="4429125" y="43338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7E87"/>
                </a:solidFill>
              </a:defRPr>
            </a:defPPr>
            <a:lvl1pPr>
              <a:defRPr sz="2175" b="1">
                <a:solidFill>
                  <a:srgbClr val="007E87"/>
                </a:solidFill>
              </a:defRPr>
            </a:lvl1pPr>
            <a:lvl2pPr>
              <a:defRPr sz="2175" b="1">
                <a:solidFill>
                  <a:srgbClr val="007E87"/>
                </a:solidFill>
              </a:defRPr>
            </a:lvl2pPr>
            <a:lvl3pPr>
              <a:defRPr sz="2175" b="1">
                <a:solidFill>
                  <a:srgbClr val="007E87"/>
                </a:solidFill>
              </a:defRPr>
            </a:lvl3pPr>
            <a:lvl4pPr>
              <a:defRPr sz="2175" b="1">
                <a:solidFill>
                  <a:srgbClr val="007E87"/>
                </a:solidFill>
              </a:defRPr>
            </a:lvl4pPr>
            <a:lvl5pPr>
              <a:defRPr sz="2175" b="1">
                <a:solidFill>
                  <a:srgbClr val="007E87"/>
                </a:solidFill>
              </a:defRPr>
            </a:lvl5pPr>
            <a:lvl6pPr>
              <a:defRPr sz="2175" b="1">
                <a:solidFill>
                  <a:srgbClr val="007E87"/>
                </a:solidFill>
              </a:defRPr>
            </a:lvl6pPr>
            <a:lvl7pPr>
              <a:defRPr sz="2175" b="1">
                <a:solidFill>
                  <a:srgbClr val="007E87"/>
                </a:solidFill>
              </a:defRPr>
            </a:lvl7pPr>
            <a:lvl8pPr>
              <a:defRPr sz="2175" b="1">
                <a:solidFill>
                  <a:srgbClr val="007E87"/>
                </a:solidFill>
              </a:defRPr>
            </a:lvl8pPr>
            <a:lvl9pPr>
              <a:defRPr sz="2175" b="1">
                <a:solidFill>
                  <a:srgbClr val="007E87"/>
                </a:solidFill>
              </a:defRPr>
            </a:lvl9pPr>
          </a:lstStyle>
          <a:p xmlns:a="http://schemas.openxmlformats.org/drawingml/2006/main">
            <a:pPr>
              <a:defRPr sz="2175" b="1">
                <a:solidFill>
                  <a:srgbClr val="007E87"/>
                </a:solidFill>
              </a:defRPr>
            </a:pPr>
            <a:r>
              <a:rPr sz="2175" b="1">
                <a:solidFill>
                  <a:srgbClr val="007E87"/>
                </a:solidFill>
              </a:rPr>
              <a:t>ASIC core + analog block</a:t>
            </a:r>
          </a:p>
        </p:txBody>
      </p:sp>
      <p:sp>
        <p:nvSpPr>
          <p:cNvPr id="14" name="label-79">
            <a:extLst xmlns:a="http://schemas.openxmlformats.org/drawingml/2006/main">
              <a:ext uri="{FF2B5EF4-FFF2-40B4-BE49-F238E27FC236}">
                <a16:creationId xmlns:a16="http://schemas.microsoft.com/office/drawing/2014/main" id="{08F729EA-A83C-4C50-BB0C-2CE6717602E7}"/>
              </a:ext>
            </a:extLst>
          </p:cNvPr>
          <p:cNvSpPr>
            <a:spLocks xmlns:a="http://schemas.openxmlformats.org/drawingml/2006/main" noGrp="1"/>
          </p:cNvSpPr>
          <p:nvPr/>
        </p:nvSpPr>
        <p:spPr>
          <a:xfrm xmlns:a="http://schemas.openxmlformats.org/drawingml/2006/main">
            <a:off x="4429125" y="523875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8717B"/>
                </a:solidFill>
              </a:defRPr>
            </a:defPPr>
            <a:lvl1pPr>
              <a:defRPr sz="1875" b="0">
                <a:solidFill>
                  <a:srgbClr val="58717B"/>
                </a:solidFill>
              </a:defRPr>
            </a:lvl1pPr>
            <a:lvl2pPr>
              <a:defRPr sz="1875" b="0">
                <a:solidFill>
                  <a:srgbClr val="58717B"/>
                </a:solidFill>
              </a:defRPr>
            </a:lvl2pPr>
            <a:lvl3pPr>
              <a:defRPr sz="1875" b="0">
                <a:solidFill>
                  <a:srgbClr val="58717B"/>
                </a:solidFill>
              </a:defRPr>
            </a:lvl3pPr>
            <a:lvl4pPr>
              <a:defRPr sz="1875" b="0">
                <a:solidFill>
                  <a:srgbClr val="58717B"/>
                </a:solidFill>
              </a:defRPr>
            </a:lvl4pPr>
            <a:lvl5pPr>
              <a:defRPr sz="1875" b="0">
                <a:solidFill>
                  <a:srgbClr val="58717B"/>
                </a:solidFill>
              </a:defRPr>
            </a:lvl5pPr>
            <a:lvl6pPr>
              <a:defRPr sz="1875" b="0">
                <a:solidFill>
                  <a:srgbClr val="58717B"/>
                </a:solidFill>
              </a:defRPr>
            </a:lvl6pPr>
            <a:lvl7pPr>
              <a:defRPr sz="1875" b="0">
                <a:solidFill>
                  <a:srgbClr val="58717B"/>
                </a:solidFill>
              </a:defRPr>
            </a:lvl7pPr>
            <a:lvl8pPr>
              <a:defRPr sz="1875" b="0">
                <a:solidFill>
                  <a:srgbClr val="58717B"/>
                </a:solidFill>
              </a:defRPr>
            </a:lvl8pPr>
            <a:lvl9pPr>
              <a:defRPr sz="1875" b="0">
                <a:solidFill>
                  <a:srgbClr val="58717B"/>
                </a:solidFill>
              </a:defRPr>
            </a:lvl9pPr>
          </a:lstStyle>
          <a:p xmlns:a="http://schemas.openxmlformats.org/drawingml/2006/main">
            <a:pPr>
              <a:defRPr sz="1875" b="0">
                <a:solidFill>
                  <a:srgbClr val="58717B"/>
                </a:solidFill>
              </a:defRPr>
            </a:pPr>
            <a:r>
              <a:rPr sz="1875" b="0">
                <a:solidFill>
                  <a:srgbClr val="58717B"/>
                </a:solidFill>
              </a:rPr>
              <a:t>Recommended</a:t>
            </a:r>
          </a:p>
        </p:txBody>
      </p:sp>
      <p:sp>
        <p:nvSpPr>
          <p:cNvPr id="15" name="scope-chip-2">
            <a:extLst xmlns:a="http://schemas.openxmlformats.org/drawingml/2006/main">
              <a:ext uri="{FF2B5EF4-FFF2-40B4-BE49-F238E27FC236}">
                <a16:creationId xmlns:a16="http://schemas.microsoft.com/office/drawing/2014/main" id="{DC5190DB-367B-43F3-82C1-6B8C67523163}"/>
              </a:ext>
            </a:extLst>
          </p:cNvPr>
          <p:cNvSpPr>
            <a:spLocks xmlns:a="http://schemas.openxmlformats.org/drawingml/2006/main" noGrp="1"/>
          </p:cNvSpPr>
          <p:nvPr/>
        </p:nvSpPr>
        <p:spPr>
          <a:xfrm xmlns:a="http://schemas.openxmlformats.org/drawingml/2006/main">
            <a:off x="8724900" y="2085975"/>
            <a:ext cx="2381250" cy="1905000"/>
          </a:xfrm>
          <a:prstGeom xmlns:a="http://schemas.openxmlformats.org/drawingml/2006/main" prst="rect">
            <a:avLst/>
          </a:prstGeom>
          <a:solidFill xmlns:a="http://schemas.openxmlformats.org/drawingml/2006/main">
            <a:srgbClr val="FCFDFD"/>
          </a:solidFill>
          <a:ln xmlns:a="http://schemas.openxmlformats.org/drawingml/2006/main" w="19050">
            <a:solidFill>
              <a:srgbClr val="C7D6DB"/>
            </a:solidFill>
          </a:ln>
        </p:spPr>
      </p:sp>
      <p:sp>
        <p:nvSpPr>
          <p:cNvPr id="16" name="rtl-document">
            <a:extLst xmlns:a="http://schemas.openxmlformats.org/drawingml/2006/main">
              <a:ext uri="{FF2B5EF4-FFF2-40B4-BE49-F238E27FC236}">
                <a16:creationId xmlns:a16="http://schemas.microsoft.com/office/drawing/2014/main" id="{E9A15511-1036-4628-8B6A-D4FD496882D2}"/>
              </a:ext>
            </a:extLst>
          </p:cNvPr>
          <p:cNvSpPr>
            <a:spLocks xmlns:a="http://schemas.openxmlformats.org/drawingml/2006/main" noGrp="1"/>
          </p:cNvSpPr>
          <p:nvPr/>
        </p:nvSpPr>
        <p:spPr>
          <a:xfrm xmlns:a="http://schemas.openxmlformats.org/drawingml/2006/main">
            <a:off x="9144000" y="2324100"/>
            <a:ext cx="1524000" cy="1400175"/>
          </a:xfrm>
          <a:prstGeom xmlns:a="http://schemas.openxmlformats.org/drawingml/2006/main" prst="rect">
            <a:avLst/>
          </a:prstGeom>
          <a:solidFill xmlns:a="http://schemas.openxmlformats.org/drawingml/2006/main">
            <a:srgbClr val="FCFDFD"/>
          </a:solidFill>
          <a:ln xmlns:a="http://schemas.openxmlformats.org/drawingml/2006/main" w="19050">
            <a:solidFill>
              <a:srgbClr val="C7D6DB"/>
            </a:solidFill>
          </a:ln>
        </p:spPr>
        <p:txBody>
          <a:bodyPr xmlns:a="http://schemas.openxmlformats.org/drawingml/2006/main" lIns="76200" tIns="76200" rIns="76200" bIns="76200" anchor="ctr"/>
          <a:lstStyle xmlns:a="http://schemas.openxmlformats.org/drawingml/2006/main">
            <a:defPPr algn="ctr">
              <a:defRPr sz="2100" b="1">
                <a:solidFill>
                  <a:srgbClr val="163B46"/>
                </a:solidFill>
              </a:defRPr>
            </a:defPPr>
            <a:lvl1pPr algn="ctr">
              <a:defRPr sz="2100" b="1">
                <a:solidFill>
                  <a:srgbClr val="163B46"/>
                </a:solidFill>
              </a:defRPr>
            </a:lvl1pPr>
            <a:lvl2pPr algn="ctr">
              <a:defRPr sz="2100" b="1">
                <a:solidFill>
                  <a:srgbClr val="163B46"/>
                </a:solidFill>
              </a:defRPr>
            </a:lvl2pPr>
            <a:lvl3pPr algn="ctr">
              <a:defRPr sz="2100" b="1">
                <a:solidFill>
                  <a:srgbClr val="163B46"/>
                </a:solidFill>
              </a:defRPr>
            </a:lvl3pPr>
            <a:lvl4pPr algn="ctr">
              <a:defRPr sz="2100" b="1">
                <a:solidFill>
                  <a:srgbClr val="163B46"/>
                </a:solidFill>
              </a:defRPr>
            </a:lvl4pPr>
            <a:lvl5pPr algn="ctr">
              <a:defRPr sz="2100" b="1">
                <a:solidFill>
                  <a:srgbClr val="163B46"/>
                </a:solidFill>
              </a:defRPr>
            </a:lvl5pPr>
            <a:lvl6pPr algn="ctr">
              <a:defRPr sz="2100" b="1">
                <a:solidFill>
                  <a:srgbClr val="163B46"/>
                </a:solidFill>
              </a:defRPr>
            </a:lvl6pPr>
            <a:lvl7pPr algn="ctr">
              <a:defRPr sz="2100" b="1">
                <a:solidFill>
                  <a:srgbClr val="163B46"/>
                </a:solidFill>
              </a:defRPr>
            </a:lvl7pPr>
            <a:lvl8pPr algn="ctr">
              <a:defRPr sz="2100" b="1">
                <a:solidFill>
                  <a:srgbClr val="163B46"/>
                </a:solidFill>
              </a:defRPr>
            </a:lvl8pPr>
            <a:lvl9pPr algn="ctr">
              <a:defRPr sz="2100" b="1">
                <a:solidFill>
                  <a:srgbClr val="163B46"/>
                </a:solidFill>
              </a:defRPr>
            </a:lvl9pPr>
          </a:lstStyle>
          <a:p xmlns:a="http://schemas.openxmlformats.org/drawingml/2006/main">
            <a:pPr algn="ctr">
              <a:defRPr sz="2100" b="1">
                <a:solidFill>
                  <a:srgbClr val="163B46"/>
                </a:solidFill>
              </a:defRPr>
            </a:pPr>
            <a:r>
              <a:rPr sz="2100" b="1">
                <a:solidFill>
                  <a:srgbClr val="163B46"/>
                </a:solidFill>
              </a:rPr>
              <a:t>RTL</a:t>
            </a:r>
          </a:p>
          <a:p xmlns:a="http://schemas.openxmlformats.org/drawingml/2006/main">
            <a:pPr algn="ctr">
              <a:defRPr sz="2100" b="1">
                <a:solidFill>
                  <a:srgbClr val="163B46"/>
                </a:solidFill>
              </a:defRPr>
            </a:pPr>
            <a:r>
              <a:rPr sz="2100" b="1">
                <a:solidFill>
                  <a:srgbClr val="163B46"/>
                </a:solidFill>
              </a:rPr>
              <a:t>+ models</a:t>
            </a:r>
          </a:p>
        </p:txBody>
      </p:sp>
      <p:sp>
        <p:nvSpPr>
          <p:cNvPr id="17" name="label-80">
            <a:extLst xmlns:a="http://schemas.openxmlformats.org/drawingml/2006/main">
              <a:ext uri="{FF2B5EF4-FFF2-40B4-BE49-F238E27FC236}">
                <a16:creationId xmlns:a16="http://schemas.microsoft.com/office/drawing/2014/main" id="{A2DB5D2B-9BD8-4090-9B81-F715D1F256CF}"/>
              </a:ext>
            </a:extLst>
          </p:cNvPr>
          <p:cNvSpPr>
            <a:spLocks xmlns:a="http://schemas.openxmlformats.org/drawingml/2006/main" noGrp="1"/>
          </p:cNvSpPr>
          <p:nvPr/>
        </p:nvSpPr>
        <p:spPr>
          <a:xfrm xmlns:a="http://schemas.openxmlformats.org/drawingml/2006/main">
            <a:off x="8248650" y="43338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B46"/>
                </a:solidFill>
              </a:defRPr>
            </a:defPPr>
            <a:lvl1pPr>
              <a:defRPr sz="2175" b="1">
                <a:solidFill>
                  <a:srgbClr val="163B46"/>
                </a:solidFill>
              </a:defRPr>
            </a:lvl1pPr>
            <a:lvl2pPr>
              <a:defRPr sz="2175" b="1">
                <a:solidFill>
                  <a:srgbClr val="163B46"/>
                </a:solidFill>
              </a:defRPr>
            </a:lvl2pPr>
            <a:lvl3pPr>
              <a:defRPr sz="2175" b="1">
                <a:solidFill>
                  <a:srgbClr val="163B46"/>
                </a:solidFill>
              </a:defRPr>
            </a:lvl3pPr>
            <a:lvl4pPr>
              <a:defRPr sz="2175" b="1">
                <a:solidFill>
                  <a:srgbClr val="163B46"/>
                </a:solidFill>
              </a:defRPr>
            </a:lvl4pPr>
            <a:lvl5pPr>
              <a:defRPr sz="2175" b="1">
                <a:solidFill>
                  <a:srgbClr val="163B46"/>
                </a:solidFill>
              </a:defRPr>
            </a:lvl5pPr>
            <a:lvl6pPr>
              <a:defRPr sz="2175" b="1">
                <a:solidFill>
                  <a:srgbClr val="163B46"/>
                </a:solidFill>
              </a:defRPr>
            </a:lvl6pPr>
            <a:lvl7pPr>
              <a:defRPr sz="2175" b="1">
                <a:solidFill>
                  <a:srgbClr val="163B46"/>
                </a:solidFill>
              </a:defRPr>
            </a:lvl7pPr>
            <a:lvl8pPr>
              <a:defRPr sz="2175" b="1">
                <a:solidFill>
                  <a:srgbClr val="163B46"/>
                </a:solidFill>
              </a:defRPr>
            </a:lvl8pPr>
            <a:lvl9pPr>
              <a:defRPr sz="2175" b="1">
                <a:solidFill>
                  <a:srgbClr val="163B46"/>
                </a:solidFill>
              </a:defRPr>
            </a:lvl9pPr>
          </a:lstStyle>
          <a:p xmlns:a="http://schemas.openxmlformats.org/drawingml/2006/main">
            <a:pPr>
              <a:defRPr sz="2175" b="1">
                <a:solidFill>
                  <a:srgbClr val="163B46"/>
                </a:solidFill>
              </a:defRPr>
            </a:pPr>
            <a:r>
              <a:rPr sz="2175" b="1">
                <a:solidFill>
                  <a:srgbClr val="163B46"/>
                </a:solidFill>
              </a:rPr>
              <a:t>Model + RTL</a:t>
            </a:r>
          </a:p>
        </p:txBody>
      </p:sp>
      <p:sp>
        <p:nvSpPr>
          <p:cNvPr id="18" name="label-81">
            <a:extLst xmlns:a="http://schemas.openxmlformats.org/drawingml/2006/main">
              <a:ext uri="{FF2B5EF4-FFF2-40B4-BE49-F238E27FC236}">
                <a16:creationId xmlns:a16="http://schemas.microsoft.com/office/drawing/2014/main" id="{AACD8B22-33D2-408B-82C1-D8ADCAEDECF2}"/>
              </a:ext>
            </a:extLst>
          </p:cNvPr>
          <p:cNvSpPr>
            <a:spLocks xmlns:a="http://schemas.openxmlformats.org/drawingml/2006/main" noGrp="1"/>
          </p:cNvSpPr>
          <p:nvPr/>
        </p:nvSpPr>
        <p:spPr>
          <a:xfrm xmlns:a="http://schemas.openxmlformats.org/drawingml/2006/main">
            <a:off x="8248650" y="523875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8717B"/>
                </a:solidFill>
              </a:defRPr>
            </a:defPPr>
            <a:lvl1pPr>
              <a:defRPr sz="1875" b="0">
                <a:solidFill>
                  <a:srgbClr val="58717B"/>
                </a:solidFill>
              </a:defRPr>
            </a:lvl1pPr>
            <a:lvl2pPr>
              <a:defRPr sz="1875" b="0">
                <a:solidFill>
                  <a:srgbClr val="58717B"/>
                </a:solidFill>
              </a:defRPr>
            </a:lvl2pPr>
            <a:lvl3pPr>
              <a:defRPr sz="1875" b="0">
                <a:solidFill>
                  <a:srgbClr val="58717B"/>
                </a:solidFill>
              </a:defRPr>
            </a:lvl3pPr>
            <a:lvl4pPr>
              <a:defRPr sz="1875" b="0">
                <a:solidFill>
                  <a:srgbClr val="58717B"/>
                </a:solidFill>
              </a:defRPr>
            </a:lvl4pPr>
            <a:lvl5pPr>
              <a:defRPr sz="1875" b="0">
                <a:solidFill>
                  <a:srgbClr val="58717B"/>
                </a:solidFill>
              </a:defRPr>
            </a:lvl5pPr>
            <a:lvl6pPr>
              <a:defRPr sz="1875" b="0">
                <a:solidFill>
                  <a:srgbClr val="58717B"/>
                </a:solidFill>
              </a:defRPr>
            </a:lvl6pPr>
            <a:lvl7pPr>
              <a:defRPr sz="1875" b="0">
                <a:solidFill>
                  <a:srgbClr val="58717B"/>
                </a:solidFill>
              </a:defRPr>
            </a:lvl7pPr>
            <a:lvl8pPr>
              <a:defRPr sz="1875" b="0">
                <a:solidFill>
                  <a:srgbClr val="58717B"/>
                </a:solidFill>
              </a:defRPr>
            </a:lvl8pPr>
            <a:lvl9pPr>
              <a:defRPr sz="1875" b="0">
                <a:solidFill>
                  <a:srgbClr val="58717B"/>
                </a:solidFill>
              </a:defRPr>
            </a:lvl9pPr>
          </a:lstStyle>
          <a:p xmlns:a="http://schemas.openxmlformats.org/drawingml/2006/main">
            <a:pPr>
              <a:defRPr sz="1875" b="0">
                <a:solidFill>
                  <a:srgbClr val="58717B"/>
                </a:solidFill>
              </a:defRPr>
            </a:pPr>
            <a:r>
              <a:rPr sz="1875" b="0">
                <a:solidFill>
                  <a:srgbClr val="58717B"/>
                </a:solidFill>
              </a:rPr>
              <a:t>Fallback</a:t>
            </a:r>
          </a:p>
        </p:txBody>
      </p:sp>
      <p:sp>
        <p:nvSpPr>
          <p:cNvPr id="19" name="scope-selector">
            <a:extLst xmlns:a="http://schemas.openxmlformats.org/drawingml/2006/main">
              <a:ext uri="{FF2B5EF4-FFF2-40B4-BE49-F238E27FC236}">
                <a16:creationId xmlns:a16="http://schemas.microsoft.com/office/drawing/2014/main" id="{EC8B88F7-BE89-4637-B6B5-6A00E769A790}"/>
              </a:ext>
            </a:extLst>
          </p:cNvPr>
          <p:cNvSpPr>
            <a:spLocks xmlns:a="http://schemas.openxmlformats.org/drawingml/2006/main" noGrp="1"/>
          </p:cNvSpPr>
          <p:nvPr/>
        </p:nvSpPr>
        <p:spPr>
          <a:xfrm xmlns:a="http://schemas.openxmlformats.org/drawingml/2006/main">
            <a:off x="9839325" y="1628775"/>
            <a:ext cx="228600" cy="228600"/>
          </a:xfrm>
          <a:prstGeom xmlns:a="http://schemas.openxmlformats.org/drawingml/2006/main" prst="ellipse">
            <a:avLst/>
          </a:prstGeom>
          <a:solidFill xmlns:a="http://schemas.openxmlformats.org/drawingml/2006/main">
            <a:srgbClr val="CB6A32"/>
          </a:solidFill>
          <a:ln xmlns:a="http://schemas.openxmlformats.org/drawingml/2006/main" w="19050">
            <a:solidFill>
              <a:srgbClr val="CB6A32"/>
            </a:solidFill>
          </a:ln>
        </p:spPr>
      </p:sp>
      <p:sp>
        <p:nvSpPr>
          <p:cNvPr id="20" name="caption">
            <a:extLst xmlns:a="http://schemas.openxmlformats.org/drawingml/2006/main">
              <a:ext uri="{FF2B5EF4-FFF2-40B4-BE49-F238E27FC236}">
                <a16:creationId xmlns:a16="http://schemas.microsoft.com/office/drawing/2014/main" id="{B3A53923-3821-4512-84B7-CF7C062B26B8}"/>
              </a:ext>
            </a:extLst>
          </p:cNvPr>
          <p:cNvSpPr>
            <a:spLocks xmlns:a="http://schemas.openxmlformats.org/drawingml/2006/main" noGrp="1"/>
          </p:cNvSpPr>
          <p:nvPr/>
        </p:nvSpPr>
        <p:spPr>
          <a:xfrm xmlns:a="http://schemas.openxmlformats.org/drawingml/2006/main">
            <a:off x="60960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8717B"/>
                </a:solidFill>
              </a:defRPr>
            </a:defPPr>
            <a:lvl1pPr>
              <a:defRPr sz="1800" b="0">
                <a:solidFill>
                  <a:srgbClr val="58717B"/>
                </a:solidFill>
              </a:defRPr>
            </a:lvl1pPr>
            <a:lvl2pPr>
              <a:defRPr sz="1800" b="0">
                <a:solidFill>
                  <a:srgbClr val="58717B"/>
                </a:solidFill>
              </a:defRPr>
            </a:lvl2pPr>
            <a:lvl3pPr>
              <a:defRPr sz="1800" b="0">
                <a:solidFill>
                  <a:srgbClr val="58717B"/>
                </a:solidFill>
              </a:defRPr>
            </a:lvl3pPr>
            <a:lvl4pPr>
              <a:defRPr sz="1800" b="0">
                <a:solidFill>
                  <a:srgbClr val="58717B"/>
                </a:solidFill>
              </a:defRPr>
            </a:lvl4pPr>
            <a:lvl5pPr>
              <a:defRPr sz="1800" b="0">
                <a:solidFill>
                  <a:srgbClr val="58717B"/>
                </a:solidFill>
              </a:defRPr>
            </a:lvl5pPr>
            <a:lvl6pPr>
              <a:defRPr sz="1800" b="0">
                <a:solidFill>
                  <a:srgbClr val="58717B"/>
                </a:solidFill>
              </a:defRPr>
            </a:lvl6pPr>
            <a:lvl7pPr>
              <a:defRPr sz="1800" b="0">
                <a:solidFill>
                  <a:srgbClr val="58717B"/>
                </a:solidFill>
              </a:defRPr>
            </a:lvl7pPr>
            <a:lvl8pPr>
              <a:defRPr sz="1800" b="0">
                <a:solidFill>
                  <a:srgbClr val="58717B"/>
                </a:solidFill>
              </a:defRPr>
            </a:lvl8pPr>
            <a:lvl9pPr>
              <a:defRPr sz="1800" b="0">
                <a:solidFill>
                  <a:srgbClr val="58717B"/>
                </a:solidFill>
              </a:defRPr>
            </a:lvl9pPr>
          </a:lstStyle>
          <a:p xmlns:a="http://schemas.openxmlformats.org/drawingml/2006/main">
            <a:pPr>
              <a:defRPr sz="1800" b="0">
                <a:solidFill>
                  <a:srgbClr val="58717B"/>
                </a:solidFill>
              </a:defRPr>
            </a:pPr>
            <a:r>
              <a:rPr sz="1800" b="0">
                <a:solidFill>
                  <a:srgbClr val="58717B"/>
                </a:solidFill>
              </a:rPr>
              <a:t>Full integration and 400G are conditional extensions.</a:t>
            </a:r>
          </a:p>
        </p:txBody>
      </p:sp>
    </p:spTree>
    <p:extLst>
      <p:ext uri="{BB962C8B-B14F-4D97-AF65-F5344CB8AC3E}">
        <p14:creationId xmlns:p14="http://schemas.microsoft.com/office/powerpoint/2010/main" val="685579410"/>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313281 0.000000 E" pathEditMode="relative" rAng="0">
                                      <p:cBhvr additive="base">
                                        <p:cTn id="6" dur="1200" fill="hold" accel="12000" decel="12000"/>
                                        <p:tgtEl>
                                          <p:spTgt spid="1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EAF4F4"/>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B6F00AE-4204-43B5-8AEC-A436E7AC266E}"/>
              </a:ext>
            </a:extLst>
          </p:cNvPr>
          <p:cNvSpPr>
            <a:spLocks xmlns:a="http://schemas.openxmlformats.org/drawingml/2006/main" noGrp="1"/>
          </p:cNvSpPr>
          <p:nvPr/>
        </p:nvSpPr>
        <p:spPr>
          <a:xfrm xmlns:a="http://schemas.openxmlformats.org/drawingml/2006/main">
            <a:off x="609600" y="52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63B46"/>
                </a:solidFill>
              </a:defRPr>
            </a:defPPr>
            <a:lvl1pPr>
              <a:defRPr sz="3450" b="1">
                <a:solidFill>
                  <a:srgbClr val="163B46"/>
                </a:solidFill>
              </a:defRPr>
            </a:lvl1pPr>
            <a:lvl2pPr>
              <a:defRPr sz="3450" b="1">
                <a:solidFill>
                  <a:srgbClr val="163B46"/>
                </a:solidFill>
              </a:defRPr>
            </a:lvl2pPr>
            <a:lvl3pPr>
              <a:defRPr sz="3450" b="1">
                <a:solidFill>
                  <a:srgbClr val="163B46"/>
                </a:solidFill>
              </a:defRPr>
            </a:lvl3pPr>
            <a:lvl4pPr>
              <a:defRPr sz="3450" b="1">
                <a:solidFill>
                  <a:srgbClr val="163B46"/>
                </a:solidFill>
              </a:defRPr>
            </a:lvl4pPr>
            <a:lvl5pPr>
              <a:defRPr sz="3450" b="1">
                <a:solidFill>
                  <a:srgbClr val="163B46"/>
                </a:solidFill>
              </a:defRPr>
            </a:lvl5pPr>
            <a:lvl6pPr>
              <a:defRPr sz="3450" b="1">
                <a:solidFill>
                  <a:srgbClr val="163B46"/>
                </a:solidFill>
              </a:defRPr>
            </a:lvl6pPr>
            <a:lvl7pPr>
              <a:defRPr sz="3450" b="1">
                <a:solidFill>
                  <a:srgbClr val="163B46"/>
                </a:solidFill>
              </a:defRPr>
            </a:lvl7pPr>
            <a:lvl8pPr>
              <a:defRPr sz="3450" b="1">
                <a:solidFill>
                  <a:srgbClr val="163B46"/>
                </a:solidFill>
              </a:defRPr>
            </a:lvl8pPr>
            <a:lvl9pPr>
              <a:defRPr sz="3450" b="1">
                <a:solidFill>
                  <a:srgbClr val="163B46"/>
                </a:solidFill>
              </a:defRPr>
            </a:lvl9pPr>
          </a:lstStyle>
          <a:p xmlns:a="http://schemas.openxmlformats.org/drawingml/2006/main">
            <a:pPr>
              <a:defRPr sz="3450" b="1">
                <a:solidFill>
                  <a:srgbClr val="163B46"/>
                </a:solidFill>
              </a:defRPr>
            </a:pPr>
            <a:r>
              <a:rPr sz="3450" b="1">
                <a:solidFill>
                  <a:srgbClr val="163B46"/>
                </a:solidFill>
              </a:rPr>
              <a:t>Decisions for this meeting</a:t>
            </a:r>
          </a:p>
        </p:txBody>
      </p:sp>
      <p:sp>
        <p:nvSpPr>
          <p:cNvPr id="3" name="page">
            <a:extLst xmlns:a="http://schemas.openxmlformats.org/drawingml/2006/main">
              <a:ext uri="{FF2B5EF4-FFF2-40B4-BE49-F238E27FC236}">
                <a16:creationId xmlns:a16="http://schemas.microsoft.com/office/drawing/2014/main" id="{558AD70F-2E1C-4861-AC28-D10901A348E0}"/>
              </a:ext>
            </a:extLst>
          </p:cNvPr>
          <p:cNvSpPr>
            <a:spLocks xmlns:a="http://schemas.openxmlformats.org/drawingml/2006/main" noGrp="1"/>
          </p:cNvSpPr>
          <p:nvPr/>
        </p:nvSpPr>
        <p:spPr>
          <a:xfrm xmlns:a="http://schemas.openxmlformats.org/drawingml/2006/main">
            <a:off x="11096625" y="645795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8717B"/>
                </a:solidFill>
              </a:defRPr>
            </a:defPPr>
            <a:lvl1pPr>
              <a:defRPr sz="1200" b="0">
                <a:solidFill>
                  <a:srgbClr val="58717B"/>
                </a:solidFill>
              </a:defRPr>
            </a:lvl1pPr>
            <a:lvl2pPr>
              <a:defRPr sz="1200" b="0">
                <a:solidFill>
                  <a:srgbClr val="58717B"/>
                </a:solidFill>
              </a:defRPr>
            </a:lvl2pPr>
            <a:lvl3pPr>
              <a:defRPr sz="1200" b="0">
                <a:solidFill>
                  <a:srgbClr val="58717B"/>
                </a:solidFill>
              </a:defRPr>
            </a:lvl3pPr>
            <a:lvl4pPr>
              <a:defRPr sz="1200" b="0">
                <a:solidFill>
                  <a:srgbClr val="58717B"/>
                </a:solidFill>
              </a:defRPr>
            </a:lvl4pPr>
            <a:lvl5pPr>
              <a:defRPr sz="1200" b="0">
                <a:solidFill>
                  <a:srgbClr val="58717B"/>
                </a:solidFill>
              </a:defRPr>
            </a:lvl5pPr>
            <a:lvl6pPr>
              <a:defRPr sz="1200" b="0">
                <a:solidFill>
                  <a:srgbClr val="58717B"/>
                </a:solidFill>
              </a:defRPr>
            </a:lvl6pPr>
            <a:lvl7pPr>
              <a:defRPr sz="1200" b="0">
                <a:solidFill>
                  <a:srgbClr val="58717B"/>
                </a:solidFill>
              </a:defRPr>
            </a:lvl7pPr>
            <a:lvl8pPr>
              <a:defRPr sz="1200" b="0">
                <a:solidFill>
                  <a:srgbClr val="58717B"/>
                </a:solidFill>
              </a:defRPr>
            </a:lvl8pPr>
            <a:lvl9pPr>
              <a:defRPr sz="1200" b="0">
                <a:solidFill>
                  <a:srgbClr val="58717B"/>
                </a:solidFill>
              </a:defRPr>
            </a:lvl9pPr>
          </a:lstStyle>
          <a:p xmlns:a="http://schemas.openxmlformats.org/drawingml/2006/main">
            <a:pPr>
              <a:defRPr sz="1200" b="0">
                <a:solidFill>
                  <a:srgbClr val="58717B"/>
                </a:solidFill>
              </a:defRPr>
            </a:pPr>
            <a:r>
              <a:rPr sz="1200" b="0">
                <a:solidFill>
                  <a:srgbClr val="58717B"/>
                </a:solidFill>
              </a:rPr>
              <a:t>14</a:t>
            </a:r>
          </a:p>
        </p:txBody>
      </p:sp>
      <p:sp>
        <p:nvSpPr>
          <p:cNvPr id="4" name="decision-0">
            <a:extLst xmlns:a="http://schemas.openxmlformats.org/drawingml/2006/main">
              <a:ext uri="{FF2B5EF4-FFF2-40B4-BE49-F238E27FC236}">
                <a16:creationId xmlns:a16="http://schemas.microsoft.com/office/drawing/2014/main" id="{8C17B683-510B-4365-B756-ABE26725202E}"/>
              </a:ext>
            </a:extLst>
          </p:cNvPr>
          <p:cNvSpPr>
            <a:spLocks xmlns:a="http://schemas.openxmlformats.org/drawingml/2006/main" noGrp="1"/>
          </p:cNvSpPr>
          <p:nvPr/>
        </p:nvSpPr>
        <p:spPr>
          <a:xfrm xmlns:a="http://schemas.openxmlformats.org/drawingml/2006/main">
            <a:off x="809625" y="2409825"/>
            <a:ext cx="2667000" cy="1123950"/>
          </a:xfrm>
          <a:prstGeom xmlns:a="http://schemas.openxmlformats.org/drawingml/2006/main" prst="roundRect">
            <a:avLst>
              <a:gd name="adj" fmla="val 6780"/>
            </a:avLst>
          </a:prstGeom>
          <a:solidFill xmlns:a="http://schemas.openxmlformats.org/drawingml/2006/main">
            <a:srgbClr val="FCFDFD"/>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2250" b="1">
                <a:solidFill>
                  <a:srgbClr val="163B46"/>
                </a:solidFill>
              </a:defRPr>
            </a:defPPr>
            <a:lvl1pPr algn="ctr">
              <a:defRPr sz="2250" b="1">
                <a:solidFill>
                  <a:srgbClr val="163B46"/>
                </a:solidFill>
              </a:defRPr>
            </a:lvl1pPr>
            <a:lvl2pPr algn="ctr">
              <a:defRPr sz="2250" b="1">
                <a:solidFill>
                  <a:srgbClr val="163B46"/>
                </a:solidFill>
              </a:defRPr>
            </a:lvl2pPr>
            <a:lvl3pPr algn="ctr">
              <a:defRPr sz="2250" b="1">
                <a:solidFill>
                  <a:srgbClr val="163B46"/>
                </a:solidFill>
              </a:defRPr>
            </a:lvl3pPr>
            <a:lvl4pPr algn="ctr">
              <a:defRPr sz="2250" b="1">
                <a:solidFill>
                  <a:srgbClr val="163B46"/>
                </a:solidFill>
              </a:defRPr>
            </a:lvl4pPr>
            <a:lvl5pPr algn="ctr">
              <a:defRPr sz="2250" b="1">
                <a:solidFill>
                  <a:srgbClr val="163B46"/>
                </a:solidFill>
              </a:defRPr>
            </a:lvl5pPr>
            <a:lvl6pPr algn="ctr">
              <a:defRPr sz="2250" b="1">
                <a:solidFill>
                  <a:srgbClr val="163B46"/>
                </a:solidFill>
              </a:defRPr>
            </a:lvl6pPr>
            <a:lvl7pPr algn="ctr">
              <a:defRPr sz="2250" b="1">
                <a:solidFill>
                  <a:srgbClr val="163B46"/>
                </a:solidFill>
              </a:defRPr>
            </a:lvl7pPr>
            <a:lvl8pPr algn="ctr">
              <a:defRPr sz="2250" b="1">
                <a:solidFill>
                  <a:srgbClr val="163B46"/>
                </a:solidFill>
              </a:defRPr>
            </a:lvl8pPr>
            <a:lvl9pPr algn="ctr">
              <a:defRPr sz="2250" b="1">
                <a:solidFill>
                  <a:srgbClr val="163B46"/>
                </a:solidFill>
              </a:defRPr>
            </a:lvl9pPr>
          </a:lstStyle>
          <a:p xmlns:a="http://schemas.openxmlformats.org/drawingml/2006/main">
            <a:pPr algn="ctr">
              <a:defRPr sz="2250" b="1">
                <a:solidFill>
                  <a:srgbClr val="163B46"/>
                </a:solidFill>
              </a:defRPr>
            </a:pPr>
            <a:r>
              <a:rPr sz="2250" b="1">
                <a:solidFill>
                  <a:srgbClr val="163B46"/>
                </a:solidFill>
              </a:rPr>
              <a:t>Research question</a:t>
            </a:r>
          </a:p>
        </p:txBody>
      </p:sp>
      <p:sp>
        <p:nvSpPr>
          <p:cNvPr id="5" name="arrow-82">
            <a:extLst xmlns:a="http://schemas.openxmlformats.org/drawingml/2006/main">
              <a:ext uri="{FF2B5EF4-FFF2-40B4-BE49-F238E27FC236}">
                <a16:creationId xmlns:a16="http://schemas.microsoft.com/office/drawing/2014/main" id="{6987112A-B750-44BD-B02C-04F597ECA34B}"/>
              </a:ext>
            </a:extLst>
          </p:cNvPr>
          <p:cNvSpPr>
            <a:spLocks xmlns:a="http://schemas.openxmlformats.org/drawingml/2006/main" noGrp="1"/>
          </p:cNvSpPr>
          <p:nvPr/>
        </p:nvSpPr>
        <p:spPr>
          <a:xfrm xmlns:a="http://schemas.openxmlformats.org/drawingml/2006/main">
            <a:off x="3571875" y="2876550"/>
            <a:ext cx="857250" cy="152400"/>
          </a:xfrm>
          <a:prstGeom xmlns:a="http://schemas.openxmlformats.org/drawingml/2006/main" prst="rightArrow">
            <a:avLst/>
          </a:prstGeom>
          <a:solidFill xmlns:a="http://schemas.openxmlformats.org/drawingml/2006/main">
            <a:srgbClr val="C7D6DB"/>
          </a:solidFill>
          <a:ln xmlns:a="http://schemas.openxmlformats.org/drawingml/2006/main" w="19050">
            <a:solidFill>
              <a:srgbClr val="C7D6DB"/>
            </a:solidFill>
          </a:ln>
        </p:spPr>
      </p:sp>
      <p:sp>
        <p:nvSpPr>
          <p:cNvPr id="6" name="decision-1">
            <a:extLst xmlns:a="http://schemas.openxmlformats.org/drawingml/2006/main">
              <a:ext uri="{FF2B5EF4-FFF2-40B4-BE49-F238E27FC236}">
                <a16:creationId xmlns:a16="http://schemas.microsoft.com/office/drawing/2014/main" id="{5E27C94F-FBD9-4272-B125-160467CAE498}"/>
              </a:ext>
            </a:extLst>
          </p:cNvPr>
          <p:cNvSpPr>
            <a:spLocks xmlns:a="http://schemas.openxmlformats.org/drawingml/2006/main" noGrp="1"/>
          </p:cNvSpPr>
          <p:nvPr/>
        </p:nvSpPr>
        <p:spPr>
          <a:xfrm xmlns:a="http://schemas.openxmlformats.org/drawingml/2006/main">
            <a:off x="4619625" y="2409825"/>
            <a:ext cx="2667000" cy="1123950"/>
          </a:xfrm>
          <a:prstGeom xmlns:a="http://schemas.openxmlformats.org/drawingml/2006/main" prst="roundRect">
            <a:avLst>
              <a:gd name="adj" fmla="val 6780"/>
            </a:avLst>
          </a:prstGeom>
          <a:solidFill xmlns:a="http://schemas.openxmlformats.org/drawingml/2006/main">
            <a:srgbClr val="FCFDFD"/>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2250" b="1">
                <a:solidFill>
                  <a:srgbClr val="163B46"/>
                </a:solidFill>
              </a:defRPr>
            </a:defPPr>
            <a:lvl1pPr algn="ctr">
              <a:defRPr sz="2250" b="1">
                <a:solidFill>
                  <a:srgbClr val="163B46"/>
                </a:solidFill>
              </a:defRPr>
            </a:lvl1pPr>
            <a:lvl2pPr algn="ctr">
              <a:defRPr sz="2250" b="1">
                <a:solidFill>
                  <a:srgbClr val="163B46"/>
                </a:solidFill>
              </a:defRPr>
            </a:lvl2pPr>
            <a:lvl3pPr algn="ctr">
              <a:defRPr sz="2250" b="1">
                <a:solidFill>
                  <a:srgbClr val="163B46"/>
                </a:solidFill>
              </a:defRPr>
            </a:lvl3pPr>
            <a:lvl4pPr algn="ctr">
              <a:defRPr sz="2250" b="1">
                <a:solidFill>
                  <a:srgbClr val="163B46"/>
                </a:solidFill>
              </a:defRPr>
            </a:lvl4pPr>
            <a:lvl5pPr algn="ctr">
              <a:defRPr sz="2250" b="1">
                <a:solidFill>
                  <a:srgbClr val="163B46"/>
                </a:solidFill>
              </a:defRPr>
            </a:lvl5pPr>
            <a:lvl6pPr algn="ctr">
              <a:defRPr sz="2250" b="1">
                <a:solidFill>
                  <a:srgbClr val="163B46"/>
                </a:solidFill>
              </a:defRPr>
            </a:lvl6pPr>
            <a:lvl7pPr algn="ctr">
              <a:defRPr sz="2250" b="1">
                <a:solidFill>
                  <a:srgbClr val="163B46"/>
                </a:solidFill>
              </a:defRPr>
            </a:lvl7pPr>
            <a:lvl8pPr algn="ctr">
              <a:defRPr sz="2250" b="1">
                <a:solidFill>
                  <a:srgbClr val="163B46"/>
                </a:solidFill>
              </a:defRPr>
            </a:lvl8pPr>
            <a:lvl9pPr algn="ctr">
              <a:defRPr sz="2250" b="1">
                <a:solidFill>
                  <a:srgbClr val="163B46"/>
                </a:solidFill>
              </a:defRPr>
            </a:lvl9pPr>
          </a:lstStyle>
          <a:p xmlns:a="http://schemas.openxmlformats.org/drawingml/2006/main">
            <a:pPr algn="ctr">
              <a:defRPr sz="2250" b="1">
                <a:solidFill>
                  <a:srgbClr val="163B46"/>
                </a:solidFill>
              </a:defRPr>
            </a:pPr>
            <a:r>
              <a:rPr sz="2250" b="1">
                <a:solidFill>
                  <a:srgbClr val="163B46"/>
                </a:solidFill>
              </a:rPr>
              <a:t>ASIC boundary</a:t>
            </a:r>
          </a:p>
        </p:txBody>
      </p:sp>
      <p:sp>
        <p:nvSpPr>
          <p:cNvPr id="7" name="arrow-83">
            <a:extLst xmlns:a="http://schemas.openxmlformats.org/drawingml/2006/main">
              <a:ext uri="{FF2B5EF4-FFF2-40B4-BE49-F238E27FC236}">
                <a16:creationId xmlns:a16="http://schemas.microsoft.com/office/drawing/2014/main" id="{97ED76EC-67ED-46C9-98C1-6C214E7306DC}"/>
              </a:ext>
            </a:extLst>
          </p:cNvPr>
          <p:cNvSpPr>
            <a:spLocks xmlns:a="http://schemas.openxmlformats.org/drawingml/2006/main" noGrp="1"/>
          </p:cNvSpPr>
          <p:nvPr/>
        </p:nvSpPr>
        <p:spPr>
          <a:xfrm xmlns:a="http://schemas.openxmlformats.org/drawingml/2006/main">
            <a:off x="7381875" y="2876550"/>
            <a:ext cx="857250" cy="152400"/>
          </a:xfrm>
          <a:prstGeom xmlns:a="http://schemas.openxmlformats.org/drawingml/2006/main" prst="rightArrow">
            <a:avLst/>
          </a:prstGeom>
          <a:solidFill xmlns:a="http://schemas.openxmlformats.org/drawingml/2006/main">
            <a:srgbClr val="C7D6DB"/>
          </a:solidFill>
          <a:ln xmlns:a="http://schemas.openxmlformats.org/drawingml/2006/main" w="19050">
            <a:solidFill>
              <a:srgbClr val="C7D6DB"/>
            </a:solidFill>
          </a:ln>
        </p:spPr>
      </p:sp>
      <p:sp>
        <p:nvSpPr>
          <p:cNvPr id="8" name="decision-2">
            <a:extLst xmlns:a="http://schemas.openxmlformats.org/drawingml/2006/main">
              <a:ext uri="{FF2B5EF4-FFF2-40B4-BE49-F238E27FC236}">
                <a16:creationId xmlns:a16="http://schemas.microsoft.com/office/drawing/2014/main" id="{015FFC34-5CF0-4552-8CBE-122404992D99}"/>
              </a:ext>
            </a:extLst>
          </p:cNvPr>
          <p:cNvSpPr>
            <a:spLocks xmlns:a="http://schemas.openxmlformats.org/drawingml/2006/main" noGrp="1"/>
          </p:cNvSpPr>
          <p:nvPr/>
        </p:nvSpPr>
        <p:spPr>
          <a:xfrm xmlns:a="http://schemas.openxmlformats.org/drawingml/2006/main">
            <a:off x="8429625" y="2409825"/>
            <a:ext cx="2667000" cy="1123950"/>
          </a:xfrm>
          <a:prstGeom xmlns:a="http://schemas.openxmlformats.org/drawingml/2006/main" prst="roundRect">
            <a:avLst>
              <a:gd name="adj" fmla="val 6780"/>
            </a:avLst>
          </a:prstGeom>
          <a:solidFill xmlns:a="http://schemas.openxmlformats.org/drawingml/2006/main">
            <a:srgbClr val="FCFDFD"/>
          </a:solidFill>
          <a:ln xmlns:a="http://schemas.openxmlformats.org/drawingml/2006/main" w="19050">
            <a:solidFill>
              <a:srgbClr val="007E87"/>
            </a:solidFill>
          </a:ln>
        </p:spPr>
        <p:txBody>
          <a:bodyPr xmlns:a="http://schemas.openxmlformats.org/drawingml/2006/main" lIns="76200" tIns="76200" rIns="76200" bIns="76200" anchor="ctr"/>
          <a:lstStyle xmlns:a="http://schemas.openxmlformats.org/drawingml/2006/main">
            <a:defPPr algn="ctr">
              <a:defRPr sz="2250" b="1">
                <a:solidFill>
                  <a:srgbClr val="163B46"/>
                </a:solidFill>
              </a:defRPr>
            </a:defPPr>
            <a:lvl1pPr algn="ctr">
              <a:defRPr sz="2250" b="1">
                <a:solidFill>
                  <a:srgbClr val="163B46"/>
                </a:solidFill>
              </a:defRPr>
            </a:lvl1pPr>
            <a:lvl2pPr algn="ctr">
              <a:defRPr sz="2250" b="1">
                <a:solidFill>
                  <a:srgbClr val="163B46"/>
                </a:solidFill>
              </a:defRPr>
            </a:lvl2pPr>
            <a:lvl3pPr algn="ctr">
              <a:defRPr sz="2250" b="1">
                <a:solidFill>
                  <a:srgbClr val="163B46"/>
                </a:solidFill>
              </a:defRPr>
            </a:lvl3pPr>
            <a:lvl4pPr algn="ctr">
              <a:defRPr sz="2250" b="1">
                <a:solidFill>
                  <a:srgbClr val="163B46"/>
                </a:solidFill>
              </a:defRPr>
            </a:lvl4pPr>
            <a:lvl5pPr algn="ctr">
              <a:defRPr sz="2250" b="1">
                <a:solidFill>
                  <a:srgbClr val="163B46"/>
                </a:solidFill>
              </a:defRPr>
            </a:lvl5pPr>
            <a:lvl6pPr algn="ctr">
              <a:defRPr sz="2250" b="1">
                <a:solidFill>
                  <a:srgbClr val="163B46"/>
                </a:solidFill>
              </a:defRPr>
            </a:lvl6pPr>
            <a:lvl7pPr algn="ctr">
              <a:defRPr sz="2250" b="1">
                <a:solidFill>
                  <a:srgbClr val="163B46"/>
                </a:solidFill>
              </a:defRPr>
            </a:lvl7pPr>
            <a:lvl8pPr algn="ctr">
              <a:defRPr sz="2250" b="1">
                <a:solidFill>
                  <a:srgbClr val="163B46"/>
                </a:solidFill>
              </a:defRPr>
            </a:lvl8pPr>
            <a:lvl9pPr algn="ctr">
              <a:defRPr sz="2250" b="1">
                <a:solidFill>
                  <a:srgbClr val="163B46"/>
                </a:solidFill>
              </a:defRPr>
            </a:lvl9pPr>
          </a:lstStyle>
          <a:p xmlns:a="http://schemas.openxmlformats.org/drawingml/2006/main">
            <a:pPr algn="ctr">
              <a:defRPr sz="2250" b="1">
                <a:solidFill>
                  <a:srgbClr val="163B46"/>
                </a:solidFill>
              </a:defRPr>
            </a:pPr>
            <a:r>
              <a:rPr sz="2250" b="1">
                <a:solidFill>
                  <a:srgbClr val="163B46"/>
                </a:solidFill>
              </a:rPr>
              <a:t>Next milestone</a:t>
            </a:r>
          </a:p>
        </p:txBody>
      </p:sp>
      <p:sp>
        <p:nvSpPr>
          <p:cNvPr id="9" name="decision-token">
            <a:extLst xmlns:a="http://schemas.openxmlformats.org/drawingml/2006/main">
              <a:ext uri="{FF2B5EF4-FFF2-40B4-BE49-F238E27FC236}">
                <a16:creationId xmlns:a16="http://schemas.microsoft.com/office/drawing/2014/main" id="{F523DF0E-CB8D-4532-A030-B99B2034DCE9}"/>
              </a:ext>
            </a:extLst>
          </p:cNvPr>
          <p:cNvSpPr>
            <a:spLocks xmlns:a="http://schemas.openxmlformats.org/drawingml/2006/main" noGrp="1"/>
          </p:cNvSpPr>
          <p:nvPr/>
        </p:nvSpPr>
        <p:spPr>
          <a:xfrm xmlns:a="http://schemas.openxmlformats.org/drawingml/2006/main">
            <a:off x="1943100" y="4095750"/>
            <a:ext cx="304800" cy="209550"/>
          </a:xfrm>
          <a:prstGeom xmlns:a="http://schemas.openxmlformats.org/drawingml/2006/main" prst="roundRect">
            <a:avLst>
              <a:gd name="adj" fmla="val 36364"/>
            </a:avLst>
          </a:prstGeom>
          <a:solidFill xmlns:a="http://schemas.openxmlformats.org/drawingml/2006/main">
            <a:srgbClr val="CB6A32"/>
          </a:solidFill>
          <a:ln xmlns:a="http://schemas.openxmlformats.org/drawingml/2006/main" w="19050">
            <a:solidFill>
              <a:srgbClr val="CB6A32"/>
            </a:solidFill>
          </a:ln>
        </p:spPr>
      </p:sp>
      <p:sp>
        <p:nvSpPr>
          <p:cNvPr id="10" name="label-84">
            <a:extLst xmlns:a="http://schemas.openxmlformats.org/drawingml/2006/main">
              <a:ext uri="{FF2B5EF4-FFF2-40B4-BE49-F238E27FC236}">
                <a16:creationId xmlns:a16="http://schemas.microsoft.com/office/drawing/2014/main" id="{DA134B4C-C084-4A51-8DB9-54F93FA34962}"/>
              </a:ext>
            </a:extLst>
          </p:cNvPr>
          <p:cNvSpPr>
            <a:spLocks xmlns:a="http://schemas.openxmlformats.org/drawingml/2006/main" noGrp="1"/>
          </p:cNvSpPr>
          <p:nvPr/>
        </p:nvSpPr>
        <p:spPr>
          <a:xfrm xmlns:a="http://schemas.openxmlformats.org/drawingml/2006/main">
            <a:off x="609600" y="501015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63B46"/>
                </a:solidFill>
              </a:defRPr>
            </a:defPPr>
            <a:lvl1pPr>
              <a:defRPr sz="2475" b="1">
                <a:solidFill>
                  <a:srgbClr val="163B46"/>
                </a:solidFill>
              </a:defRPr>
            </a:lvl1pPr>
            <a:lvl2pPr>
              <a:defRPr sz="2475" b="1">
                <a:solidFill>
                  <a:srgbClr val="163B46"/>
                </a:solidFill>
              </a:defRPr>
            </a:lvl2pPr>
            <a:lvl3pPr>
              <a:defRPr sz="2475" b="1">
                <a:solidFill>
                  <a:srgbClr val="163B46"/>
                </a:solidFill>
              </a:defRPr>
            </a:lvl3pPr>
            <a:lvl4pPr>
              <a:defRPr sz="2475" b="1">
                <a:solidFill>
                  <a:srgbClr val="163B46"/>
                </a:solidFill>
              </a:defRPr>
            </a:lvl4pPr>
            <a:lvl5pPr>
              <a:defRPr sz="2475" b="1">
                <a:solidFill>
                  <a:srgbClr val="163B46"/>
                </a:solidFill>
              </a:defRPr>
            </a:lvl5pPr>
            <a:lvl6pPr>
              <a:defRPr sz="2475" b="1">
                <a:solidFill>
                  <a:srgbClr val="163B46"/>
                </a:solidFill>
              </a:defRPr>
            </a:lvl6pPr>
            <a:lvl7pPr>
              <a:defRPr sz="2475" b="1">
                <a:solidFill>
                  <a:srgbClr val="163B46"/>
                </a:solidFill>
              </a:defRPr>
            </a:lvl7pPr>
            <a:lvl8pPr>
              <a:defRPr sz="2475" b="1">
                <a:solidFill>
                  <a:srgbClr val="163B46"/>
                </a:solidFill>
              </a:defRPr>
            </a:lvl8pPr>
            <a:lvl9pPr>
              <a:defRPr sz="2475" b="1">
                <a:solidFill>
                  <a:srgbClr val="163B46"/>
                </a:solidFill>
              </a:defRPr>
            </a:lvl9pPr>
          </a:lstStyle>
          <a:p xmlns:a="http://schemas.openxmlformats.org/drawingml/2006/main">
            <a:pPr>
              <a:defRPr sz="2475" b="1">
                <a:solidFill>
                  <a:srgbClr val="163B46"/>
                </a:solidFill>
              </a:defRPr>
            </a:pPr>
            <a:r>
              <a:rPr sz="2475" b="1">
                <a:solidFill>
                  <a:srgbClr val="163B46"/>
                </a:solidFill>
              </a:rPr>
              <a:t>Professor Mohamed Radwan</a:t>
            </a:r>
          </a:p>
        </p:txBody>
      </p:sp>
      <p:sp>
        <p:nvSpPr>
          <p:cNvPr id="11" name="caption">
            <a:extLst xmlns:a="http://schemas.openxmlformats.org/drawingml/2006/main">
              <a:ext uri="{FF2B5EF4-FFF2-40B4-BE49-F238E27FC236}">
                <a16:creationId xmlns:a16="http://schemas.microsoft.com/office/drawing/2014/main" id="{5C19B032-C8D9-4736-841E-D57ECA094EDC}"/>
              </a:ext>
            </a:extLst>
          </p:cNvPr>
          <p:cNvSpPr>
            <a:spLocks xmlns:a="http://schemas.openxmlformats.org/drawingml/2006/main" noGrp="1"/>
          </p:cNvSpPr>
          <p:nvPr/>
        </p:nvSpPr>
        <p:spPr>
          <a:xfrm xmlns:a="http://schemas.openxmlformats.org/drawingml/2006/main">
            <a:off x="60960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8717B"/>
                </a:solidFill>
              </a:defRPr>
            </a:defPPr>
            <a:lvl1pPr>
              <a:defRPr sz="1800" b="0">
                <a:solidFill>
                  <a:srgbClr val="58717B"/>
                </a:solidFill>
              </a:defRPr>
            </a:lvl1pPr>
            <a:lvl2pPr>
              <a:defRPr sz="1800" b="0">
                <a:solidFill>
                  <a:srgbClr val="58717B"/>
                </a:solidFill>
              </a:defRPr>
            </a:lvl2pPr>
            <a:lvl3pPr>
              <a:defRPr sz="1800" b="0">
                <a:solidFill>
                  <a:srgbClr val="58717B"/>
                </a:solidFill>
              </a:defRPr>
            </a:lvl3pPr>
            <a:lvl4pPr>
              <a:defRPr sz="1800" b="0">
                <a:solidFill>
                  <a:srgbClr val="58717B"/>
                </a:solidFill>
              </a:defRPr>
            </a:lvl4pPr>
            <a:lvl5pPr>
              <a:defRPr sz="1800" b="0">
                <a:solidFill>
                  <a:srgbClr val="58717B"/>
                </a:solidFill>
              </a:defRPr>
            </a:lvl5pPr>
            <a:lvl6pPr>
              <a:defRPr sz="1800" b="0">
                <a:solidFill>
                  <a:srgbClr val="58717B"/>
                </a:solidFill>
              </a:defRPr>
            </a:lvl6pPr>
            <a:lvl7pPr>
              <a:defRPr sz="1800" b="0">
                <a:solidFill>
                  <a:srgbClr val="58717B"/>
                </a:solidFill>
              </a:defRPr>
            </a:lvl7pPr>
            <a:lvl8pPr>
              <a:defRPr sz="1800" b="0">
                <a:solidFill>
                  <a:srgbClr val="58717B"/>
                </a:solidFill>
              </a:defRPr>
            </a:lvl8pPr>
            <a:lvl9pPr>
              <a:defRPr sz="1800" b="0">
                <a:solidFill>
                  <a:srgbClr val="58717B"/>
                </a:solidFill>
              </a:defRPr>
            </a:lvl9pPr>
          </a:lstStyle>
          <a:p xmlns:a="http://schemas.openxmlformats.org/drawingml/2006/main">
            <a:pPr>
              <a:defRPr sz="1800" b="0">
                <a:solidFill>
                  <a:srgbClr val="58717B"/>
                </a:solidFill>
              </a:defRPr>
            </a:pPr>
            <a:r>
              <a:rPr sz="1800" b="0">
                <a:solidFill>
                  <a:srgbClr val="58717B"/>
                </a:solidFill>
              </a:rPr>
              <a:t>Agree the scope, the next deliverable and a follow-up date.</a:t>
            </a:r>
          </a:p>
        </p:txBody>
      </p:sp>
    </p:spTree>
    <p:extLst>
      <p:ext uri="{BB962C8B-B14F-4D97-AF65-F5344CB8AC3E}">
        <p14:creationId xmlns:p14="http://schemas.microsoft.com/office/powerpoint/2010/main" val="751481403"/>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nodeType="clickEffect">
                                  <p:stCondLst>
                                    <p:cond delay="0"/>
                                  </p:stCondLst>
                                  <p:childTnLst>
                                    <p:animMotion origin="layout" path="M 0.000000 0.000000 L 0.312500 0.000000 E" pathEditMode="relative" rAng="0">
                                      <p:cBhvr additive="base">
                                        <p:cTn id="6" dur="1200" fill="hold" accel="12000" decel="12000"/>
                                        <p:tgtEl>
                                          <p:spTgt spid="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fill="hold" nodeType="clickEffect">
                                  <p:stCondLst>
                                    <p:cond delay="0"/>
                                  </p:stCondLst>
                                  <p:childTnLst>
                                    <p:animMotion origin="layout" path="M 0.312500 0.000000 L 0.625000 0.000000 E" pathEditMode="relative" rAng="0">
                                      <p:cBhvr additive="base">
                                        <p:cTn id="10" dur="1200" fill="hold" accel="12000" decel="12000"/>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2026-10-23T23:06:58.9610000Z</dcterms:created>
  <dcterms:modified xsi:type="dcterms:W3CDTF">2026-10-23T23:06:58.9610000Z</dcterms:modified>
</coreProperties>
</file>