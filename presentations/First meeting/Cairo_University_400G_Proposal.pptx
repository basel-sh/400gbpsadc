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1eda3cf2b54709" /><Relationship Type="http://schemas.openxmlformats.org/officeDocument/2006/relationships/extended-properties" Target="/docProps/app.xml" Id="R6a953b46a8924395" /><Relationship Type="http://schemas.openxmlformats.org/officeDocument/2006/relationships/officeDocument" Target="/ppt/presentation.xml" Id="Rc5a29aa5e5ea4b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bb760f7e22d467d"/>
  </p:sldMasterIdLst>
  <p:notesMasterIdLst>
    <p:notesMasterId xmlns:r="http://schemas.openxmlformats.org/officeDocument/2006/relationships" r:id="Rc538054328194c47"/>
  </p:notesMasterIdLst>
  <p:sldIdLst>
    <p:sldId xmlns:r="http://schemas.openxmlformats.org/officeDocument/2006/relationships" id="256" r:id="Rea4cb2e1dd454221"/>
    <p:sldId xmlns:r="http://schemas.openxmlformats.org/officeDocument/2006/relationships" id="257" r:id="R1332d2e0674b4929"/>
    <p:sldId xmlns:r="http://schemas.openxmlformats.org/officeDocument/2006/relationships" id="258" r:id="Rcae676b203154aab"/>
    <p:sldId xmlns:r="http://schemas.openxmlformats.org/officeDocument/2006/relationships" id="259" r:id="R2b3b615680164f20"/>
    <p:sldId xmlns:r="http://schemas.openxmlformats.org/officeDocument/2006/relationships" id="260" r:id="R3c82c3bdefd74f89"/>
    <p:sldId xmlns:r="http://schemas.openxmlformats.org/officeDocument/2006/relationships" id="261" r:id="R31f59f855a6e4fc8"/>
    <p:sldId xmlns:r="http://schemas.openxmlformats.org/officeDocument/2006/relationships" id="262" r:id="Rb0a2fe0acef845db"/>
    <p:sldId xmlns:r="http://schemas.openxmlformats.org/officeDocument/2006/relationships" id="263" r:id="R9876d2b56d0f42c3"/>
    <p:sldId xmlns:r="http://schemas.openxmlformats.org/officeDocument/2006/relationships" id="264" r:id="R46f725e32bb94a66"/>
    <p:sldId xmlns:r="http://schemas.openxmlformats.org/officeDocument/2006/relationships" id="265" r:id="R199f77aed01a4b9b"/>
    <p:sldId xmlns:r="http://schemas.openxmlformats.org/officeDocument/2006/relationships" id="266" r:id="R0002151085744e1f"/>
    <p:sldId xmlns:r="http://schemas.openxmlformats.org/officeDocument/2006/relationships" id="267" r:id="R75bbbd375a9d4b43"/>
    <p:sldId xmlns:r="http://schemas.openxmlformats.org/officeDocument/2006/relationships" id="268" r:id="Rd85900b226af434a"/>
    <p:sldId xmlns:r="http://schemas.openxmlformats.org/officeDocument/2006/relationships" id="269" r:id="R6054fa284f784d27"/>
    <p:sldId xmlns:r="http://schemas.openxmlformats.org/officeDocument/2006/relationships" id="270" r:id="Re61ec4d413104d7b"/>
    <p:sldId xmlns:r="http://schemas.openxmlformats.org/officeDocument/2006/relationships" id="271" r:id="R306b7e970f2549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f79044cc0345c4" /><Relationship Type="http://schemas.openxmlformats.org/officeDocument/2006/relationships/slideMaster" Target="/ppt/slideMasters/slideMaster1.xml" Id="R1bb760f7e22d467d" /><Relationship Type="http://schemas.openxmlformats.org/officeDocument/2006/relationships/notesMaster" Target="/ppt/notesMasters/notesMaster1.xml" Id="Rc538054328194c47" /><Relationship Type="http://schemas.openxmlformats.org/officeDocument/2006/relationships/presProps" Target="/ppt/presProps.xml" Id="R769a532ca5484710" /><Relationship Type="http://schemas.openxmlformats.org/officeDocument/2006/relationships/tableStyles" Target="/ppt/tableStyles.xml" Id="R73b098ac34314d7d" /><Relationship Type="http://schemas.openxmlformats.org/officeDocument/2006/relationships/slide" Target="/ppt/slides/slide1.xml" Id="Rea4cb2e1dd454221" /><Relationship Type="http://schemas.openxmlformats.org/officeDocument/2006/relationships/slide" Target="/ppt/slides/slide2.xml" Id="R1332d2e0674b4929" /><Relationship Type="http://schemas.openxmlformats.org/officeDocument/2006/relationships/slide" Target="/ppt/slides/slide3.xml" Id="Rcae676b203154aab" /><Relationship Type="http://schemas.openxmlformats.org/officeDocument/2006/relationships/slide" Target="/ppt/slides/slide4.xml" Id="R2b3b615680164f20" /><Relationship Type="http://schemas.openxmlformats.org/officeDocument/2006/relationships/slide" Target="/ppt/slides/slide5.xml" Id="R3c82c3bdefd74f89" /><Relationship Type="http://schemas.openxmlformats.org/officeDocument/2006/relationships/slide" Target="/ppt/slides/slide6.xml" Id="R31f59f855a6e4fc8" /><Relationship Type="http://schemas.openxmlformats.org/officeDocument/2006/relationships/slide" Target="/ppt/slides/slide7.xml" Id="Rb0a2fe0acef845db" /><Relationship Type="http://schemas.openxmlformats.org/officeDocument/2006/relationships/slide" Target="/ppt/slides/slide8.xml" Id="R9876d2b56d0f42c3" /><Relationship Type="http://schemas.openxmlformats.org/officeDocument/2006/relationships/slide" Target="/ppt/slides/slide9.xml" Id="R46f725e32bb94a66" /><Relationship Type="http://schemas.openxmlformats.org/officeDocument/2006/relationships/slide" Target="/ppt/slides/slide10.xml" Id="R199f77aed01a4b9b" /><Relationship Type="http://schemas.openxmlformats.org/officeDocument/2006/relationships/slide" Target="/ppt/slides/slide11.xml" Id="R0002151085744e1f" /><Relationship Type="http://schemas.openxmlformats.org/officeDocument/2006/relationships/slide" Target="/ppt/slides/slide12.xml" Id="R75bbbd375a9d4b43" /><Relationship Type="http://schemas.openxmlformats.org/officeDocument/2006/relationships/slide" Target="/ppt/slides/slide13.xml" Id="Rd85900b226af434a" /><Relationship Type="http://schemas.openxmlformats.org/officeDocument/2006/relationships/slide" Target="/ppt/slides/slide14.xml" Id="R6054fa284f784d27" /><Relationship Type="http://schemas.openxmlformats.org/officeDocument/2006/relationships/slide" Target="/ppt/slides/slide15.xml" Id="Re61ec4d413104d7b" /><Relationship Type="http://schemas.openxmlformats.org/officeDocument/2006/relationships/slide" Target="/ppt/slides/slide16.xml" Id="R306b7e970f2549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9b36b594b749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aec6d57b22499d" /><Relationship Type="http://schemas.openxmlformats.org/officeDocument/2006/relationships/notesMaster" Target="/ppt/notesMasters/notesMaster1.xml" Id="R35a9049ad46b41e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211a5ad474432e" /><Relationship Type="http://schemas.openxmlformats.org/officeDocument/2006/relationships/notesMaster" Target="/ppt/notesMasters/notesMaster1.xml" Id="R95eb3f8993b94b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552c6ac0fbd40e2" /><Relationship Type="http://schemas.openxmlformats.org/officeDocument/2006/relationships/notesMaster" Target="/ppt/notesMasters/notesMaster1.xml" Id="Rb506f41f092c48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0eac3ab7de4ae3" /><Relationship Type="http://schemas.openxmlformats.org/officeDocument/2006/relationships/notesMaster" Target="/ppt/notesMasters/notesMaster1.xml" Id="Rc5b665ac9b254e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9174f231f24fac" /><Relationship Type="http://schemas.openxmlformats.org/officeDocument/2006/relationships/notesMaster" Target="/ppt/notesMasters/notesMaster1.xml" Id="R77f9d222b3c942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1c8da23046497d" /><Relationship Type="http://schemas.openxmlformats.org/officeDocument/2006/relationships/notesMaster" Target="/ppt/notesMasters/notesMaster1.xml" Id="R75ed5cb2e3df48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ce86c63e48e4f72" /><Relationship Type="http://schemas.openxmlformats.org/officeDocument/2006/relationships/notesMaster" Target="/ppt/notesMasters/notesMaster1.xml" Id="R38c7e3c5fd084f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d86c094d334b85" /><Relationship Type="http://schemas.openxmlformats.org/officeDocument/2006/relationships/notesMaster" Target="/ppt/notesMasters/notesMaster1.xml" Id="R9bf2272c59fc49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96a69fbc2a46ab" /><Relationship Type="http://schemas.openxmlformats.org/officeDocument/2006/relationships/notesMaster" Target="/ppt/notesMasters/notesMaster1.xml" Id="R286cc1ee72e54e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869c64439449c7" /><Relationship Type="http://schemas.openxmlformats.org/officeDocument/2006/relationships/notesMaster" Target="/ppt/notesMasters/notesMaster1.xml" Id="R4f4a69494ae24f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a7af45cbf2c480c" /><Relationship Type="http://schemas.openxmlformats.org/officeDocument/2006/relationships/notesMaster" Target="/ppt/notesMasters/notesMaster1.xml" Id="Rebedd47ae05a4c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6b7db748d84a21" /><Relationship Type="http://schemas.openxmlformats.org/officeDocument/2006/relationships/notesMaster" Target="/ppt/notesMasters/notesMaster1.xml" Id="Raf07b84a5dff44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0d814fc744454f" /><Relationship Type="http://schemas.openxmlformats.org/officeDocument/2006/relationships/notesMaster" Target="/ppt/notesMasters/notesMaster1.xml" Id="R8fcdc06ee5ad4e1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db2571d1f234b52" /><Relationship Type="http://schemas.openxmlformats.org/officeDocument/2006/relationships/notesMaster" Target="/ppt/notesMasters/notesMaster1.xml" Id="Re534674df097479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d32f61b73e046cc" /><Relationship Type="http://schemas.openxmlformats.org/officeDocument/2006/relationships/notesMaster" Target="/ppt/notesMasters/notesMaster1.xml" Id="R06fea9d02af2464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3e74517b5934533" /><Relationship Type="http://schemas.openxmlformats.org/officeDocument/2006/relationships/notesMaster" Target="/ppt/notesMasters/notesMaster1.xml" Id="R3c68ab153bb64a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Present the research question: can a paper-inspired MIMO-OFDM link be upgraded from about 224 to 400 Gb/s per lane with defensible converter, channel and clock requirements?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Team names were not provided. Workstream roles below are proposed responsibilities, not assigned individuals. Each workstream should be coordinated by students with professor supervision.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Real OFDM uses Hermitian symmetry: 511 positive-frequency data tones with FFT1024. Two modeled lanes. Digital equalization estimates the channel matrix, including far-end crosstalk (FEXT). No FEC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224 result: docs/friend_channel_reproduction.md. Three seeds31,53,79, 5600 symbols per lane per seed, pooled103017600 bits; L1000. Paper targets from specs/224G_paper_specs.md. Current friend entry injects1.8mV noise after VGA; 400G verification puts noise before VGA. Imported channel has weaker FEXT than paper. Comparison therefore does not establish paper replication.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R=Nused*log2(M)*Fs/(NFFT+NCP). 511 tones, FFT1024, CP8. Rates are gross per lane, before training and FEC. Fs requirement for64QAM400 is134.637964774951GS/s.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Starting values are paper/current scalar budgets, not a circuit specification equivalence. Candidate synthetic channel loss anchor5dB@40GHz; full assumed frequency response matters. Absolute jitter22.28199fs for each independent TX/RX timing process. Ideal8-bit quantizers do not determine required real ENOB. Full scales1.0/.5Vpp remain unchanged. TX loading changes from-10.5..0 to-3.5..0dB; CHEST L200 in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Screening data, seed401,1000 symbols/lane: BER original.0929705;9-bit-only.0901869;9bit pluslowloss5dB/matchedloading.00126288; lower noise.3mV .00059214; lowerjitter22.28fs gives zero observed in shortscreen. Finalcandidate8bit independently confirmed. Do not imply sequentialhardwareprototype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Native editable chart shows BER statistic divided by paper comparison target2.4e-6.64QAM value is NOMINAL one-sided95% upper bound2.907981e-8, not observed BER;256 values are observed point estimates3.5236697e-6 and2.7737979e-6. Target series1. 64QAM zeroerrors103017600bits/17169600symbols.3seeds4314574795600dataOFDM/lane. Nominal bounds assumeindependentBernoullidecisions;OFDMcorrelation/modelerrornotbounded. NominalSERupper1.744788e-7 below1.4e-5. 256 rows fail both BER/SER comparisons.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256QAMstandard9idealbits,5dBanchor,.3mV,22.282fs;lowernoisevariant.1mV10fs. Pooled standardSER2.818936e-5 lower2.219038e-5. Both failpapercomparisons. Proposed choice subjectto professor approval.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Primary reference: https://www.imec-int.com/en/press/imec-unveils-7-bit-175gss-massively-time-interleaved-slope-adc-pairing-record-small-footprint (17Feb2026),5nmFinFET nominal7-bit175GS/s ADC. This establishes a public sampling-speed reference only: no claim its ENOB,inputbandwidth,jitter,swing orpower meetthiscandidate. NominalbitsvsENOB reference https://www.analog.com/en/resources/technical-articles/defining-and-testing-dynamic-parameters-in-highspeed-adcs-part-1.html. No PDK/circuit library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Currentphase1isbehavioralmodeling/planning;candidateverificationcompletedconditionally,paperreproductionopen. Workplan proposed without claimingapprovedduration,budget,tapeoutorfabrication. Circuitphase needs PDKaccess andsupervisorapproval;siliconmeasurementonlyiffabricationavailable.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RealcomplexTHRU/FEXTcoverageatleast67.319GHzplusmarginrequired for64QAM;friendchannelmax50GHzinsufficient. Model jitter uses first-order spectral_linear derivative;validate broaderclockimpairments/aperture/phase noise. ADC inputnoisebeforeVGA. Additional independent runs and parameter/PVTsweeps, per-lane metrics required. No actualPDK,transistor circuit,layout,area/power validation exists.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Approvalrequestisforresearchplan,notclaimofcircuitverified400G. Clarify perlanegrossvspayloadfirst; no FECimplemented. Keepfixedpaperclipping12.6/13.4. Approve64QAMasprimary400candidate,availablePDKandchanneldata, feasibleprojectresources/deliverables.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Illustration only: two trainingOFDMsymbolsafter200datasymbols andFECrate.94,neitherverifiedFEC norfixedtrainingschedule.400*200/202=396.0396beforeFEC;times.94=372.2772payload. Toobtain400payloadsame assumptions64Fs144.664GS/s requiresnewlinkrun.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evidence: docs/400G_verification_for_doctor.md; results/400G_verification/pooled.csv, screening.csv, confirmation.csv. Results completed 8 October 2026, MATLAB R2026b. Research proposal: no silicon implementation claimed.</a:t>
            </a:r>
          </a:p>
          <a:p xmlns:a="http://schemas.openxmlformats.org/drawingml/2006/main">
            <a:r>
              <a:t>Paper: G.Kim, Far-EndCrosstalkCancellationWithMIMOOFDMfor&gt;200Gb/sADC-BasedSerialLinks, IEEE TCAS-II70(1),81–85,Jan2023. G.Kim, DesignSpaceExplorationofSingle-LaneOFDM-BasedSerialLinksforHigh-SpeedWirelineCommunications,IEEEOpenJCircuitsSyst3,134–146,2022. LocalPDFsroot. MATLABsourcesrun_400G_verification.m;run_400G_cp_verification.m;run_400G_training_verification.m;validate_phase1.m. Current224docs/friend_channel_reproduction.md.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65df11adc84f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449dbe7d2b49f3" /><Relationship Type="http://schemas.openxmlformats.org/officeDocument/2006/relationships/slideLayout" Target="/ppt/slideLayouts/slideLayout1.xml" Id="R4018cfe018be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18cfe018be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3f9e1a1374e25" /><Relationship Type="http://schemas.openxmlformats.org/officeDocument/2006/relationships/notesSlide" Target="/ppt/notesSlides/notesSlide1.xml" Id="Ra88647f8e57a47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ecb665a5a41c3" /><Relationship Type="http://schemas.openxmlformats.org/officeDocument/2006/relationships/notesSlide" Target="/ppt/notesSlides/notesSlide2.xml" Id="R73b0da990df344f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6454d000744cee" /><Relationship Type="http://schemas.openxmlformats.org/officeDocument/2006/relationships/notesSlide" Target="/ppt/notesSlides/notesSlide3.xml" Id="Rcf805c77c45d43e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66be045d543e8" /><Relationship Type="http://schemas.openxmlformats.org/officeDocument/2006/relationships/notesSlide" Target="/ppt/notesSlides/notesSlide4.xml" Id="R13cb1ef04c6849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92650b1714a0f" /><Relationship Type="http://schemas.openxmlformats.org/officeDocument/2006/relationships/notesSlide" Target="/ppt/notesSlides/notesSlide5.xml" Id="Re94a1f83bc5147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ab2ce9ac84f85" /><Relationship Type="http://schemas.openxmlformats.org/officeDocument/2006/relationships/notesSlide" Target="/ppt/notesSlides/notesSlide6.xml" Id="Re211b90dd20443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8c46dd5a4b35" /><Relationship Type="http://schemas.openxmlformats.org/officeDocument/2006/relationships/notesSlide" Target="/ppt/notesSlides/notesSlide7.xml" Id="R1c449f25c87148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404c37ee64299" /><Relationship Type="http://schemas.openxmlformats.org/officeDocument/2006/relationships/notesSlide" Target="/ppt/notesSlides/notesSlide8.xml" Id="R1eeda82bd7e541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04d059a6e4f74" /><Relationship Type="http://schemas.openxmlformats.org/officeDocument/2006/relationships/chart" Target="/ppt/slides/charts/chart1.xml" Id="R341c8f5a61604930" /><Relationship Type="http://schemas.openxmlformats.org/officeDocument/2006/relationships/notesSlide" Target="/ppt/notesSlides/notesSlide9.xml" Id="R8e6427f252e040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4d8505c0e4684" /><Relationship Type="http://schemas.openxmlformats.org/officeDocument/2006/relationships/notesSlide" Target="/ppt/notesSlides/notesSlide10.xml" Id="R52562de083b84c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ae06faa4344c3" /><Relationship Type="http://schemas.openxmlformats.org/officeDocument/2006/relationships/notesSlide" Target="/ppt/notesSlides/notesSlide11.xml" Id="Rd56e146ec8c14e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ab0f20a1f494c" /><Relationship Type="http://schemas.openxmlformats.org/officeDocument/2006/relationships/notesSlide" Target="/ppt/notesSlides/notesSlide12.xml" Id="Rb2a8dcc55c2d4b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0cca33fd14b2b" /><Relationship Type="http://schemas.openxmlformats.org/officeDocument/2006/relationships/notesSlide" Target="/ppt/notesSlides/notesSlide13.xml" Id="Rabcf2f30c49a4b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e941b21454cc1" /><Relationship Type="http://schemas.openxmlformats.org/officeDocument/2006/relationships/notesSlide" Target="/ppt/notesSlides/notesSlide14.xml" Id="R99331a851a214ca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77148eae24a47" /><Relationship Type="http://schemas.openxmlformats.org/officeDocument/2006/relationships/notesSlide" Target="/ppt/notesSlides/notesSlide15.xml" Id="Re12f3ce80f504a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96edcbaad64313" /><Relationship Type="http://schemas.openxmlformats.org/officeDocument/2006/relationships/notesSlide" Target="/ppt/notesSlides/notesSlide16.xml" Id="R81e0256587d249c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BER statistic / target</c:v>
          </c:tx>
          <c:spPr>
            <a:solidFill xmlns:a="http://schemas.openxmlformats.org/drawingml/2006/main">
              <a:srgbClr val="007F84"/>
            </a:solidFill>
          </c:spPr>
          <c:cat>
            <c:strRef>
              <c:f>'Chart Data'!$A$2:$A$4</c:f>
              <c:strCache>
                <c:ptCount val="3"/>
                <c:pt idx="0">
                  <c:v>64-QAM bound</c:v>
                </c:pt>
                <c:pt idx="1">
                  <c:v>256-QAM</c:v>
                </c:pt>
                <c:pt idx="2">
                  <c:v>256-QAM lower noise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0.0121165875</c:v>
                </c:pt>
                <c:pt idx="1">
                  <c:v>1.4681957258</c:v>
                </c:pt>
                <c:pt idx="2">
                  <c:v>1.1557491147</c:v>
                </c:pt>
              </c:numCache>
            </c:numRef>
          </c:val>
        </c:ser>
        <c:ser>
          <c:idx val="1"/>
          <c:order val="1"/>
          <c:tx>
            <c:v>Comparison threshold</c:v>
          </c:tx>
          <c:spPr>
            <a:solidFill xmlns:a="http://schemas.openxmlformats.org/drawingml/2006/main">
              <a:srgbClr val="B9C7CE"/>
            </a:solidFill>
          </c:spPr>
          <c:cat>
            <c:strRef>
              <c:f>'Chart Data'!$C$2:$C$4</c:f>
              <c:strCache>
                <c:ptCount val="3"/>
                <c:pt idx="0">
                  <c:v>64-QAM bound</c:v>
                </c:pt>
                <c:pt idx="1">
                  <c:v>256-QAM</c:v>
                </c:pt>
                <c:pt idx="2">
                  <c:v>256-QAM lower noise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5F7F4-85B4-477E-93D4-442A6716C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Toward a 400 Gb/s serial link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19C4A2-700E-424B-9825-F87E9F24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Project proposal • Cairo University, Faculty of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8F86A-F0CC-4C65-ACF1-9D0BB143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871CCE-B167-4316-B28D-1A5A2D886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94C816-5530-42A1-BA0F-C2E143A7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Model first. Verify the budgets.</a:t>
            </a:r>
          </a:p>
          <a:p xmlns:a="http://schemas.openxmlformats.org/drawingml/2006/main">
            <a:pPr>
              <a:defRPr sz="405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Then design the hardware.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3B017-0350-4EC8-8F10-816EED80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001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Student team: [add names]</a:t>
            </a:r>
          </a:p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Professor / supervisor: [add name]</a:t>
            </a:r>
          </a:p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8 October 2026</a:t>
            </a:r>
          </a:p>
        </p:txBody>
      </p:sp>
    </p:spTree>
    <p:extLst>
      <p:ext uri="{BB962C8B-B14F-4D97-AF65-F5344CB8AC3E}">
        <p14:creationId xmlns:p14="http://schemas.microsoft.com/office/powerpoint/2010/main" val="6342774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61C4CE-7080-4989-B758-2B36683D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Our team and the proposed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5704AF-31A2-4F48-A448-0796A11A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A student research project spanning communications, circuits and digital design.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62EC21-F949-454E-BCA7-98D757B2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D72D71-BC9B-435F-88E5-7851579A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2955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Workstream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responsibility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Communication modeling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MATLAB link, BER/SER, channel and FEXT cancellation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Analog / converter design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ADC/DAC, clock, noise and process feasibility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Digital implementation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Fixed-point OFDM, MIMO equalization and RTL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System integration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Co-simulation, power/area estimates and final 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6D89A-F25D-49B5-94E7-CBD5E77B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Team members and role allocation: [to be completed by the team]</a:t>
            </a:r>
          </a:p>
        </p:txBody>
      </p:sp>
    </p:spTree>
    <p:extLst>
      <p:ext uri="{BB962C8B-B14F-4D97-AF65-F5344CB8AC3E}">
        <p14:creationId xmlns:p14="http://schemas.microsoft.com/office/powerpoint/2010/main" val="7030102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166B7-0D75-4003-9464-F87F7B71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The research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887E13-0886-4AAB-BD2C-D2D2E78F8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Can we reach 400 Gb/s per lane with realistic hardware constraints?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5F571-EEE7-48B1-912A-68608240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622C2-B05E-4986-BF22-4FEFE2AE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04C1A-EEBA-46D8-ACD2-5EE767F5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1  Understand and audit the published 224G architecture.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325694-AB10-4172-A47F-76B4460F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2  Use MATLAB to identify a conditional 400G operating point.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E440E0-5370-4EFE-AE31-8D1C5058F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3  Replace ideal assumptions with measured and circuit-level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D7144-080D-4EB7-A87A-352D8D2E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4  Implement the feasible design after the professor approves its scope.</a:t>
            </a:r>
          </a:p>
        </p:txBody>
      </p:sp>
    </p:spTree>
    <p:extLst>
      <p:ext uri="{BB962C8B-B14F-4D97-AF65-F5344CB8AC3E}">
        <p14:creationId xmlns:p14="http://schemas.microsoft.com/office/powerpoint/2010/main" val="277911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C08902-A018-4AC2-9AFF-5CE39656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How the link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ECD20-6F66-4A64-BDFF-7B0EEAF5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OFDM divides the signal into many tones; MIMO processing cancels lane-to-lane crosstalk.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5B6544-CDD1-49D9-905D-45DAB2F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4948F4-BEAF-4E34-88F3-EFD78DC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401050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Transmitter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QAM symbols → OFDM / IFFT → cyclic prefix → DAC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Interconnect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Main signal path plus far-end crosstalk between lanes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Receiver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ADC → FFT → channel estimation → MIMO equalization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Recovered symbols → symbol and bit error measurements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DD1BF6-904F-49BF-9A09-7AB6977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Current phase: behavioral modeling and feasibility planning.</a:t>
            </a:r>
          </a:p>
        </p:txBody>
      </p:sp>
    </p:spTree>
    <p:extLst>
      <p:ext uri="{BB962C8B-B14F-4D97-AF65-F5344CB8AC3E}">
        <p14:creationId xmlns:p14="http://schemas.microsoft.com/office/powerpoint/2010/main" val="1142816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7C146-73D3-462B-A9CD-71F8B9C6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224G: rate established; paper accuracy still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D2D934-EA5E-4196-B573-5C7A1864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current model is not yet a full reproduction of the paper’s error performance.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CD410F-9879-4F7D-A829-3EC24057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AF42C9-7CB6-4F73-B486-961FFBDE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629025"/>
                <a:gridCol w="3629025"/>
              </a:tblGrid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Metric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224G model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Paper comparison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Gross rate / lane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223.563 Gb/s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224 Gb/s (rounded)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SER with cancellation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7.432 × 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1.4 × 10⁻⁵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Pre-FEC BER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1.239 × 10⁻⁵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2.4 × 10⁻⁶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6381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DAC / ADC clipping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12.6 / 13.4 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12.6 / 13.4 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83A60-4C37-48B9-B0C0-92BD9DA8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Channel / FEXT and noise placement differ. Closing this gap is a project task.</a:t>
            </a:r>
          </a:p>
        </p:txBody>
      </p:sp>
    </p:spTree>
    <p:extLst>
      <p:ext uri="{BB962C8B-B14F-4D97-AF65-F5344CB8AC3E}">
        <p14:creationId xmlns:p14="http://schemas.microsoft.com/office/powerpoint/2010/main" val="2127328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70DFC1-2CBD-48A5-BFB0-5E4F09749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The equation that sets the data 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500B9-DDD3-407C-B162-B98AC61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400G comes from the symbol rate and bit loading; BER tells us whether the data survives.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8E385-B89C-41D0-81CA-620C515D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EB334-7E40-4F31-903C-2D93AF86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37D56-E992-44AA-9AE3-6F64A8B0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R = Nused × log₂(M) × Fs / (NFFT + NCP)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952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581400"/>
                <a:gridCol w="35814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224G starting point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400G proposal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FFT / cyclic prefix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1024 / 8 samples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1024 / 8 samples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Data tones / modulation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511 / 64-QAM (6 bits)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511 / 64-QAM (6 bits)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DAC / ADC sample rate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75.25 GS/s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134.638 GS/s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Calculated gross 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223.563 Gb/s / lane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400.000 Gb/s / lane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61043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10007-BB8C-42D7-B150-47C0584C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What must improve to support 400G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41EDF5-C816-4CD6-80A8-2D4C2E1D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These budgets worked together in the model; they are not proven minimum hardware specifications.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12D90B-4028-47DB-BD9D-336FD33E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222A9-EAEF-4B92-96B2-FA13857D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431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3629025"/>
                <a:gridCol w="3629025"/>
              </a:tblGrid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Requirement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Starting scalar budget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Tested 400G candidate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Sampling / Nyquist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75.25 GS/s / 37.625 GHz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134.638 GS/s / 67.319 GHz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Ideal ADC / DAC bits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7 / 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8 / 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Channel loss at 40 GHz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23 dB (synthetic anchor)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5 dB (synthetic anchor)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RX noise before VGA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1.8 mV RMS budget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0.3 mV RMS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Jitter per TX / RX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132.89 fs RMS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22.282 fs RMS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55171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DAC / ADC clipping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12.6 / 13.4 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12.6 / 13.4 dB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90689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094A-7126-48D5-B07B-7C80927C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Raising the sample rate alone fails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BDDBF-BFA1-4315-A79E-6EC7B9C5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A better converter alone is insufficient: channel loss, noise and jitter must improve together.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03A32-F3B8-4212-AD77-885514FE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4E25D-9F17-4081-B602-14541507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09775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15300"/>
                <a:gridCol w="2857500"/>
              </a:tblGrid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400G screening change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Measured model BER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Original scalar budgets at the higher rate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9.297 × 10⁻²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Only raise ideal converter resolution to 9 bits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9.019 × 10⁻²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Also reduce channel loss and match TX loading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1.263 × 10⁻³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Also reduce input noise to 0.3 mV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5.921 × 10⁻⁴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Also reduce jitter to 22.282 fs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0 observed in screening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B101E-8ED7-4266-BB06-594A117A9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Screening identifies bottlenecks. Independent long runs confirm the selected candidate.</a:t>
            </a:r>
          </a:p>
        </p:txBody>
      </p:sp>
    </p:spTree>
    <p:extLst>
      <p:ext uri="{BB962C8B-B14F-4D97-AF65-F5344CB8AC3E}">
        <p14:creationId xmlns:p14="http://schemas.microsoft.com/office/powerpoint/2010/main" val="13176281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7AB88-8686-44D3-9C1F-08FA4B5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400G: a conditional model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F000F6-6F54-4C2E-B97B-775B1D54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Three independent runs confirm the 64-QAM candidate; 256-QAM needs further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E96E2E-3DA2-4616-9434-1FB7D15D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E73D9-D2E3-4CD5-8F88-17E4B2E0B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704850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41c8f5a6160493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8FA07-DE6C-4ADD-AC0E-4D3A667B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81225"/>
            <a:ext cx="3429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64-QAM: 0 observed errors</a:t>
            </a:r>
          </a:p>
          <a:p xmlns:a="http://schemas.openxmlformats.org/drawingml/2006/main">
            <a:pPr>
              <a:defRPr sz="20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103 million tested bits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Nominal 95% BER bound:</a:t>
            </a:r>
          </a:p>
          <a:p xmlns:a="http://schemas.openxmlformats.org/drawingml/2006/main">
            <a:pPr>
              <a:defRPr sz="20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2.908 × 10⁻⁸</a:t>
            </a:r>
          </a:p>
          <a:p xmlns:a="http://schemas.openxmlformats.org/drawingml/2006/main">
            <a:pPr>
              <a:defRPr sz="20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Paper BER: 2.4 × 10⁻⁶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1337A-1D14-4D7F-87B7-654F67902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Conditional on synthetic channel and ideal converters. Zero observed errors ≠ zero true BER.</a:t>
            </a:r>
          </a:p>
          <a:p xmlns:a="http://schemas.openxmlformats.org/drawingml/2006/main">
            <a:pPr>
              <a:defRPr sz="17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The nominal confidence bound does not cover physical model uncertainty.</a:t>
            </a:r>
          </a:p>
        </p:txBody>
      </p:sp>
    </p:spTree>
    <p:extLst>
      <p:ext uri="{BB962C8B-B14F-4D97-AF65-F5344CB8AC3E}">
        <p14:creationId xmlns:p14="http://schemas.microsoft.com/office/powerpoint/2010/main" val="16169446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C50F4-D9F8-4217-96A9-39E19EC8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Which modulation should we pursue?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9C8C61-2CF7-4F86-A4A4-CB456CE81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Prioritize 64-QAM for the next validation phase; keep 256-QAM as an alternative.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7E1E3-519C-4D41-B946-9144508A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8E365A-92AD-4F9B-839A-878BD1EC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47875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3867150"/>
                <a:gridCol w="38671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64-QAM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256-QAM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Sample rate for 400G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134.638 GS/s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100.978 GS/s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Nyquist coverage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67.319 GHz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50.489 GHz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Ideal converter resolution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8 bits tested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9 bits tested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Independent model result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Conditional 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Comparison targets not met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Main challenge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Bandwidth, converter and clock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Tighter symbol separation / SNR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B6A80-1793-445D-A666-784E48FF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The tradeoff: lower modulation order needs more bandwidth; higher order needs cleaner signals.</a:t>
            </a:r>
          </a:p>
        </p:txBody>
      </p:sp>
    </p:spTree>
    <p:extLst>
      <p:ext uri="{BB962C8B-B14F-4D97-AF65-F5344CB8AC3E}">
        <p14:creationId xmlns:p14="http://schemas.microsoft.com/office/powerpoint/2010/main" val="4227876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A8A2C3-63F9-4AFA-BD2E-BC3A676B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Can smaller transistors make this physical?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02379-C6F5-4B39-968F-D6A95E79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A smaller CMOS node may support integration and speed; it does not guarantee the link budgets.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86430C-8326-40D1-81BF-490DBDC8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06C77-F9C9-4527-8E00-B4889178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203B7-201D-4DC6-BF09-5E3F3046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Public speed reference: imec reported a 175 GS/s, 7-bit ADC in 5 nm.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71439-8875-4F76-831C-8037D83F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Our model uses ideal 8-bit converters: real ENOB / SNDR must be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3D5214-1078-4632-99B0-A0934DAA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We need a PDK, analog bandwidth, clock and noise evidence before choosing a node.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2B327-081F-41D5-BBC7-CB66CEA90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Lower channel loss requires an interconnect improvement as well.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EF57E-7A2A-4B28-80F5-9232225C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Reference: imec, 17 February 2026 • full source and limitations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683189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71B01-EF52-4A9A-8AD7-830F1BAC2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Our plan for the whole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1F3EBB-B19E-424F-8C78-5C6B1396B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Proceed through evidence gates; each phase produces a reviewable deliverable.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4D32FA-7CFF-4CB5-ABBE-C69A9281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EFF76-8736-46EA-9FEC-4C33E432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109728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05050"/>
                <a:gridCol w="4714875"/>
                <a:gridCol w="3952875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Phase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Work and deliverable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 to the next phase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1 • Model and understand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Paper audit; 224G baseline; 400G budget report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Reproducible baseline and agreed targets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2 • Validate the link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Measured channel; converter, clock and noise models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Robust BER / SER with realistic impairments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3 • Design the hardware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AFE / ADC / DAC feasibility; fixed-point DSP / RTL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PVT, timing, power and area evidence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7239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4 • Integrate and evaluate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Circuit–DSP co-simulation; prototype if 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End-to-end result and documented limitations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1020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CF3731-C523-41E2-89CF-C881DF137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What we need to verify next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0C547-7B39-4A07-A25D-BD17B059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Focus effort on the assumptions that can overturn the 400G result.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41427E-2B44-4425-AD6B-6D7D7EF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824A9-2952-4D35-9C44-DBDACE67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63528-EB45-4FE4-9911-13BC19B8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Channel: measured THRU / FEXT, reach, material and connector response.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48807-DC1D-4B8B-AE79-40F3F9C6F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Converters and clock: ENOB vs frequency, noise, jitter and interleaving mismatch.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968B-720D-427F-B971-C6489D4C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Digital chain: fixed-point errors, parallel throughput, timing, power and area.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48F3E-2E66-492E-8AE5-688DB804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System reliability: independent seeds, PVT corners, training and FEC overhead.</a:t>
            </a:r>
          </a:p>
        </p:txBody>
      </p:sp>
    </p:spTree>
    <p:extLst>
      <p:ext uri="{BB962C8B-B14F-4D97-AF65-F5344CB8AC3E}">
        <p14:creationId xmlns:p14="http://schemas.microsoft.com/office/powerpoint/2010/main" val="9011817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7935F-5759-4201-B3AC-C5A3A346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Decisions requested from the professor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660AC-4008-4D96-8BF8-77F47AFA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Approve the research scope and the next validation phase.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3320DD-5C57-4FF5-81D9-5006C42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B6312-4D58-46FF-873F-89BE6C86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AE513-414A-4CDC-B32D-A4068A51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97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Agree on the target: 400 Gb/s per lane, gross rate or useful payload?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11B0AA-14F9-452C-90E9-0CAA0999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Approve 64-QAM as the primary path and define acceptable BER / FEC.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1FB04-69D3-46C9-AC79-2439ACB1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004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Select available process / converter resources and a realistic interconnect.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D5D29-92E9-4B28-A5CB-56B4D2E8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Set phase milestones, team responsibilities and implementation limits.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F05A4-79F0-4C99-A1D7-787A8C58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Proposal: continue from a verified behavioral candidate to a physically credible design.</a:t>
            </a:r>
          </a:p>
        </p:txBody>
      </p:sp>
    </p:spTree>
    <p:extLst>
      <p:ext uri="{BB962C8B-B14F-4D97-AF65-F5344CB8AC3E}">
        <p14:creationId xmlns:p14="http://schemas.microsoft.com/office/powerpoint/2010/main" val="11778781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3D589-213C-43CB-9560-77416E0B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Appendix • 400G gross is not 400G payload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D8393-6D89-408B-B9E3-1125A632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Training and error-correction overhead must be included in the final speed requirement.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5A93A7-5B7C-4846-B0C1-95836ECC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58A7F-E19B-46BB-8C63-D6E60B34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5F7A8-A2C6-4172-8AA3-559068103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Useful rate = gross rate × training efficiency × FEC code rate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3171825"/>
          <a:ext xmlns:a="http://schemas.openxmlformats.org/drawingml/2006/main" cx="109728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115300"/>
                <a:gridCol w="2857500"/>
              </a:tblGrid>
              <a:tr h="5667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Illustrative calculation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 / lane</a:t>
                      </a:r>
                    </a:p>
                  </a:txBody>
                  <a:tcPr marL="91440" marR="91440" marT="45720" marB="45720" anchor="ctr">
                    <a:solidFill>
                      <a:srgbClr val="163348"/>
                    </a:solidFill>
                  </a:tcPr>
                </a:tc>
              </a:tr>
              <a:tr h="5667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Model gross rate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400.00 Gb/s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  <a:tr h="5667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With 2 training symbols per 200 data symbols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396.04 Gb/s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Also assuming a 0.94 FEC code rate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63348"/>
                          </a:solidFill>
                          <a:latin typeface="Arial"/>
                          <a:ea typeface="Arial"/>
                          <a:cs typeface="Arial"/>
                        </a:rPr>
                        <a:t>372.28 Gb/s useful payload</a:t>
                      </a:r>
                    </a:p>
                  </a:txBody>
                  <a:tcPr marL="91440" marR="91440" marT="45720" marB="45720" anchor="ctr">
                    <a:solidFill>
                      <a:srgbClr val="F0F6F7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251029-B26F-45D1-B809-45070479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Example only: the training schedule and FEC scheme require approval and verification.</a:t>
            </a:r>
          </a:p>
        </p:txBody>
      </p:sp>
    </p:spTree>
    <p:extLst>
      <p:ext uri="{BB962C8B-B14F-4D97-AF65-F5344CB8AC3E}">
        <p14:creationId xmlns:p14="http://schemas.microsoft.com/office/powerpoint/2010/main" val="208260636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1C0979-BA3C-4CEE-83CE-80C30D29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63348"/>
                </a:solidFill>
                <a:latin typeface="Arial"/>
                <a:ea typeface="Arial"/>
                <a:cs typeface="Arial"/>
              </a:rPr>
              <a:t>Appendix • Evidence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2FD651-187A-4625-892A-5AE7ADE2B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Editable proposal based on the current repository results, not a new simulation run.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B0DA5E-1400-4E32-8645-E70B1BE8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CAIRO UNIVERSITY  |  FACULTY OF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8A565-ED3E-46A8-AF54-B254E55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19850"/>
            <a:ext cx="619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3677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367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BEF08-EFA5-4206-9213-1E6AEC95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Reference papers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7D7C53-0BC0-4616-A7BA-D78F9F87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G. Kim • MIMO OFDM with FEXT cancellation • IEEE TCAS-II, 2023</a:t>
            </a:r>
          </a:p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G. Kim • OFDM serial-link design-space exploration • IEEE OJCAS, 2022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90256-EDB8-4338-8C77-2396BB5C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7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7F8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4"/>
                </a:solidFill>
                <a:latin typeface="Arial"/>
                <a:ea typeface="Arial"/>
                <a:cs typeface="Arial"/>
              </a:rPr>
              <a:t>Repository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FE2CA-BB31-421F-858E-342C7383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docs/400G_verification_for_doctor.md</a:t>
            </a:r>
          </a:p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results/400G_verification/pooled.csv and confirmation.csv</a:t>
            </a:r>
          </a:p>
          <a:p xmlns:a="http://schemas.openxmlformats.org/drawingml/2006/main">
            <a:pPr>
              <a:defRPr sz="1950" b="0">
                <a:solidFill>
                  <a:srgbClr val="1633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63348"/>
                </a:solidFill>
                <a:latin typeface="Arial"/>
                <a:ea typeface="Arial"/>
                <a:cs typeface="Arial"/>
              </a:rPr>
              <a:t>MATLAB: run_400G_verification; validate_phase1;</a:t>
            </a:r>
          </a:p>
        </p:txBody>
      </p:sp>
    </p:spTree>
    <p:extLst>
      <p:ext uri="{BB962C8B-B14F-4D97-AF65-F5344CB8AC3E}">
        <p14:creationId xmlns:p14="http://schemas.microsoft.com/office/powerpoint/2010/main" val="1241278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2026-10-07T21:33:23.3970000Z</dcterms:created>
  <dcterms:modified xsi:type="dcterms:W3CDTF">2026-10-07T21:33:23.3970000Z</dcterms:modified>
</coreProperties>
</file>